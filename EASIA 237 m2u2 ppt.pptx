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0" r:id="rId4"/>
    <p:sldId id="271" r:id="rId5"/>
    <p:sldId id="259" r:id="rId6"/>
    <p:sldId id="261" r:id="rId7"/>
    <p:sldId id="260" r:id="rId8"/>
    <p:sldId id="262" r:id="rId9"/>
    <p:sldId id="263" r:id="rId10"/>
    <p:sldId id="272" r:id="rId11"/>
    <p:sldId id="265" r:id="rId12"/>
    <p:sldId id="266" r:id="rId13"/>
    <p:sldId id="267" r:id="rId14"/>
    <p:sldId id="268" r:id="rId15"/>
    <p:sldId id="269" r:id="rId16"/>
    <p:sldId id="258" r:id="rId17"/>
  </p:sldIdLst>
  <p:sldSz cx="12192000" cy="6858000"/>
  <p:notesSz cx="6858000" cy="9144000"/>
  <p:embeddedFontLst>
    <p:embeddedFont>
      <p:font typeface="Candara" panose="020E0502030303020204" pitchFamily="34" charset="0"/>
      <p:regular r:id="rId19"/>
      <p:bold r:id="rId20"/>
      <p:italic r:id="rId21"/>
      <p:boldItalic r:id="rId22"/>
    </p:embeddedFont>
    <p:embeddedFont>
      <p:font typeface="Wingdings 3" pitchFamily="2" charset="2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7"/>
  </p:normalViewPr>
  <p:slideViewPr>
    <p:cSldViewPr snapToGrid="0">
      <p:cViewPr varScale="1">
        <p:scale>
          <a:sx n="102" d="100"/>
          <a:sy n="102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8092D-7F75-F344-9196-B63EC0A6AD85}" type="datetimeFigureOut">
              <a:rPr lang="en-CA" smtClean="0"/>
              <a:t>2025-08-30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9EF16-783C-1D41-9480-F474792927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400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1774-F7F7-494F-993A-105AEFD08DCC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EEA5-DDD8-4345-A8BE-9352A991F65A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8E628-A11A-DA45-9CC1-32A6495D58FB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97C3-F293-8A49-B75F-827EFF988220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824-9231-0B45-86E6-DFAC4372F375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94147-B230-CC40-AB7B-33F9DE2CD951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3A88D-6E59-B141-8118-055B266FFB5B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1764-FE95-014A-8F9D-8197623892C7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6AD7-6881-374D-AEBE-10B6D892F375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5C88-D03B-4E4A-A593-2830BF36A0AD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AEBB-A3D0-CA4E-B888-DA8CB6323983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7589-32EB-DA40-B48A-58CC81064CAE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7125-3BA2-124D-AE7E-ED1AC962DD56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EEDFD-2BE7-6F41-B07F-0E98264CACAF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CCC7-F605-904D-BDBE-C5404CC82A02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1B48-2619-4945-B1BD-A96235845754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r>
              <a:rPr lang="zh-TW" altLang="en-US" dirty="0"/>
              <a:t> 中文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47642-1967-D94C-A4D1-DCD18F6F65D6}" type="datetime1">
              <a:rPr lang="en-US" smtClean="0"/>
              <a:t>8/30/25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FDA4D-8222-2592-9297-3146DA53F1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 about the painting: Location, date, and significance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40358-D9B1-A478-413A-A12313F6B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Reinventing</a:t>
            </a:r>
            <a:r>
              <a:rPr lang="zh-TW" altLang="en-US" dirty="0"/>
              <a:t> </a:t>
            </a:r>
            <a:r>
              <a:rPr lang="en-US" altLang="zh-TW" dirty="0"/>
              <a:t>Culture</a:t>
            </a:r>
            <a:r>
              <a:rPr lang="zh-TW" altLang="en-US" dirty="0"/>
              <a:t> </a:t>
            </a:r>
            <a:r>
              <a:rPr lang="en-US" altLang="zh-TW" dirty="0"/>
              <a:t>in</a:t>
            </a:r>
            <a:r>
              <a:rPr lang="zh-TW" altLang="en-US" dirty="0"/>
              <a:t> </a:t>
            </a:r>
            <a:r>
              <a:rPr lang="en-US" altLang="zh-TW" dirty="0"/>
              <a:t>East</a:t>
            </a:r>
            <a:r>
              <a:rPr lang="zh-TW" altLang="en-US" dirty="0"/>
              <a:t> </a:t>
            </a:r>
            <a:r>
              <a:rPr lang="en-US" altLang="zh-TW" dirty="0"/>
              <a:t>Asia</a:t>
            </a:r>
          </a:p>
          <a:p>
            <a:r>
              <a:rPr lang="en-US" altLang="zh-TW" dirty="0"/>
              <a:t>EASIA</a:t>
            </a:r>
            <a:r>
              <a:rPr lang="zh-TW" altLang="en-US" dirty="0"/>
              <a:t> </a:t>
            </a:r>
            <a:r>
              <a:rPr lang="en-US" altLang="zh-TW" dirty="0"/>
              <a:t>237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15797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013EE-F21C-D4B9-9026-E8DA8E7E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Today’s lecture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CEB5A-56C2-B6A7-174E-C9ECDE2F6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Assigned</a:t>
            </a:r>
            <a:r>
              <a:rPr lang="zh-CN" altLang="en-US" dirty="0"/>
              <a:t> </a:t>
            </a:r>
            <a:r>
              <a:rPr lang="en-US" altLang="zh-CN" dirty="0"/>
              <a:t>reading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articles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academic</a:t>
            </a:r>
            <a:r>
              <a:rPr lang="zh-CN" altLang="en-US" dirty="0"/>
              <a:t> </a:t>
            </a:r>
            <a:r>
              <a:rPr lang="en-US" altLang="zh-CN" dirty="0"/>
              <a:t>journals</a:t>
            </a:r>
            <a:r>
              <a:rPr lang="zh-CN" altLang="en-US" dirty="0"/>
              <a:t> </a:t>
            </a:r>
            <a:r>
              <a:rPr lang="en-US" altLang="zh-CN" dirty="0"/>
              <a:t>(2-3)</a:t>
            </a:r>
            <a:endParaRPr lang="en-US" altLang="zh-TW" dirty="0"/>
          </a:p>
          <a:p>
            <a:r>
              <a:rPr lang="en-US" altLang="zh-TW" dirty="0"/>
              <a:t>Northern</a:t>
            </a:r>
            <a:r>
              <a:rPr lang="zh-TW" altLang="en-US" dirty="0"/>
              <a:t> </a:t>
            </a:r>
            <a:r>
              <a:rPr lang="en-US" altLang="zh-TW" dirty="0"/>
              <a:t>and</a:t>
            </a:r>
            <a:r>
              <a:rPr lang="zh-TW" altLang="en-US" dirty="0"/>
              <a:t> </a:t>
            </a:r>
            <a:r>
              <a:rPr lang="en-US" altLang="zh-TW" dirty="0"/>
              <a:t>Southern</a:t>
            </a:r>
            <a:r>
              <a:rPr lang="zh-TW" altLang="en-US" dirty="0"/>
              <a:t> </a:t>
            </a:r>
            <a:r>
              <a:rPr lang="en-US" altLang="zh-TW" dirty="0"/>
              <a:t>Song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  <a:r>
              <a:rPr lang="zh-CN" altLang="en-US" dirty="0"/>
              <a:t> </a:t>
            </a:r>
            <a:r>
              <a:rPr lang="en-US" altLang="zh-CN" dirty="0"/>
              <a:t>(4-6)</a:t>
            </a:r>
            <a:endParaRPr lang="en-US" altLang="zh-TW" dirty="0"/>
          </a:p>
          <a:p>
            <a:pPr lvl="1"/>
            <a:r>
              <a:rPr lang="en-US" altLang="zh-TW" dirty="0"/>
              <a:t>What</a:t>
            </a:r>
            <a:r>
              <a:rPr lang="zh-TW" altLang="en-US" dirty="0"/>
              <a:t> </a:t>
            </a:r>
            <a:r>
              <a:rPr lang="en-US" altLang="zh-TW" dirty="0"/>
              <a:t>does</a:t>
            </a:r>
            <a:r>
              <a:rPr lang="zh-TW" altLang="en-US" dirty="0"/>
              <a:t> </a:t>
            </a:r>
            <a:r>
              <a:rPr lang="en-US" altLang="zh-TW" dirty="0"/>
              <a:t>this</a:t>
            </a:r>
            <a:r>
              <a:rPr lang="zh-TW" altLang="en-US" dirty="0"/>
              <a:t> </a:t>
            </a:r>
            <a:r>
              <a:rPr lang="en-US" altLang="zh-TW" dirty="0"/>
              <a:t>have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do</a:t>
            </a:r>
            <a:r>
              <a:rPr lang="zh-TW" altLang="en-US" dirty="0"/>
              <a:t> </a:t>
            </a:r>
            <a:r>
              <a:rPr lang="en-US" altLang="zh-TW" dirty="0"/>
              <a:t>with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Qingming</a:t>
            </a:r>
            <a:r>
              <a:rPr lang="zh-TW" altLang="en-US" dirty="0"/>
              <a:t> </a:t>
            </a:r>
            <a:r>
              <a:rPr lang="en-US" altLang="zh-TW" dirty="0"/>
              <a:t>Scroll?</a:t>
            </a:r>
          </a:p>
          <a:p>
            <a:r>
              <a:rPr lang="en-US" altLang="zh-TW" dirty="0"/>
              <a:t>Three</a:t>
            </a:r>
            <a:r>
              <a:rPr lang="zh-TW" altLang="en-US" dirty="0"/>
              <a:t> </a:t>
            </a:r>
            <a:r>
              <a:rPr lang="en-US" altLang="zh-TW" dirty="0"/>
              <a:t>perspectives</a:t>
            </a:r>
            <a:r>
              <a:rPr lang="zh-CN" altLang="en-US" dirty="0"/>
              <a:t> </a:t>
            </a:r>
            <a:r>
              <a:rPr lang="en-US" altLang="zh-CN" dirty="0"/>
              <a:t>(7–11)</a:t>
            </a:r>
            <a:endParaRPr lang="en-US" altLang="zh-TW" dirty="0"/>
          </a:p>
          <a:p>
            <a:pPr lvl="1"/>
            <a:r>
              <a:rPr lang="en-US" altLang="zh-TW" dirty="0"/>
              <a:t>Hansen:</a:t>
            </a:r>
            <a:r>
              <a:rPr lang="zh-TW" altLang="en-US" dirty="0"/>
              <a:t> </a:t>
            </a:r>
            <a:r>
              <a:rPr lang="en-US" altLang="zh-TW" dirty="0"/>
              <a:t>Idealized</a:t>
            </a:r>
            <a:r>
              <a:rPr lang="zh-TW" altLang="en-US" dirty="0"/>
              <a:t> </a:t>
            </a:r>
            <a:r>
              <a:rPr lang="en-US" altLang="zh-TW" dirty="0"/>
              <a:t>city,</a:t>
            </a:r>
            <a:r>
              <a:rPr lang="zh-TW" altLang="en-US" dirty="0"/>
              <a:t> </a:t>
            </a:r>
            <a:r>
              <a:rPr lang="en-US" altLang="zh-TW" dirty="0"/>
              <a:t>nostalgia</a:t>
            </a:r>
            <a:r>
              <a:rPr lang="zh-TW" altLang="en-US" dirty="0"/>
              <a:t> </a:t>
            </a:r>
            <a:r>
              <a:rPr lang="en-US" altLang="zh-TW" dirty="0"/>
              <a:t>for</a:t>
            </a:r>
            <a:r>
              <a:rPr lang="zh-TW" altLang="en-US" dirty="0"/>
              <a:t> </a:t>
            </a:r>
            <a:r>
              <a:rPr lang="en-US" altLang="zh-TW" dirty="0"/>
              <a:t>fallen</a:t>
            </a:r>
            <a:r>
              <a:rPr lang="zh-TW" altLang="en-US" dirty="0"/>
              <a:t> </a:t>
            </a:r>
            <a:r>
              <a:rPr lang="en-US" altLang="zh-TW" dirty="0"/>
              <a:t>north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12</a:t>
            </a:r>
            <a:r>
              <a:rPr lang="en-US" altLang="zh-CN" baseline="30000" dirty="0"/>
              <a:t>th</a:t>
            </a:r>
            <a:r>
              <a:rPr lang="zh-CN" altLang="en-US" dirty="0"/>
              <a:t> </a:t>
            </a:r>
            <a:r>
              <a:rPr lang="en-US" altLang="zh-CN" dirty="0"/>
              <a:t>century</a:t>
            </a:r>
            <a:endParaRPr lang="en-US" altLang="zh-TW" dirty="0"/>
          </a:p>
          <a:p>
            <a:pPr lvl="1"/>
            <a:r>
              <a:rPr lang="en-US" altLang="zh-TW" dirty="0"/>
              <a:t>Tsao:</a:t>
            </a:r>
            <a:r>
              <a:rPr lang="zh-TW" altLang="en-US" dirty="0"/>
              <a:t> </a:t>
            </a:r>
            <a:r>
              <a:rPr lang="en-US" altLang="zh-CN" dirty="0"/>
              <a:t>Spring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TW" dirty="0"/>
              <a:t>Kaifeng</a:t>
            </a:r>
            <a:r>
              <a:rPr lang="en-US" altLang="zh-CN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before</a:t>
            </a:r>
            <a:r>
              <a:rPr lang="zh-TW" altLang="en-US" dirty="0"/>
              <a:t> </a:t>
            </a:r>
            <a:r>
              <a:rPr lang="en-US" altLang="zh-TW" dirty="0"/>
              <a:t>1079</a:t>
            </a:r>
          </a:p>
          <a:p>
            <a:pPr lvl="1"/>
            <a:r>
              <a:rPr lang="en-US" altLang="zh-TW" dirty="0"/>
              <a:t>Yu</a:t>
            </a:r>
            <a:r>
              <a:rPr lang="zh-TW" altLang="en-US" dirty="0"/>
              <a:t> </a:t>
            </a:r>
            <a:r>
              <a:rPr lang="en-US" altLang="zh-TW" dirty="0"/>
              <a:t>Hui:</a:t>
            </a:r>
            <a:r>
              <a:rPr lang="zh-TW" altLang="en-US" dirty="0"/>
              <a:t> </a:t>
            </a:r>
            <a:r>
              <a:rPr lang="en-US" altLang="zh-CN" dirty="0"/>
              <a:t>Kaifeng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en-US" altLang="zh-TW" dirty="0"/>
              <a:t>ritique</a:t>
            </a:r>
            <a:r>
              <a:rPr lang="zh-TW" altLang="en-US" dirty="0"/>
              <a:t> </a:t>
            </a:r>
            <a:r>
              <a:rPr lang="en-US" altLang="zh-TW" dirty="0"/>
              <a:t>of</a:t>
            </a:r>
            <a:r>
              <a:rPr lang="zh-TW" altLang="en-US" dirty="0"/>
              <a:t> </a:t>
            </a:r>
            <a:r>
              <a:rPr lang="en-US" altLang="zh-TW" dirty="0"/>
              <a:t>N.</a:t>
            </a:r>
            <a:r>
              <a:rPr lang="zh-TW" altLang="en-US" dirty="0"/>
              <a:t> </a:t>
            </a:r>
            <a:r>
              <a:rPr lang="en-US" altLang="zh-TW" dirty="0"/>
              <a:t>Song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policies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Emperor</a:t>
            </a:r>
            <a:r>
              <a:rPr lang="zh-CN" altLang="en-US" dirty="0"/>
              <a:t> </a:t>
            </a:r>
            <a:r>
              <a:rPr lang="en-US" altLang="zh-CN" dirty="0"/>
              <a:t>Huizong</a:t>
            </a:r>
            <a:endParaRPr lang="en-US" altLang="zh-TW" dirty="0"/>
          </a:p>
          <a:p>
            <a:r>
              <a:rPr lang="en-US" altLang="zh-TW" dirty="0"/>
              <a:t>Conclusion:</a:t>
            </a:r>
            <a:r>
              <a:rPr lang="zh-TW" altLang="en-US" dirty="0"/>
              <a:t> </a:t>
            </a:r>
            <a:r>
              <a:rPr lang="en-US" altLang="zh-TW" dirty="0"/>
              <a:t>Who</a:t>
            </a:r>
            <a:r>
              <a:rPr lang="zh-TW" altLang="en-US" dirty="0"/>
              <a:t> </a:t>
            </a:r>
            <a:r>
              <a:rPr lang="en-US" altLang="zh-TW" dirty="0"/>
              <a:t>is</a:t>
            </a:r>
            <a:r>
              <a:rPr lang="zh-TW" altLang="en-US" dirty="0"/>
              <a:t> </a:t>
            </a:r>
            <a:r>
              <a:rPr lang="en-US" altLang="zh-TW" dirty="0"/>
              <a:t>right?</a:t>
            </a:r>
            <a:r>
              <a:rPr lang="zh-TW" altLang="en-US" dirty="0"/>
              <a:t> </a:t>
            </a:r>
            <a:r>
              <a:rPr lang="en-US" altLang="zh-CN" dirty="0"/>
              <a:t>When/why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TW" altLang="en-US" dirty="0"/>
              <a:t> </a:t>
            </a:r>
            <a:r>
              <a:rPr lang="en-US" altLang="zh-TW" dirty="0"/>
              <a:t>it</a:t>
            </a:r>
            <a:r>
              <a:rPr lang="zh-TW" altLang="en-US" dirty="0"/>
              <a:t> </a:t>
            </a:r>
            <a:r>
              <a:rPr lang="en-US" altLang="zh-TW" dirty="0"/>
              <a:t>matter?</a:t>
            </a:r>
            <a:r>
              <a:rPr lang="zh-TW" altLang="en-US" dirty="0"/>
              <a:t> </a:t>
            </a:r>
            <a:r>
              <a:rPr lang="en-US" altLang="zh-CN" dirty="0"/>
              <a:t>(12)</a:t>
            </a:r>
          </a:p>
          <a:p>
            <a:r>
              <a:rPr lang="en-US" altLang="zh-CN" dirty="0"/>
              <a:t>Assignment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Quiz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  <a:r>
              <a:rPr lang="zh-CN" altLang="en-US" dirty="0"/>
              <a:t> </a:t>
            </a:r>
            <a:r>
              <a:rPr lang="en-US" altLang="zh-CN" dirty="0"/>
              <a:t>(13)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CA522-087E-8A63-7D39-2EE8F42B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30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86ABF-5F00-A629-3336-22B09EFE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Before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begin:</a:t>
            </a:r>
            <a:r>
              <a:rPr lang="zh-CN" altLang="en-US" dirty="0"/>
              <a:t> </a:t>
            </a:r>
            <a:r>
              <a:rPr lang="en-US" altLang="zh-CN" dirty="0"/>
              <a:t>“Unraveling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Mystery”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articles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general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3CE82-0544-3D6D-210D-7AFE5FD56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301067"/>
          </a:xfrm>
        </p:spPr>
        <p:txBody>
          <a:bodyPr>
            <a:normAutofit/>
          </a:bodyPr>
          <a:lstStyle/>
          <a:p>
            <a:r>
              <a:rPr lang="en-US" altLang="zh-CN" dirty="0"/>
              <a:t>“Research</a:t>
            </a:r>
            <a:r>
              <a:rPr lang="zh-CN" altLang="en-US" dirty="0"/>
              <a:t> </a:t>
            </a:r>
            <a:r>
              <a:rPr lang="en-US" altLang="zh-CN" dirty="0"/>
              <a:t>article”:</a:t>
            </a:r>
            <a:r>
              <a:rPr lang="zh-CN" altLang="en-US" dirty="0"/>
              <a:t> </a:t>
            </a:r>
            <a:r>
              <a:rPr lang="en-US" altLang="zh-CN" dirty="0"/>
              <a:t>Similar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length/scope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chapter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edited</a:t>
            </a:r>
            <a:r>
              <a:rPr lang="zh-CN" altLang="en-US" dirty="0"/>
              <a:t> </a:t>
            </a:r>
            <a:r>
              <a:rPr lang="en-US" altLang="zh-CN" dirty="0"/>
              <a:t>book</a:t>
            </a:r>
          </a:p>
          <a:p>
            <a:r>
              <a:rPr lang="en-US" altLang="zh-CN" dirty="0"/>
              <a:t>Published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u="sng" dirty="0"/>
              <a:t>academic</a:t>
            </a:r>
            <a:r>
              <a:rPr lang="zh-CN" altLang="en-US" u="sng" dirty="0"/>
              <a:t> </a:t>
            </a:r>
            <a:r>
              <a:rPr lang="en-US" altLang="zh-CN" u="sng" dirty="0"/>
              <a:t>journal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Peer</a:t>
            </a:r>
            <a:r>
              <a:rPr lang="zh-CN" altLang="en-US" dirty="0"/>
              <a:t> </a:t>
            </a:r>
            <a:r>
              <a:rPr lang="en-US" altLang="zh-CN" dirty="0"/>
              <a:t>reviewed,</a:t>
            </a:r>
            <a:r>
              <a:rPr lang="zh-CN" altLang="en-US" dirty="0"/>
              <a:t> </a:t>
            </a:r>
            <a:r>
              <a:rPr lang="en-US" altLang="zh-CN" dirty="0"/>
              <a:t>periodical</a:t>
            </a:r>
            <a:r>
              <a:rPr lang="zh-CN" altLang="en-US" dirty="0"/>
              <a:t> </a:t>
            </a:r>
            <a:r>
              <a:rPr lang="en-US" altLang="zh-CN" dirty="0"/>
              <a:t>publication</a:t>
            </a:r>
            <a:r>
              <a:rPr lang="zh-CN" altLang="en-US" dirty="0"/>
              <a:t> </a:t>
            </a:r>
            <a:r>
              <a:rPr lang="en-US" altLang="zh-CN" dirty="0"/>
              <a:t>intended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specialists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Issues</a:t>
            </a:r>
            <a:r>
              <a:rPr lang="zh-CN" altLang="en-US" dirty="0"/>
              <a:t> </a:t>
            </a:r>
            <a:r>
              <a:rPr lang="en-US" altLang="zh-CN" dirty="0"/>
              <a:t>contains</a:t>
            </a:r>
            <a:r>
              <a:rPr lang="zh-CN" altLang="en-US" dirty="0"/>
              <a:t> </a:t>
            </a:r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articles,</a:t>
            </a:r>
            <a:r>
              <a:rPr lang="zh-CN" altLang="en-US" dirty="0"/>
              <a:t> </a:t>
            </a:r>
            <a:r>
              <a:rPr lang="en-US" altLang="zh-CN" dirty="0"/>
              <a:t>plus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contents</a:t>
            </a:r>
            <a:r>
              <a:rPr lang="zh-CN" altLang="en-US" dirty="0"/>
              <a:t> </a:t>
            </a:r>
            <a:r>
              <a:rPr lang="en-US" altLang="zh-CN" dirty="0"/>
              <a:t>(reviews,</a:t>
            </a:r>
            <a:r>
              <a:rPr lang="zh-CN" altLang="en-US" dirty="0"/>
              <a:t> </a:t>
            </a:r>
            <a:r>
              <a:rPr lang="en-US" altLang="zh-CN" dirty="0"/>
              <a:t>etc.)</a:t>
            </a:r>
          </a:p>
          <a:p>
            <a:pPr lvl="1"/>
            <a:r>
              <a:rPr lang="en-US" altLang="zh-CN" dirty="0"/>
              <a:t>Articles</a:t>
            </a:r>
            <a:r>
              <a:rPr lang="zh-CN" altLang="en-US" dirty="0"/>
              <a:t> </a:t>
            </a:r>
            <a:r>
              <a:rPr lang="en-US" altLang="zh-CN" dirty="0"/>
              <a:t>relate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topic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journal,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otherwise</a:t>
            </a:r>
            <a:r>
              <a:rPr lang="zh-CN" altLang="en-US" dirty="0"/>
              <a:t> </a:t>
            </a:r>
            <a:r>
              <a:rPr lang="en-US" altLang="zh-CN" dirty="0"/>
              <a:t>unconnected</a:t>
            </a:r>
            <a:r>
              <a:rPr lang="zh-CN" altLang="en-US" dirty="0"/>
              <a:t> </a:t>
            </a:r>
            <a:r>
              <a:rPr lang="en-US" altLang="zh-CN" dirty="0"/>
              <a:t>(unlike</a:t>
            </a:r>
            <a:r>
              <a:rPr lang="zh-CN" altLang="en-US" dirty="0"/>
              <a:t> </a:t>
            </a:r>
            <a:r>
              <a:rPr lang="en-US" altLang="zh-CN" dirty="0"/>
              <a:t>edited</a:t>
            </a:r>
            <a:r>
              <a:rPr lang="zh-CN" altLang="en-US" dirty="0"/>
              <a:t> </a:t>
            </a:r>
            <a:r>
              <a:rPr lang="en-US" altLang="zh-CN" dirty="0"/>
              <a:t>books)</a:t>
            </a:r>
          </a:p>
          <a:p>
            <a:pPr lvl="1"/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journal</a:t>
            </a:r>
            <a:r>
              <a:rPr lang="zh-CN" altLang="en-US" dirty="0"/>
              <a:t> </a:t>
            </a:r>
            <a:r>
              <a:rPr lang="en-US" altLang="zh-CN" dirty="0"/>
              <a:t>tell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intended</a:t>
            </a:r>
            <a:r>
              <a:rPr lang="zh-CN" altLang="en-US" dirty="0"/>
              <a:t> </a:t>
            </a:r>
            <a:r>
              <a:rPr lang="en-US" altLang="zh-CN" dirty="0"/>
              <a:t>audience,</a:t>
            </a:r>
            <a:r>
              <a:rPr lang="zh-CN" altLang="en-US" dirty="0"/>
              <a:t> </a:t>
            </a:r>
            <a:r>
              <a:rPr lang="en-US" altLang="zh-CN" dirty="0"/>
              <a:t>topic,</a:t>
            </a:r>
            <a:r>
              <a:rPr lang="zh-CN" altLang="en-US" dirty="0"/>
              <a:t> </a:t>
            </a:r>
            <a:r>
              <a:rPr lang="en-US" altLang="zh-CN" dirty="0"/>
              <a:t>etc.?</a:t>
            </a:r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case:</a:t>
            </a:r>
            <a:r>
              <a:rPr lang="zh-CN" altLang="en-US" dirty="0"/>
              <a:t> </a:t>
            </a:r>
            <a:r>
              <a:rPr lang="en-US" altLang="zh-CN" i="1" dirty="0"/>
              <a:t>Journal</a:t>
            </a:r>
            <a:r>
              <a:rPr lang="zh-CN" altLang="en-US" i="1" dirty="0"/>
              <a:t> </a:t>
            </a:r>
            <a:r>
              <a:rPr lang="en-US" altLang="zh-CN" i="1" dirty="0"/>
              <a:t>of</a:t>
            </a:r>
            <a:r>
              <a:rPr lang="zh-CN" altLang="en-US" i="1" dirty="0"/>
              <a:t> </a:t>
            </a:r>
            <a:r>
              <a:rPr lang="en-US" altLang="zh-CN" i="1" dirty="0"/>
              <a:t>Song-Yuan</a:t>
            </a:r>
            <a:r>
              <a:rPr lang="zh-CN" altLang="en-US" i="1" dirty="0"/>
              <a:t> </a:t>
            </a:r>
            <a:r>
              <a:rPr lang="en-US" altLang="zh-CN" i="1" dirty="0"/>
              <a:t>Studies</a:t>
            </a:r>
            <a:endParaRPr lang="en-US" altLang="zh-CN" dirty="0"/>
          </a:p>
          <a:p>
            <a:pPr lvl="1"/>
            <a:r>
              <a:rPr lang="en-US" altLang="zh-CN" dirty="0"/>
              <a:t>Intended</a:t>
            </a:r>
            <a:r>
              <a:rPr lang="zh-CN" altLang="en-US" dirty="0"/>
              <a:t> </a:t>
            </a:r>
            <a:r>
              <a:rPr lang="en-US" altLang="zh-CN" dirty="0"/>
              <a:t>readers:</a:t>
            </a:r>
            <a:r>
              <a:rPr lang="zh-CN" altLang="en-US" dirty="0"/>
              <a:t> </a:t>
            </a:r>
            <a:r>
              <a:rPr lang="en-US" altLang="zh-CN" dirty="0"/>
              <a:t>history,</a:t>
            </a:r>
            <a:r>
              <a:rPr lang="zh-CN" altLang="en-US" dirty="0"/>
              <a:t> </a:t>
            </a:r>
            <a:r>
              <a:rPr lang="en-US" altLang="zh-CN" dirty="0"/>
              <a:t>culture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period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Chinese</a:t>
            </a:r>
            <a:r>
              <a:rPr lang="zh-CN" altLang="en-US" dirty="0"/>
              <a:t> </a:t>
            </a:r>
            <a:r>
              <a:rPr lang="en-US" altLang="zh-CN" dirty="0"/>
              <a:t>history</a:t>
            </a:r>
            <a:r>
              <a:rPr lang="zh-CN" altLang="en-US" dirty="0"/>
              <a:t> </a:t>
            </a:r>
            <a:r>
              <a:rPr lang="en-US" altLang="zh-CN" dirty="0"/>
              <a:t>(10</a:t>
            </a:r>
            <a:r>
              <a:rPr lang="en-US" altLang="zh-CN" baseline="30000" dirty="0"/>
              <a:t>th</a:t>
            </a:r>
            <a:r>
              <a:rPr lang="zh-CN" altLang="en-US" dirty="0"/>
              <a:t> </a:t>
            </a:r>
            <a:r>
              <a:rPr lang="en-US" altLang="zh-CN" dirty="0"/>
              <a:t>–14</a:t>
            </a:r>
            <a:r>
              <a:rPr lang="en-US" altLang="zh-CN" baseline="30000" dirty="0"/>
              <a:t>th</a:t>
            </a:r>
            <a:r>
              <a:rPr lang="zh-CN" altLang="en-US" dirty="0"/>
              <a:t> </a:t>
            </a:r>
            <a:r>
              <a:rPr lang="en-US" altLang="zh-CN" dirty="0"/>
              <a:t>centuries)</a:t>
            </a:r>
          </a:p>
          <a:p>
            <a:pPr lvl="1"/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necessarily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art</a:t>
            </a:r>
            <a:r>
              <a:rPr lang="zh-CN" altLang="en-US" dirty="0"/>
              <a:t> </a:t>
            </a:r>
            <a:r>
              <a:rPr lang="en-US" altLang="zh-CN" dirty="0"/>
              <a:t>historians: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focus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aspects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Song-Yuan</a:t>
            </a:r>
            <a:r>
              <a:rPr lang="zh-CN" altLang="en-US" dirty="0"/>
              <a:t> </a:t>
            </a:r>
            <a:r>
              <a:rPr lang="en-US" altLang="zh-CN" dirty="0"/>
              <a:t>culture/history</a:t>
            </a:r>
          </a:p>
          <a:p>
            <a:pPr lvl="1"/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article</a:t>
            </a:r>
            <a:r>
              <a:rPr lang="zh-CN" altLang="en-US" dirty="0"/>
              <a:t> </a:t>
            </a:r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interests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intended</a:t>
            </a:r>
            <a:r>
              <a:rPr lang="zh-CN" altLang="en-US" dirty="0"/>
              <a:t> </a:t>
            </a:r>
            <a:r>
              <a:rPr lang="en-US" altLang="zh-CN" dirty="0"/>
              <a:t>audience</a:t>
            </a:r>
            <a:r>
              <a:rPr lang="zh-CN" altLang="en-US" dirty="0"/>
              <a:t> </a:t>
            </a:r>
            <a:r>
              <a:rPr lang="en-US" altLang="zh-CN" dirty="0"/>
              <a:t>(vs.</a:t>
            </a:r>
            <a:r>
              <a:rPr lang="zh-CN" altLang="en-US" dirty="0"/>
              <a:t> </a:t>
            </a:r>
            <a:r>
              <a:rPr lang="en-US" altLang="zh-CN" dirty="0"/>
              <a:t>Art</a:t>
            </a:r>
            <a:r>
              <a:rPr lang="zh-CN" altLang="en-US" dirty="0"/>
              <a:t> </a:t>
            </a:r>
            <a:r>
              <a:rPr lang="en-US" altLang="zh-CN" dirty="0"/>
              <a:t>History</a:t>
            </a:r>
            <a:r>
              <a:rPr lang="zh-CN" altLang="en-US" dirty="0"/>
              <a:t> </a:t>
            </a:r>
            <a:r>
              <a:rPr lang="en-US" altLang="zh-CN" dirty="0"/>
              <a:t>journal,</a:t>
            </a:r>
            <a:r>
              <a:rPr lang="zh-CN" altLang="en-US" dirty="0"/>
              <a:t> </a:t>
            </a:r>
            <a:r>
              <a:rPr lang="en-US" altLang="zh-CN" dirty="0"/>
              <a:t>etc.)</a:t>
            </a:r>
          </a:p>
          <a:p>
            <a:pPr lvl="1"/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presume</a:t>
            </a:r>
            <a:r>
              <a:rPr lang="zh-CN" altLang="en-US" dirty="0"/>
              <a:t> </a:t>
            </a:r>
            <a:r>
              <a:rPr lang="en-US" altLang="zh-CN" dirty="0"/>
              <a:t>audience</a:t>
            </a:r>
            <a:r>
              <a:rPr lang="zh-CN" altLang="en-US" dirty="0"/>
              <a:t> </a:t>
            </a:r>
            <a:r>
              <a:rPr lang="en-US" altLang="zh-CN" dirty="0"/>
              <a:t>already</a:t>
            </a:r>
            <a:r>
              <a:rPr lang="zh-CN" altLang="en-US" dirty="0"/>
              <a:t> </a:t>
            </a:r>
            <a:r>
              <a:rPr lang="en-US" altLang="zh-CN" dirty="0"/>
              <a:t>knows?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 err="1"/>
              <a:t>add’l</a:t>
            </a:r>
            <a:r>
              <a:rPr lang="zh-CN" altLang="en-US" dirty="0"/>
              <a:t> </a:t>
            </a:r>
            <a:r>
              <a:rPr lang="en-US" altLang="zh-CN" dirty="0"/>
              <a:t>context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helpful?</a:t>
            </a:r>
          </a:p>
          <a:p>
            <a:pPr lvl="1"/>
            <a:endParaRPr lang="en-US" altLang="zh-CN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43470-8BE3-AA5B-3053-F4F602F0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2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526CA-7A85-AFD6-670B-9244561A3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4B668-A56B-BEAF-D89E-B6404BABA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articles,</a:t>
            </a:r>
            <a:r>
              <a:rPr lang="zh-CN" altLang="en-US" dirty="0"/>
              <a:t> </a:t>
            </a:r>
            <a:r>
              <a:rPr lang="en-US" altLang="zh-CN" dirty="0"/>
              <a:t>‘thesis</a:t>
            </a:r>
            <a:r>
              <a:rPr lang="zh-CN" altLang="en-US" dirty="0"/>
              <a:t> </a:t>
            </a:r>
            <a:r>
              <a:rPr lang="en-US" altLang="zh-CN" dirty="0"/>
              <a:t>statements,’</a:t>
            </a:r>
            <a:r>
              <a:rPr lang="zh-CN" altLang="en-US" dirty="0"/>
              <a:t> </a:t>
            </a:r>
            <a:r>
              <a:rPr lang="en-US" altLang="zh-CN" dirty="0"/>
              <a:t>arguments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0926D-E836-EF9B-7317-CE944BEAD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Humanities</a:t>
            </a:r>
            <a:r>
              <a:rPr lang="zh-CN" altLang="en-US" sz="2000" dirty="0"/>
              <a:t> </a:t>
            </a:r>
            <a:r>
              <a:rPr lang="en-US" altLang="zh-CN" sz="2000" dirty="0"/>
              <a:t>research</a:t>
            </a:r>
            <a:r>
              <a:rPr lang="zh-CN" altLang="en-US" sz="2000" dirty="0"/>
              <a:t> </a:t>
            </a:r>
            <a:r>
              <a:rPr lang="en-US" altLang="zh-CN" sz="2000" dirty="0"/>
              <a:t>articles</a:t>
            </a:r>
            <a:r>
              <a:rPr lang="zh-CN" altLang="en-US" sz="2000" dirty="0"/>
              <a:t> </a:t>
            </a:r>
            <a:r>
              <a:rPr lang="en-US" altLang="zh-CN" sz="2000" dirty="0"/>
              <a:t>vary</a:t>
            </a:r>
            <a:r>
              <a:rPr lang="zh-CN" altLang="en-US" sz="2000" dirty="0"/>
              <a:t> </a:t>
            </a:r>
            <a:r>
              <a:rPr lang="en-US" altLang="zh-CN" sz="2000" dirty="0"/>
              <a:t>widely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style,</a:t>
            </a:r>
            <a:r>
              <a:rPr lang="zh-CN" altLang="en-US" sz="2000" dirty="0"/>
              <a:t> </a:t>
            </a:r>
            <a:r>
              <a:rPr lang="en-US" altLang="zh-CN" sz="2000" dirty="0"/>
              <a:t>structure.</a:t>
            </a:r>
          </a:p>
          <a:p>
            <a:r>
              <a:rPr lang="en-US" altLang="zh-CN" sz="2000" dirty="0"/>
              <a:t>Most</a:t>
            </a:r>
            <a:r>
              <a:rPr lang="zh-CN" altLang="en-US" sz="2000" dirty="0"/>
              <a:t> </a:t>
            </a:r>
            <a:r>
              <a:rPr lang="en-US" altLang="zh-CN" sz="2000" dirty="0"/>
              <a:t>have</a:t>
            </a:r>
            <a:r>
              <a:rPr lang="zh-CN" altLang="en-US" sz="2000" dirty="0"/>
              <a:t> </a:t>
            </a:r>
            <a:r>
              <a:rPr lang="en-US" altLang="zh-CN" sz="2000" dirty="0"/>
              <a:t>something</a:t>
            </a:r>
            <a:r>
              <a:rPr lang="zh-CN" altLang="en-US" sz="2000" dirty="0"/>
              <a:t> </a:t>
            </a:r>
            <a:r>
              <a:rPr lang="en-US" altLang="zh-CN" sz="2000" dirty="0"/>
              <a:t>like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“thesis”</a:t>
            </a:r>
            <a:r>
              <a:rPr lang="zh-CN" altLang="en-US" sz="2000" dirty="0"/>
              <a:t> </a:t>
            </a:r>
            <a:r>
              <a:rPr lang="en-US" altLang="zh-CN" sz="2000" dirty="0"/>
              <a:t>somewhere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introduction.</a:t>
            </a:r>
          </a:p>
          <a:p>
            <a:r>
              <a:rPr lang="en-US" altLang="zh-CN" sz="2000" dirty="0"/>
              <a:t>Look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sentences</a:t>
            </a:r>
            <a:r>
              <a:rPr lang="zh-CN" altLang="en-US" sz="2000" dirty="0"/>
              <a:t> </a:t>
            </a:r>
            <a:r>
              <a:rPr lang="en-US" altLang="zh-CN" sz="2000" dirty="0"/>
              <a:t>like,</a:t>
            </a:r>
            <a:r>
              <a:rPr lang="zh-CN" altLang="en-US" sz="2000" dirty="0"/>
              <a:t> </a:t>
            </a:r>
            <a:r>
              <a:rPr lang="en-US" altLang="zh-CN" sz="2000" dirty="0"/>
              <a:t>“In</a:t>
            </a:r>
            <a:r>
              <a:rPr lang="zh-CN" altLang="en-US" sz="2000" dirty="0"/>
              <a:t> </a:t>
            </a:r>
            <a:r>
              <a:rPr lang="en-US" altLang="zh-CN" sz="2000" dirty="0"/>
              <a:t>this</a:t>
            </a:r>
            <a:r>
              <a:rPr lang="zh-CN" altLang="en-US" sz="2000" dirty="0"/>
              <a:t> </a:t>
            </a:r>
            <a:r>
              <a:rPr lang="en-US" altLang="zh-CN" sz="2000" dirty="0"/>
              <a:t>article,</a:t>
            </a:r>
            <a:r>
              <a:rPr lang="zh-CN" altLang="en-US" sz="2000" dirty="0"/>
              <a:t> </a:t>
            </a:r>
            <a:r>
              <a:rPr lang="en-US" altLang="zh-CN" sz="2000" dirty="0"/>
              <a:t>I</a:t>
            </a:r>
            <a:r>
              <a:rPr lang="zh-CN" altLang="en-US" sz="2000" dirty="0"/>
              <a:t> </a:t>
            </a:r>
            <a:r>
              <a:rPr lang="en-US" altLang="zh-CN" sz="2000" dirty="0"/>
              <a:t>will...”</a:t>
            </a:r>
            <a:r>
              <a:rPr lang="zh-CN" altLang="en-US" sz="2000" dirty="0"/>
              <a:t> </a:t>
            </a:r>
            <a:r>
              <a:rPr lang="en-US" altLang="zh-CN" sz="2000" dirty="0"/>
              <a:t>/</a:t>
            </a:r>
            <a:r>
              <a:rPr lang="zh-CN" altLang="en-US" sz="2000" dirty="0"/>
              <a:t> </a:t>
            </a:r>
            <a:r>
              <a:rPr lang="en-US" altLang="zh-CN" sz="2000" dirty="0"/>
              <a:t>“My</a:t>
            </a:r>
            <a:r>
              <a:rPr lang="zh-CN" altLang="en-US" sz="2000" dirty="0"/>
              <a:t> </a:t>
            </a:r>
            <a:r>
              <a:rPr lang="en-US" altLang="zh-CN" sz="2000" dirty="0"/>
              <a:t>argument</a:t>
            </a:r>
            <a:r>
              <a:rPr lang="zh-CN" altLang="en-US" sz="2000" dirty="0"/>
              <a:t> </a:t>
            </a:r>
            <a:r>
              <a:rPr lang="en-US" altLang="zh-CN" sz="2000" dirty="0"/>
              <a:t>is...”</a:t>
            </a:r>
            <a:r>
              <a:rPr lang="zh-CN" altLang="en-US" sz="2000" dirty="0"/>
              <a:t> </a:t>
            </a:r>
            <a:r>
              <a:rPr lang="en-US" altLang="zh-CN" sz="2000" dirty="0"/>
              <a:t>/</a:t>
            </a:r>
            <a:r>
              <a:rPr lang="zh-CN" altLang="en-US" sz="2000" dirty="0"/>
              <a:t> </a:t>
            </a:r>
            <a:r>
              <a:rPr lang="en-US" altLang="zh-CN" sz="2000" dirty="0"/>
              <a:t>etc.</a:t>
            </a:r>
          </a:p>
          <a:p>
            <a:r>
              <a:rPr lang="en-US" altLang="zh-CN" sz="2000" dirty="0"/>
              <a:t>Be</a:t>
            </a:r>
            <a:r>
              <a:rPr lang="zh-CN" altLang="en-US" sz="2000" dirty="0"/>
              <a:t> </a:t>
            </a:r>
            <a:r>
              <a:rPr lang="en-US" altLang="zh-CN" sz="2000" dirty="0"/>
              <a:t>careful!</a:t>
            </a:r>
            <a:r>
              <a:rPr lang="zh-CN" altLang="en-US" sz="2000" dirty="0"/>
              <a:t> </a:t>
            </a:r>
            <a:r>
              <a:rPr lang="en-US" altLang="zh-CN" sz="2000" dirty="0"/>
              <a:t>Articles</a:t>
            </a:r>
            <a:r>
              <a:rPr lang="zh-CN" altLang="en-US" sz="2000" dirty="0"/>
              <a:t> </a:t>
            </a:r>
            <a:r>
              <a:rPr lang="en-US" altLang="zh-CN" sz="2000" dirty="0"/>
              <a:t>will</a:t>
            </a:r>
            <a:r>
              <a:rPr lang="zh-CN" altLang="en-US" sz="2000" dirty="0"/>
              <a:t> </a:t>
            </a:r>
            <a:r>
              <a:rPr lang="en-US" altLang="zh-CN" sz="2000" dirty="0"/>
              <a:t>often</a:t>
            </a:r>
            <a:r>
              <a:rPr lang="zh-CN" altLang="en-US" sz="2000" dirty="0"/>
              <a:t> </a:t>
            </a:r>
            <a:r>
              <a:rPr lang="en-US" altLang="zh-CN" sz="2000" dirty="0"/>
              <a:t>begin</a:t>
            </a:r>
            <a:r>
              <a:rPr lang="zh-CN" altLang="en-US" sz="2000" dirty="0"/>
              <a:t> </a:t>
            </a:r>
            <a:r>
              <a:rPr lang="en-US" altLang="zh-CN" sz="2000" dirty="0"/>
              <a:t>by</a:t>
            </a:r>
            <a:r>
              <a:rPr lang="zh-CN" altLang="en-US" sz="2000" dirty="0"/>
              <a:t> </a:t>
            </a:r>
            <a:r>
              <a:rPr lang="en-US" altLang="zh-CN" sz="2000" dirty="0"/>
              <a:t>summarizing</a:t>
            </a:r>
            <a:r>
              <a:rPr lang="zh-CN" altLang="en-US" sz="2000" dirty="0"/>
              <a:t> </a:t>
            </a:r>
            <a:r>
              <a:rPr lang="en-US" altLang="zh-CN" sz="2000" dirty="0"/>
              <a:t>work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other</a:t>
            </a:r>
            <a:r>
              <a:rPr lang="zh-CN" altLang="en-US" sz="2000" dirty="0"/>
              <a:t> </a:t>
            </a:r>
            <a:r>
              <a:rPr lang="en-US" altLang="zh-CN" sz="2000" dirty="0"/>
              <a:t>scholars,</a:t>
            </a:r>
            <a:r>
              <a:rPr lang="zh-CN" altLang="en-US" sz="2000" dirty="0"/>
              <a:t> </a:t>
            </a:r>
            <a:r>
              <a:rPr lang="en-US" altLang="zh-CN" sz="2000" dirty="0"/>
              <a:t>some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whom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author</a:t>
            </a:r>
            <a:r>
              <a:rPr lang="zh-CN" altLang="en-US" sz="2000" dirty="0"/>
              <a:t> </a:t>
            </a:r>
            <a:r>
              <a:rPr lang="en-US" altLang="zh-CN" sz="2000" dirty="0"/>
              <a:t>disagrees</a:t>
            </a:r>
            <a:r>
              <a:rPr lang="zh-CN" altLang="en-US" sz="2000" dirty="0"/>
              <a:t> </a:t>
            </a: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intends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refute.</a:t>
            </a:r>
          </a:p>
          <a:p>
            <a:r>
              <a:rPr lang="en-US" altLang="zh-CN" sz="2000" dirty="0"/>
              <a:t>Consider</a:t>
            </a:r>
            <a:r>
              <a:rPr lang="zh-CN" altLang="en-US" sz="2000" dirty="0"/>
              <a:t> </a:t>
            </a:r>
            <a:r>
              <a:rPr lang="en-US" altLang="zh-CN" sz="2000" dirty="0"/>
              <a:t>how</a:t>
            </a:r>
            <a:r>
              <a:rPr lang="zh-CN" altLang="en-US" sz="2000" dirty="0"/>
              <a:t> </a:t>
            </a:r>
            <a:r>
              <a:rPr lang="en-US" altLang="zh-CN" sz="2000" dirty="0"/>
              <a:t>all</a:t>
            </a:r>
            <a:r>
              <a:rPr lang="zh-CN" altLang="en-US" sz="2000" dirty="0"/>
              <a:t> </a:t>
            </a:r>
            <a:r>
              <a:rPr lang="en-US" altLang="zh-CN" sz="2000" dirty="0"/>
              <a:t>other</a:t>
            </a:r>
            <a:r>
              <a:rPr lang="zh-CN" altLang="en-US" sz="2000" dirty="0"/>
              <a:t> </a:t>
            </a:r>
            <a:r>
              <a:rPr lang="en-US" altLang="zh-CN" sz="2000" dirty="0"/>
              <a:t>details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article</a:t>
            </a:r>
            <a:r>
              <a:rPr lang="zh-CN" altLang="en-US" sz="2000" dirty="0"/>
              <a:t> </a:t>
            </a:r>
            <a:r>
              <a:rPr lang="en-US" altLang="zh-CN" sz="2000" dirty="0"/>
              <a:t>relates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this</a:t>
            </a:r>
            <a:r>
              <a:rPr lang="zh-CN" altLang="en-US" sz="2000" dirty="0"/>
              <a:t> </a:t>
            </a:r>
            <a:r>
              <a:rPr lang="en-US" altLang="zh-CN" sz="2000" dirty="0"/>
              <a:t>argument.</a:t>
            </a:r>
          </a:p>
          <a:p>
            <a:r>
              <a:rPr lang="en-US" altLang="zh-CN" sz="2000" dirty="0"/>
              <a:t>Before</a:t>
            </a:r>
            <a:r>
              <a:rPr lang="zh-CN" altLang="en-US" sz="2000" dirty="0"/>
              <a:t> </a:t>
            </a:r>
            <a:r>
              <a:rPr lang="en-US" altLang="zh-CN" sz="2000" dirty="0"/>
              <a:t>continuing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lecture,</a:t>
            </a:r>
            <a:r>
              <a:rPr lang="zh-CN" altLang="en-US" sz="2000" dirty="0"/>
              <a:t> </a:t>
            </a:r>
            <a:r>
              <a:rPr lang="en-US" altLang="zh-CN" sz="2000" dirty="0"/>
              <a:t>reread</a:t>
            </a:r>
            <a:r>
              <a:rPr lang="zh-CN" altLang="en-US" sz="2000" dirty="0"/>
              <a:t> </a:t>
            </a:r>
            <a:r>
              <a:rPr lang="en-US" altLang="zh-CN" sz="2000" dirty="0"/>
              <a:t>Tsao’s</a:t>
            </a:r>
            <a:r>
              <a:rPr lang="zh-CN" altLang="en-US" sz="2000" dirty="0"/>
              <a:t> </a:t>
            </a:r>
            <a:r>
              <a:rPr lang="en-US" altLang="zh-CN" sz="2000" dirty="0"/>
              <a:t>introduction,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her</a:t>
            </a:r>
            <a:r>
              <a:rPr lang="zh-CN" altLang="en-US" sz="2000" dirty="0"/>
              <a:t> </a:t>
            </a:r>
            <a:r>
              <a:rPr lang="en-US" altLang="zh-CN" sz="2000" dirty="0"/>
              <a:t>“argument.”</a:t>
            </a:r>
          </a:p>
          <a:p>
            <a:endParaRPr lang="en-CA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BDD73-D728-CDCD-A56B-0142FC9A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8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0AA98-D989-7218-F0D5-DC5ABD14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Song</a:t>
            </a:r>
            <a:r>
              <a:rPr lang="zh-TW" altLang="en-US" dirty="0"/>
              <a:t> </a:t>
            </a:r>
            <a:r>
              <a:rPr lang="en-US" altLang="zh-TW" dirty="0"/>
              <a:t>dynasty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E5CAA-4BDD-DC17-2333-6CA33B035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Northern</a:t>
            </a:r>
            <a:r>
              <a:rPr lang="zh-TW" altLang="en-US" dirty="0"/>
              <a:t> </a:t>
            </a:r>
            <a:r>
              <a:rPr lang="en-US" altLang="zh-TW" dirty="0"/>
              <a:t>Song</a:t>
            </a:r>
            <a:r>
              <a:rPr lang="zh-TW" altLang="en-US" dirty="0"/>
              <a:t> 北宋 </a:t>
            </a:r>
            <a:r>
              <a:rPr lang="en-US" altLang="zh-TW" dirty="0"/>
              <a:t>(960–1127)</a:t>
            </a:r>
          </a:p>
          <a:p>
            <a:pPr lvl="1"/>
            <a:r>
              <a:rPr lang="en-US" altLang="zh-TW" dirty="0"/>
              <a:t>Capital</a:t>
            </a:r>
            <a:r>
              <a:rPr lang="zh-TW" altLang="en-US" dirty="0"/>
              <a:t> </a:t>
            </a:r>
            <a:r>
              <a:rPr lang="en-US" altLang="zh-TW" dirty="0"/>
              <a:t>in</a:t>
            </a:r>
            <a:r>
              <a:rPr lang="zh-TW" altLang="en-US" dirty="0"/>
              <a:t> </a:t>
            </a:r>
            <a:r>
              <a:rPr lang="en-US" altLang="zh-TW" dirty="0" err="1"/>
              <a:t>Bianliang</a:t>
            </a:r>
            <a:r>
              <a:rPr lang="zh-TW" altLang="en-US" dirty="0"/>
              <a:t> 汴梁 </a:t>
            </a:r>
            <a:r>
              <a:rPr lang="en-US" altLang="zh-TW" dirty="0"/>
              <a:t>(Modern</a:t>
            </a:r>
            <a:r>
              <a:rPr lang="zh-TW" altLang="en-US" dirty="0"/>
              <a:t> </a:t>
            </a:r>
            <a:r>
              <a:rPr lang="en-US" altLang="zh-TW" dirty="0"/>
              <a:t>Kaifeng</a:t>
            </a:r>
            <a:r>
              <a:rPr lang="zh-TW" altLang="en-US" dirty="0"/>
              <a:t> 開封</a:t>
            </a:r>
            <a:r>
              <a:rPr lang="en-US" altLang="zh-CN" dirty="0"/>
              <a:t>/</a:t>
            </a:r>
            <a:r>
              <a:rPr lang="zh-TW" altLang="en-US" dirty="0"/>
              <a:t>开封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Henan)</a:t>
            </a:r>
          </a:p>
          <a:p>
            <a:pPr lvl="1"/>
            <a:r>
              <a:rPr lang="en-US" altLang="zh-TW" dirty="0"/>
              <a:t>Coexistent</a:t>
            </a:r>
            <a:r>
              <a:rPr lang="zh-TW" altLang="en-US" dirty="0"/>
              <a:t> </a:t>
            </a:r>
            <a:r>
              <a:rPr lang="en-US" altLang="zh-TW" dirty="0"/>
              <a:t>with</a:t>
            </a:r>
            <a:r>
              <a:rPr lang="zh-TW" altLang="en-US" dirty="0"/>
              <a:t> </a:t>
            </a:r>
            <a:r>
              <a:rPr lang="en-US" altLang="zh-TW" dirty="0" err="1"/>
              <a:t>Khitan</a:t>
            </a:r>
            <a:r>
              <a:rPr lang="zh-TW" altLang="en-US" dirty="0"/>
              <a:t> </a:t>
            </a:r>
            <a:r>
              <a:rPr lang="en-US" altLang="zh-TW" dirty="0"/>
              <a:t>(Liao</a:t>
            </a:r>
            <a:r>
              <a:rPr lang="zh-TW" altLang="en-US" dirty="0"/>
              <a:t> 遼 </a:t>
            </a:r>
            <a:r>
              <a:rPr lang="en-US" altLang="zh-TW" dirty="0"/>
              <a:t>/</a:t>
            </a:r>
            <a:r>
              <a:rPr lang="zh-TW" altLang="en-US" dirty="0"/>
              <a:t>辽</a:t>
            </a:r>
            <a:r>
              <a:rPr lang="en-US" altLang="zh-TW" dirty="0"/>
              <a:t>),</a:t>
            </a:r>
            <a:r>
              <a:rPr lang="zh-TW" altLang="en-US" dirty="0"/>
              <a:t> </a:t>
            </a:r>
            <a:r>
              <a:rPr lang="en-US" altLang="zh-TW" dirty="0"/>
              <a:t>Tangut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Xixia</a:t>
            </a:r>
            <a:r>
              <a:rPr lang="zh-TW" altLang="en-US" dirty="0"/>
              <a:t> 西夏</a:t>
            </a:r>
            <a:r>
              <a:rPr lang="en-US" altLang="zh-TW" dirty="0"/>
              <a:t>),</a:t>
            </a:r>
            <a:r>
              <a:rPr lang="zh-TW" altLang="en-US" dirty="0"/>
              <a:t> </a:t>
            </a:r>
            <a:r>
              <a:rPr lang="en-US" altLang="zh-TW" dirty="0"/>
              <a:t>Jurchen</a:t>
            </a:r>
            <a:r>
              <a:rPr lang="zh-TW" altLang="en-US" dirty="0"/>
              <a:t> </a:t>
            </a:r>
            <a:r>
              <a:rPr lang="en-US" altLang="zh-TW" dirty="0"/>
              <a:t>(Jin</a:t>
            </a:r>
            <a:r>
              <a:rPr lang="zh-TW" altLang="en-US" dirty="0"/>
              <a:t> 金</a:t>
            </a:r>
            <a:r>
              <a:rPr lang="en-US" altLang="zh-TW" dirty="0"/>
              <a:t>)</a:t>
            </a:r>
            <a:r>
              <a:rPr lang="zh-TW" altLang="en-US" dirty="0"/>
              <a:t>  </a:t>
            </a:r>
            <a:r>
              <a:rPr lang="en-US" altLang="zh-TW" dirty="0"/>
              <a:t>states</a:t>
            </a:r>
          </a:p>
          <a:p>
            <a:pPr lvl="1"/>
            <a:r>
              <a:rPr lang="en-US" altLang="zh-CN" dirty="0"/>
              <a:t>Debates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government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deal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rival</a:t>
            </a:r>
            <a:r>
              <a:rPr lang="zh-CN" altLang="en-US" dirty="0"/>
              <a:t> </a:t>
            </a:r>
            <a:r>
              <a:rPr lang="en-US" altLang="zh-CN" dirty="0"/>
              <a:t>states</a:t>
            </a:r>
            <a:endParaRPr lang="en-US" altLang="zh-TW" dirty="0"/>
          </a:p>
          <a:p>
            <a:pPr lvl="1"/>
            <a:r>
              <a:rPr lang="en-US" altLang="zh-TW" dirty="0"/>
              <a:t>1127:</a:t>
            </a:r>
            <a:r>
              <a:rPr lang="zh-TW" altLang="en-US" dirty="0"/>
              <a:t> </a:t>
            </a:r>
            <a:r>
              <a:rPr lang="en-US" altLang="zh-TW" dirty="0"/>
              <a:t>Northern</a:t>
            </a:r>
            <a:r>
              <a:rPr lang="zh-TW" altLang="en-US" dirty="0"/>
              <a:t> </a:t>
            </a:r>
            <a:r>
              <a:rPr lang="en-US" altLang="zh-TW" dirty="0"/>
              <a:t>territory</a:t>
            </a:r>
            <a:r>
              <a:rPr lang="zh-TW" altLang="en-US" dirty="0"/>
              <a:t> </a:t>
            </a:r>
            <a:r>
              <a:rPr lang="en-US" altLang="zh-TW" dirty="0"/>
              <a:t>conquered</a:t>
            </a:r>
            <a:r>
              <a:rPr lang="zh-TW" altLang="en-US" dirty="0"/>
              <a:t> </a:t>
            </a:r>
            <a:r>
              <a:rPr lang="en-US" altLang="zh-TW" dirty="0"/>
              <a:t>by</a:t>
            </a:r>
            <a:r>
              <a:rPr lang="zh-TW" altLang="en-US" dirty="0"/>
              <a:t> </a:t>
            </a:r>
            <a:r>
              <a:rPr lang="en-US" altLang="zh-TW" dirty="0"/>
              <a:t>Jurchen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Jin</a:t>
            </a:r>
          </a:p>
          <a:p>
            <a:r>
              <a:rPr lang="en-US" altLang="zh-TW" dirty="0"/>
              <a:t>Southern</a:t>
            </a:r>
            <a:r>
              <a:rPr lang="zh-TW" altLang="en-US" dirty="0"/>
              <a:t> </a:t>
            </a:r>
            <a:r>
              <a:rPr lang="en-US" altLang="zh-TW" dirty="0"/>
              <a:t>Song</a:t>
            </a:r>
            <a:r>
              <a:rPr lang="zh-TW" altLang="en-US" dirty="0"/>
              <a:t> 南宋 </a:t>
            </a:r>
            <a:r>
              <a:rPr lang="en-US" altLang="zh-TW" dirty="0"/>
              <a:t>(1127–1279)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Jin</a:t>
            </a:r>
            <a:r>
              <a:rPr lang="zh-TW" altLang="en-US" dirty="0"/>
              <a:t> 金 </a:t>
            </a:r>
            <a:r>
              <a:rPr lang="en-US" altLang="zh-TW" dirty="0"/>
              <a:t>(1115–1234)</a:t>
            </a:r>
          </a:p>
          <a:p>
            <a:pPr lvl="1"/>
            <a:r>
              <a:rPr lang="en-US" altLang="zh-TW" dirty="0"/>
              <a:t>Jin</a:t>
            </a:r>
            <a:r>
              <a:rPr lang="zh-TW" altLang="en-US" dirty="0"/>
              <a:t> </a:t>
            </a:r>
            <a:r>
              <a:rPr lang="en-US" altLang="zh-TW" dirty="0"/>
              <a:t>rule</a:t>
            </a:r>
            <a:r>
              <a:rPr lang="zh-TW" altLang="en-US" dirty="0"/>
              <a:t> </a:t>
            </a:r>
            <a:r>
              <a:rPr lang="en-US" altLang="zh-TW" dirty="0"/>
              <a:t>of</a:t>
            </a:r>
            <a:r>
              <a:rPr lang="zh-TW" altLang="en-US" dirty="0"/>
              <a:t> </a:t>
            </a:r>
            <a:r>
              <a:rPr lang="en-US" altLang="zh-TW" dirty="0"/>
              <a:t>former</a:t>
            </a:r>
            <a:r>
              <a:rPr lang="zh-TW" altLang="en-US" dirty="0"/>
              <a:t> </a:t>
            </a:r>
            <a:r>
              <a:rPr lang="en-US" altLang="zh-TW" dirty="0"/>
              <a:t>Song</a:t>
            </a:r>
            <a:r>
              <a:rPr lang="zh-TW" altLang="en-US" dirty="0"/>
              <a:t> </a:t>
            </a:r>
            <a:r>
              <a:rPr lang="en-US" altLang="zh-TW" dirty="0"/>
              <a:t>territory;</a:t>
            </a:r>
            <a:r>
              <a:rPr lang="zh-TW" altLang="en-US" dirty="0"/>
              <a:t> </a:t>
            </a:r>
            <a:r>
              <a:rPr lang="en-US" altLang="zh-TW" dirty="0"/>
              <a:t>some</a:t>
            </a:r>
            <a:r>
              <a:rPr lang="zh-TW" altLang="en-US" dirty="0"/>
              <a:t> </a:t>
            </a:r>
            <a:r>
              <a:rPr lang="en-US" altLang="zh-TW" dirty="0"/>
              <a:t>Song</a:t>
            </a:r>
            <a:r>
              <a:rPr lang="zh-TW" altLang="en-US" dirty="0"/>
              <a:t> </a:t>
            </a:r>
            <a:r>
              <a:rPr lang="en-US" altLang="zh-TW" dirty="0"/>
              <a:t>subjects</a:t>
            </a:r>
            <a:r>
              <a:rPr lang="zh-TW" altLang="en-US" dirty="0"/>
              <a:t> </a:t>
            </a:r>
            <a:r>
              <a:rPr lang="en-US" altLang="zh-TW" dirty="0"/>
              <a:t>flee</a:t>
            </a:r>
            <a:r>
              <a:rPr lang="zh-TW" altLang="en-US" dirty="0"/>
              <a:t> </a:t>
            </a:r>
            <a:r>
              <a:rPr lang="en-US" altLang="zh-TW" dirty="0"/>
              <a:t>south,</a:t>
            </a:r>
            <a:r>
              <a:rPr lang="zh-TW" altLang="en-US" dirty="0"/>
              <a:t> </a:t>
            </a:r>
            <a:r>
              <a:rPr lang="en-US" altLang="zh-TW" dirty="0"/>
              <a:t>others</a:t>
            </a:r>
            <a:r>
              <a:rPr lang="zh-TW" altLang="en-US" dirty="0"/>
              <a:t> </a:t>
            </a:r>
            <a:r>
              <a:rPr lang="en-US" altLang="zh-TW" dirty="0"/>
              <a:t>remain</a:t>
            </a:r>
            <a:r>
              <a:rPr lang="zh-TW" altLang="en-US" dirty="0"/>
              <a:t> </a:t>
            </a:r>
            <a:r>
              <a:rPr lang="en-US" altLang="zh-TW" dirty="0"/>
              <a:t>under</a:t>
            </a:r>
            <a:r>
              <a:rPr lang="zh-TW" altLang="en-US" dirty="0"/>
              <a:t> </a:t>
            </a:r>
            <a:r>
              <a:rPr lang="en-US" altLang="zh-TW" dirty="0"/>
              <a:t>Jin</a:t>
            </a:r>
            <a:r>
              <a:rPr lang="zh-TW" altLang="en-US" dirty="0"/>
              <a:t> </a:t>
            </a:r>
            <a:r>
              <a:rPr lang="en-US" altLang="zh-TW" dirty="0"/>
              <a:t>rule</a:t>
            </a:r>
          </a:p>
          <a:p>
            <a:pPr lvl="1"/>
            <a:r>
              <a:rPr lang="en-US" altLang="zh-TW" dirty="0"/>
              <a:t>Song</a:t>
            </a:r>
            <a:r>
              <a:rPr lang="zh-TW" altLang="en-US" dirty="0"/>
              <a:t> </a:t>
            </a:r>
            <a:r>
              <a:rPr lang="en-US" altLang="zh-TW" dirty="0"/>
              <a:t>capital</a:t>
            </a:r>
            <a:r>
              <a:rPr lang="zh-TW" altLang="en-US" dirty="0"/>
              <a:t> </a:t>
            </a:r>
            <a:r>
              <a:rPr lang="en-US" altLang="zh-CN" dirty="0"/>
              <a:t>moved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TW" altLang="en-US" dirty="0"/>
              <a:t> </a:t>
            </a:r>
            <a:r>
              <a:rPr lang="en-US" altLang="zh-TW" dirty="0" err="1"/>
              <a:t>Jiangning</a:t>
            </a:r>
            <a:r>
              <a:rPr lang="zh-TW" altLang="en-US" dirty="0"/>
              <a:t> 江寧</a:t>
            </a:r>
            <a:r>
              <a:rPr lang="en-US" altLang="zh-CN" dirty="0"/>
              <a:t>/</a:t>
            </a:r>
            <a:r>
              <a:rPr lang="zh-TW" altLang="en-US" dirty="0"/>
              <a:t>江宁</a:t>
            </a:r>
            <a:r>
              <a:rPr lang="zh-CN" altLang="en-US" dirty="0"/>
              <a:t> </a:t>
            </a:r>
            <a:r>
              <a:rPr lang="en-US" altLang="zh-TW" dirty="0"/>
              <a:t>(Nanjing</a:t>
            </a:r>
            <a:r>
              <a:rPr lang="zh-TW" altLang="en-US" dirty="0"/>
              <a:t> 南京</a:t>
            </a:r>
            <a:r>
              <a:rPr lang="en-US" altLang="zh-TW" dirty="0"/>
              <a:t>),</a:t>
            </a:r>
            <a:r>
              <a:rPr lang="zh-TW" altLang="en-US" dirty="0"/>
              <a:t> </a:t>
            </a:r>
            <a:r>
              <a:rPr lang="en-US" altLang="zh-TW" dirty="0"/>
              <a:t>then</a:t>
            </a:r>
            <a:r>
              <a:rPr lang="zh-TW" altLang="en-US" dirty="0"/>
              <a:t> </a:t>
            </a:r>
            <a:r>
              <a:rPr lang="en-US" altLang="zh-TW" dirty="0"/>
              <a:t>Lin’an</a:t>
            </a:r>
            <a:r>
              <a:rPr lang="zh-TW" altLang="en-US" dirty="0"/>
              <a:t> 臨安</a:t>
            </a:r>
            <a:r>
              <a:rPr lang="en-US" altLang="zh-CN" dirty="0"/>
              <a:t>/</a:t>
            </a:r>
            <a:r>
              <a:rPr lang="zh-TW" altLang="en-US" dirty="0"/>
              <a:t>临安 </a:t>
            </a:r>
            <a:r>
              <a:rPr lang="en-US" altLang="zh-TW" dirty="0"/>
              <a:t>(Hangzhou</a:t>
            </a:r>
            <a:r>
              <a:rPr lang="zh-TW" altLang="en-US" dirty="0"/>
              <a:t> 杭州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Cultural, economic, agricultural development of South intensifies</a:t>
            </a:r>
          </a:p>
          <a:p>
            <a:pPr lvl="1"/>
            <a:r>
              <a:rPr lang="en-US" altLang="zh-CN" dirty="0"/>
              <a:t>N.</a:t>
            </a:r>
            <a:r>
              <a:rPr lang="zh-CN" altLang="en-US" dirty="0"/>
              <a:t> </a:t>
            </a:r>
            <a:r>
              <a:rPr lang="en-US" altLang="zh-CN" dirty="0"/>
              <a:t>Song</a:t>
            </a:r>
            <a:r>
              <a:rPr lang="zh-CN" altLang="en-US" dirty="0"/>
              <a:t> </a:t>
            </a:r>
            <a:r>
              <a:rPr lang="en-US" altLang="zh-CN" dirty="0"/>
              <a:t>remembered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peace,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critiqued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naively</a:t>
            </a:r>
            <a:r>
              <a:rPr lang="zh-CN" altLang="en-US" dirty="0"/>
              <a:t> </a:t>
            </a:r>
            <a:r>
              <a:rPr lang="en-US" altLang="zh-CN" dirty="0"/>
              <a:t>unprepared</a:t>
            </a:r>
            <a:endParaRPr lang="en-US" altLang="zh-TW" dirty="0"/>
          </a:p>
          <a:p>
            <a:pPr lvl="1"/>
            <a:r>
              <a:rPr lang="en-US" altLang="zh-TW" dirty="0"/>
              <a:t>Mongol</a:t>
            </a:r>
            <a:r>
              <a:rPr lang="zh-TW" altLang="en-US" dirty="0"/>
              <a:t> </a:t>
            </a:r>
            <a:r>
              <a:rPr lang="en-US" altLang="zh-TW" dirty="0"/>
              <a:t>empire </a:t>
            </a:r>
            <a:r>
              <a:rPr lang="en-US" altLang="zh-CN" dirty="0"/>
              <a:t>(Yuan</a:t>
            </a:r>
            <a:r>
              <a:rPr lang="zh-CN" altLang="en-US" dirty="0"/>
              <a:t> </a:t>
            </a:r>
            <a:r>
              <a:rPr lang="zh-TW" altLang="en-US" dirty="0"/>
              <a:t>元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TW" dirty="0"/>
              <a:t>conquers</a:t>
            </a:r>
            <a:r>
              <a:rPr lang="zh-TW" altLang="en-US" dirty="0"/>
              <a:t> </a:t>
            </a:r>
            <a:r>
              <a:rPr lang="en-US" altLang="zh-TW" dirty="0"/>
              <a:t>Jin in 1234, S. Song in 1279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E77BC-BD01-F389-BE34-DAFF6C8E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71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C0AE-C70C-497B-F43C-EACA105C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58A77-DF89-995A-96BF-1B1D117B8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49B9C-426D-D11F-23C6-6BBC3B4C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Content Placeholder 3" descr="LiaoSongXiXia.gif">
            <a:extLst>
              <a:ext uri="{FF2B5EF4-FFF2-40B4-BE49-F238E27FC236}">
                <a16:creationId xmlns:a16="http://schemas.microsoft.com/office/drawing/2014/main" id="{17C77459-4B07-103D-F54F-BCE662076F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" r="467"/>
          <a:stretch>
            <a:fillRect/>
          </a:stretch>
        </p:blipFill>
        <p:spPr>
          <a:xfrm>
            <a:off x="2864201" y="0"/>
            <a:ext cx="7160331" cy="7680891"/>
          </a:xfrm>
          <a:prstGeom prst="rect">
            <a:avLst/>
          </a:prstGeom>
        </p:spPr>
      </p:pic>
      <p:pic>
        <p:nvPicPr>
          <p:cNvPr id="6" name="Content Placeholder 4" descr="SouthernSongMap.gif">
            <a:extLst>
              <a:ext uri="{FF2B5EF4-FFF2-40B4-BE49-F238E27FC236}">
                <a16:creationId xmlns:a16="http://schemas.microsoft.com/office/drawing/2014/main" id="{1B326104-D5B9-40B2-19F8-F8770C0986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26" r="-230"/>
          <a:stretch>
            <a:fillRect/>
          </a:stretch>
        </p:blipFill>
        <p:spPr>
          <a:xfrm>
            <a:off x="2779536" y="1365"/>
            <a:ext cx="7289800" cy="685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21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34CC-46A6-2881-A0D1-C05F8C2B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</a:t>
            </a:r>
            <a:r>
              <a:rPr lang="zh-TW" altLang="en-US" dirty="0"/>
              <a:t> </a:t>
            </a:r>
            <a:r>
              <a:rPr lang="en-US" altLang="zh-TW" dirty="0"/>
              <a:t>does</a:t>
            </a:r>
            <a:r>
              <a:rPr lang="zh-TW" altLang="en-US" dirty="0"/>
              <a:t> </a:t>
            </a:r>
            <a:r>
              <a:rPr lang="en-US" altLang="zh-TW" dirty="0"/>
              <a:t>this</a:t>
            </a:r>
            <a:r>
              <a:rPr lang="zh-TW" altLang="en-US" dirty="0"/>
              <a:t> </a:t>
            </a:r>
            <a:r>
              <a:rPr lang="en-US" altLang="zh-TW" dirty="0"/>
              <a:t>matter?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E44DE-3DC8-2300-2DC3-3EF5B1B12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CN" dirty="0"/>
              <a:t>connect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Qingming</a:t>
            </a:r>
            <a:r>
              <a:rPr lang="zh-TW" altLang="en-US" dirty="0"/>
              <a:t> </a:t>
            </a:r>
            <a:r>
              <a:rPr lang="en-US" altLang="zh-TW" dirty="0"/>
              <a:t>scroll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tumultuous</a:t>
            </a:r>
            <a:r>
              <a:rPr lang="zh-TW" altLang="en-US" dirty="0"/>
              <a:t> </a:t>
            </a:r>
            <a:r>
              <a:rPr lang="en-US" altLang="zh-TW" dirty="0"/>
              <a:t>events</a:t>
            </a:r>
            <a:r>
              <a:rPr lang="zh-TW" altLang="en-US" dirty="0"/>
              <a:t> </a:t>
            </a:r>
            <a:r>
              <a:rPr lang="en-US" altLang="zh-TW" dirty="0"/>
              <a:t>of</a:t>
            </a:r>
            <a:r>
              <a:rPr lang="zh-TW" altLang="en-US" dirty="0"/>
              <a:t> </a:t>
            </a:r>
            <a:r>
              <a:rPr lang="en-US" altLang="zh-TW" dirty="0"/>
              <a:t>12</a:t>
            </a:r>
            <a:r>
              <a:rPr lang="en-US" altLang="zh-TW" baseline="30000" dirty="0"/>
              <a:t>th</a:t>
            </a:r>
            <a:r>
              <a:rPr lang="zh-TW" altLang="en-US" dirty="0"/>
              <a:t> </a:t>
            </a:r>
            <a:r>
              <a:rPr lang="en-US" altLang="zh-TW" dirty="0"/>
              <a:t>cent</a:t>
            </a:r>
            <a:r>
              <a:rPr lang="en-US" altLang="zh-CN" dirty="0"/>
              <a:t>...</a:t>
            </a:r>
          </a:p>
          <a:p>
            <a:pPr marL="0" indent="0">
              <a:buNone/>
            </a:pPr>
            <a:r>
              <a:rPr lang="zh-TW" altLang="en-US" dirty="0"/>
              <a:t> </a:t>
            </a:r>
            <a:r>
              <a:rPr lang="zh-CN" altLang="en-US" dirty="0"/>
              <a:t>       </a:t>
            </a:r>
            <a:r>
              <a:rPr lang="en-US" altLang="zh-TW" dirty="0"/>
              <a:t>we</a:t>
            </a:r>
            <a:r>
              <a:rPr lang="zh-TW" altLang="en-US" dirty="0"/>
              <a:t> </a:t>
            </a:r>
            <a:r>
              <a:rPr lang="en-US" altLang="zh-CN" dirty="0"/>
              <a:t>should</a:t>
            </a:r>
            <a:r>
              <a:rPr lang="zh-TW" altLang="en-US" dirty="0"/>
              <a:t> </a:t>
            </a:r>
            <a:r>
              <a:rPr lang="en-US" altLang="zh-CN" dirty="0"/>
              <a:t>try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be</a:t>
            </a:r>
            <a:r>
              <a:rPr lang="zh-TW" altLang="en-US" dirty="0"/>
              <a:t> </a:t>
            </a:r>
            <a:r>
              <a:rPr lang="en-US" altLang="zh-TW" dirty="0"/>
              <a:t>precise</a:t>
            </a:r>
            <a:r>
              <a:rPr lang="zh-TW" altLang="en-US" dirty="0"/>
              <a:t> </a:t>
            </a:r>
            <a:r>
              <a:rPr lang="en-US" altLang="zh-TW" dirty="0"/>
              <a:t>about</a:t>
            </a:r>
            <a:r>
              <a:rPr lang="zh-TW" altLang="en-US" dirty="0"/>
              <a:t> </a:t>
            </a:r>
            <a:r>
              <a:rPr lang="en-US" altLang="zh-TW" dirty="0"/>
              <a:t>when</a:t>
            </a:r>
            <a:r>
              <a:rPr lang="zh-TW" altLang="en-US" dirty="0"/>
              <a:t> </a:t>
            </a:r>
            <a:r>
              <a:rPr lang="en-US" altLang="zh-TW" dirty="0"/>
              <a:t>it</a:t>
            </a:r>
            <a:r>
              <a:rPr lang="zh-TW" altLang="en-US" dirty="0"/>
              <a:t> </a:t>
            </a:r>
            <a:r>
              <a:rPr lang="en-US" altLang="zh-TW" dirty="0"/>
              <a:t>was</a:t>
            </a:r>
            <a:r>
              <a:rPr lang="zh-TW" altLang="en-US" dirty="0"/>
              <a:t> </a:t>
            </a:r>
            <a:r>
              <a:rPr lang="en-US" altLang="zh-TW" dirty="0"/>
              <a:t>painted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TW" dirty="0"/>
              <a:t>it</a:t>
            </a:r>
            <a:r>
              <a:rPr lang="zh-TW" altLang="en-US" dirty="0"/>
              <a:t> </a:t>
            </a:r>
            <a:r>
              <a:rPr lang="en-US" altLang="zh-TW" dirty="0"/>
              <a:t>represents!</a:t>
            </a:r>
          </a:p>
          <a:p>
            <a:r>
              <a:rPr lang="en-US" altLang="zh-TW" dirty="0"/>
              <a:t>Much</a:t>
            </a:r>
            <a:r>
              <a:rPr lang="zh-TW" altLang="en-US" dirty="0"/>
              <a:t> </a:t>
            </a:r>
            <a:r>
              <a:rPr lang="en-US" altLang="zh-TW" dirty="0"/>
              <a:t>of</a:t>
            </a:r>
            <a:r>
              <a:rPr lang="zh-TW" altLang="en-US" dirty="0"/>
              <a:t> </a:t>
            </a:r>
            <a:r>
              <a:rPr lang="en-US" altLang="zh-TW" dirty="0"/>
              <a:t>S.</a:t>
            </a:r>
            <a:r>
              <a:rPr lang="zh-TW" altLang="en-US" dirty="0"/>
              <a:t> </a:t>
            </a:r>
            <a:r>
              <a:rPr lang="en-US" altLang="zh-TW" dirty="0"/>
              <a:t>Song</a:t>
            </a:r>
            <a:r>
              <a:rPr lang="zh-TW" altLang="en-US" dirty="0"/>
              <a:t> </a:t>
            </a:r>
            <a:r>
              <a:rPr lang="en-US" altLang="zh-TW" dirty="0"/>
              <a:t>literati</a:t>
            </a:r>
            <a:r>
              <a:rPr lang="zh-TW" altLang="en-US" dirty="0"/>
              <a:t> </a:t>
            </a:r>
            <a:r>
              <a:rPr lang="en-US" altLang="zh-TW" dirty="0"/>
              <a:t>culture</a:t>
            </a:r>
            <a:r>
              <a:rPr lang="zh-TW" altLang="en-US" dirty="0"/>
              <a:t> </a:t>
            </a:r>
            <a:r>
              <a:rPr lang="en-US" altLang="zh-TW" dirty="0"/>
              <a:t>involves</a:t>
            </a:r>
            <a:r>
              <a:rPr lang="zh-TW" altLang="en-US" dirty="0"/>
              <a:t> </a:t>
            </a:r>
            <a:r>
              <a:rPr lang="en-US" altLang="zh-TW" dirty="0"/>
              <a:t>memoirs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nostalgia</a:t>
            </a:r>
            <a:r>
              <a:rPr lang="zh-TW" altLang="en-US" dirty="0"/>
              <a:t> </a:t>
            </a:r>
            <a:r>
              <a:rPr lang="en-US" altLang="zh-TW" dirty="0"/>
              <a:t>of</a:t>
            </a:r>
            <a:r>
              <a:rPr lang="zh-TW" altLang="en-US" dirty="0"/>
              <a:t> </a:t>
            </a:r>
            <a:r>
              <a:rPr lang="en-US" altLang="zh-TW" dirty="0"/>
              <a:t>N.</a:t>
            </a:r>
            <a:r>
              <a:rPr lang="zh-TW" altLang="en-US" dirty="0"/>
              <a:t> </a:t>
            </a:r>
            <a:r>
              <a:rPr lang="en-US" altLang="zh-TW" dirty="0"/>
              <a:t>Song,</a:t>
            </a:r>
            <a:r>
              <a:rPr lang="zh-TW" altLang="en-US" dirty="0"/>
              <a:t> </a:t>
            </a:r>
            <a:r>
              <a:rPr lang="en-US" altLang="zh-TW" dirty="0"/>
              <a:t>esp.</a:t>
            </a:r>
            <a:r>
              <a:rPr lang="zh-TW" altLang="en-US" dirty="0"/>
              <a:t> </a:t>
            </a:r>
            <a:r>
              <a:rPr lang="en-US" altLang="zh-TW" dirty="0"/>
              <a:t>Kaifeng</a:t>
            </a:r>
          </a:p>
          <a:p>
            <a:pPr lvl="1"/>
            <a:r>
              <a:rPr lang="en-US" altLang="zh-TW" dirty="0"/>
              <a:t>Ex.</a:t>
            </a:r>
            <a:r>
              <a:rPr lang="zh-TW" altLang="en-US" dirty="0"/>
              <a:t> </a:t>
            </a:r>
            <a:r>
              <a:rPr lang="en-US" altLang="zh-TW" dirty="0"/>
              <a:t>Meng</a:t>
            </a:r>
            <a:r>
              <a:rPr lang="zh-TW" altLang="en-US" dirty="0"/>
              <a:t> </a:t>
            </a:r>
            <a:r>
              <a:rPr lang="en-US" altLang="zh-TW" dirty="0" err="1"/>
              <a:t>Yuanlao</a:t>
            </a:r>
            <a:r>
              <a:rPr lang="zh-TW" altLang="en-US" dirty="0"/>
              <a:t> 孟元老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i="1" dirty="0" err="1"/>
              <a:t>Dongjing</a:t>
            </a:r>
            <a:r>
              <a:rPr lang="zh-TW" altLang="en-US" i="1" dirty="0"/>
              <a:t> </a:t>
            </a:r>
            <a:r>
              <a:rPr lang="en-US" altLang="zh-TW" i="1" dirty="0" err="1"/>
              <a:t>menghua</a:t>
            </a:r>
            <a:r>
              <a:rPr lang="zh-TW" altLang="en-US" i="1" dirty="0"/>
              <a:t> </a:t>
            </a:r>
            <a:r>
              <a:rPr lang="en-US" altLang="zh-TW" i="1" dirty="0" err="1"/>
              <a:t>lu</a:t>
            </a:r>
            <a:r>
              <a:rPr lang="zh-TW" altLang="en-US" i="1" dirty="0"/>
              <a:t> </a:t>
            </a:r>
            <a:r>
              <a:rPr lang="zh-TW" altLang="en-US" dirty="0"/>
              <a:t>東京夢華錄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zh-TW" altLang="en-US" dirty="0"/>
              <a:t>东京梦华录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“Glorious</a:t>
            </a:r>
            <a:r>
              <a:rPr lang="zh-CN" altLang="en-US" dirty="0"/>
              <a:t> </a:t>
            </a:r>
            <a:r>
              <a:rPr lang="en-US" altLang="zh-CN" dirty="0"/>
              <a:t>Dreams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Eastern</a:t>
            </a:r>
            <a:r>
              <a:rPr lang="zh-CN" altLang="en-US" dirty="0"/>
              <a:t> </a:t>
            </a:r>
            <a:r>
              <a:rPr lang="en-US" altLang="zh-CN" dirty="0"/>
              <a:t>Capital,”</a:t>
            </a:r>
            <a:r>
              <a:rPr lang="zh-CN" altLang="en-US" dirty="0"/>
              <a:t> </a:t>
            </a:r>
            <a:r>
              <a:rPr lang="en-US" altLang="zh-CN" dirty="0"/>
              <a:t>1147</a:t>
            </a:r>
          </a:p>
          <a:p>
            <a:r>
              <a:rPr lang="en-US" altLang="zh-CN" dirty="0"/>
              <a:t>Experience</a:t>
            </a:r>
            <a:r>
              <a:rPr lang="zh-CN" altLang="en-US" dirty="0"/>
              <a:t> </a:t>
            </a:r>
            <a:r>
              <a:rPr lang="en-US" altLang="zh-CN" dirty="0"/>
              <a:t>vs.</a:t>
            </a:r>
            <a:r>
              <a:rPr lang="zh-CN" altLang="en-US" dirty="0"/>
              <a:t> </a:t>
            </a:r>
            <a:r>
              <a:rPr lang="en-US" altLang="zh-CN" dirty="0"/>
              <a:t>memory/nostalgia</a:t>
            </a:r>
            <a:r>
              <a:rPr lang="zh-CN" altLang="en-US" dirty="0"/>
              <a:t> </a:t>
            </a:r>
            <a:r>
              <a:rPr lang="en-US" altLang="zh-CN" dirty="0"/>
              <a:t>vs.</a:t>
            </a:r>
            <a:r>
              <a:rPr lang="zh-CN" altLang="en-US" dirty="0"/>
              <a:t> </a:t>
            </a:r>
            <a:r>
              <a:rPr lang="en-US" altLang="zh-CN" dirty="0"/>
              <a:t>‘cultural</a:t>
            </a:r>
            <a:r>
              <a:rPr lang="zh-CN" altLang="en-US" dirty="0"/>
              <a:t> </a:t>
            </a:r>
            <a:r>
              <a:rPr lang="en-US" altLang="zh-CN" dirty="0"/>
              <a:t>memory’</a:t>
            </a:r>
          </a:p>
          <a:p>
            <a:pPr lvl="1"/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remember,</a:t>
            </a:r>
            <a:r>
              <a:rPr lang="zh-CN" altLang="en-US" dirty="0"/>
              <a:t> </a:t>
            </a:r>
            <a:r>
              <a:rPr lang="en-US" altLang="zh-CN" dirty="0"/>
              <a:t>consider</a:t>
            </a:r>
            <a:r>
              <a:rPr lang="zh-CN" altLang="en-US" dirty="0"/>
              <a:t> </a:t>
            </a:r>
            <a:r>
              <a:rPr lang="en-US" altLang="zh-CN" dirty="0"/>
              <a:t>important?</a:t>
            </a:r>
          </a:p>
          <a:p>
            <a:pPr lvl="1"/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think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relate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eras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did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personally</a:t>
            </a:r>
            <a:r>
              <a:rPr lang="zh-CN" altLang="en-US" dirty="0"/>
              <a:t> </a:t>
            </a:r>
            <a:r>
              <a:rPr lang="en-US" altLang="zh-CN" dirty="0"/>
              <a:t>experience?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painting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photograph...</a:t>
            </a:r>
            <a:r>
              <a:rPr lang="zh-CN" alt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73159-D7F4-CB3A-F139-E80C3B7B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80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FC7E-BE4E-FBA4-DC29-7755E19BB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perspective:</a:t>
            </a:r>
            <a:r>
              <a:rPr lang="zh-CN" altLang="en-US" dirty="0"/>
              <a:t> </a:t>
            </a:r>
            <a:r>
              <a:rPr lang="en-US" altLang="zh-CN" dirty="0"/>
              <a:t>Hansen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‘idealized</a:t>
            </a:r>
            <a:r>
              <a:rPr lang="zh-CN" altLang="en-US" dirty="0"/>
              <a:t> </a:t>
            </a:r>
            <a:r>
              <a:rPr lang="en-US" altLang="zh-CN" dirty="0"/>
              <a:t>city’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33930-0244-6146-D1BC-33CAEC38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63489"/>
            <a:ext cx="8915400" cy="4470401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Hansen’s</a:t>
            </a:r>
            <a:r>
              <a:rPr lang="zh-CN" altLang="en-US" dirty="0"/>
              <a:t> </a:t>
            </a:r>
            <a:r>
              <a:rPr lang="en-US" altLang="zh-CN" dirty="0"/>
              <a:t>argument:</a:t>
            </a:r>
          </a:p>
          <a:p>
            <a:pPr lvl="1"/>
            <a:r>
              <a:rPr lang="en-US" altLang="zh-CN" dirty="0"/>
              <a:t>Painting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depict</a:t>
            </a:r>
            <a:r>
              <a:rPr lang="zh-CN" altLang="en-US" dirty="0"/>
              <a:t> </a:t>
            </a:r>
            <a:r>
              <a:rPr lang="en-US" altLang="zh-CN" dirty="0"/>
              <a:t>N.</a:t>
            </a:r>
            <a:r>
              <a:rPr lang="zh-CN" altLang="en-US" dirty="0"/>
              <a:t> </a:t>
            </a:r>
            <a:r>
              <a:rPr lang="en-US" altLang="zh-CN" dirty="0"/>
              <a:t>Song</a:t>
            </a:r>
            <a:r>
              <a:rPr lang="zh-CN" altLang="en-US" dirty="0"/>
              <a:t> </a:t>
            </a:r>
            <a:r>
              <a:rPr lang="en-US" altLang="zh-CN" dirty="0"/>
              <a:t>Kaifeng,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instead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imaginary</a:t>
            </a:r>
            <a:r>
              <a:rPr lang="zh-CN" altLang="en-US" dirty="0"/>
              <a:t> </a:t>
            </a:r>
            <a:r>
              <a:rPr lang="en-US" altLang="zh-CN" dirty="0"/>
              <a:t>ideal</a:t>
            </a:r>
            <a:r>
              <a:rPr lang="zh-CN" altLang="en-US" dirty="0"/>
              <a:t> </a:t>
            </a:r>
            <a:r>
              <a:rPr lang="en-US" altLang="zh-CN" dirty="0"/>
              <a:t>city</a:t>
            </a:r>
          </a:p>
          <a:p>
            <a:pPr lvl="1"/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likely</a:t>
            </a:r>
            <a:r>
              <a:rPr lang="zh-CN" altLang="en-US" dirty="0"/>
              <a:t> </a:t>
            </a:r>
            <a:r>
              <a:rPr lang="en-US" altLang="zh-CN" dirty="0"/>
              <a:t>painted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fall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N.</a:t>
            </a:r>
            <a:r>
              <a:rPr lang="zh-CN" altLang="en-US" dirty="0"/>
              <a:t> </a:t>
            </a:r>
            <a:r>
              <a:rPr lang="en-US" altLang="zh-CN" dirty="0"/>
              <a:t>Song</a:t>
            </a:r>
          </a:p>
          <a:p>
            <a:r>
              <a:rPr lang="en-US" altLang="zh-CN" dirty="0"/>
              <a:t>Evidence:</a:t>
            </a:r>
          </a:p>
          <a:p>
            <a:pPr lvl="1"/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prominent,</a:t>
            </a:r>
            <a:r>
              <a:rPr lang="zh-CN" altLang="en-US" dirty="0"/>
              <a:t> </a:t>
            </a:r>
            <a:r>
              <a:rPr lang="en-US" altLang="zh-CN" dirty="0"/>
              <a:t>well-identified</a:t>
            </a:r>
            <a:r>
              <a:rPr lang="zh-CN" altLang="en-US" dirty="0"/>
              <a:t> </a:t>
            </a:r>
            <a:r>
              <a:rPr lang="en-US" altLang="zh-CN" dirty="0"/>
              <a:t>landmarks:</a:t>
            </a:r>
            <a:r>
              <a:rPr lang="zh-CN" altLang="en-US" dirty="0"/>
              <a:t> </a:t>
            </a:r>
            <a:r>
              <a:rPr lang="en-US" altLang="zh-CN" dirty="0"/>
              <a:t>Ex.</a:t>
            </a:r>
            <a:r>
              <a:rPr lang="zh-CN" altLang="en-US" dirty="0"/>
              <a:t> </a:t>
            </a:r>
            <a:r>
              <a:rPr lang="en-US" altLang="zh-CN" dirty="0"/>
              <a:t>City</a:t>
            </a:r>
            <a:r>
              <a:rPr lang="zh-CN" altLang="en-US" dirty="0"/>
              <a:t> </a:t>
            </a:r>
            <a:r>
              <a:rPr lang="en-US" altLang="zh-CN" dirty="0"/>
              <a:t>gate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labeled</a:t>
            </a:r>
          </a:p>
          <a:p>
            <a:pPr lvl="1"/>
            <a:r>
              <a:rPr lang="en-US" altLang="zh-CN" dirty="0"/>
              <a:t>Very</a:t>
            </a:r>
            <a:r>
              <a:rPr lang="zh-CN" altLang="en-US" dirty="0"/>
              <a:t> </a:t>
            </a:r>
            <a:r>
              <a:rPr lang="en-US" altLang="zh-CN" dirty="0"/>
              <a:t>little</a:t>
            </a:r>
            <a:r>
              <a:rPr lang="zh-CN" altLang="en-US" dirty="0"/>
              <a:t> </a:t>
            </a:r>
            <a:r>
              <a:rPr lang="en-US" altLang="zh-CN" dirty="0"/>
              <a:t>evidence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Qingming</a:t>
            </a:r>
            <a:r>
              <a:rPr lang="zh-CN" altLang="en-US" dirty="0"/>
              <a:t> </a:t>
            </a:r>
            <a:r>
              <a:rPr lang="en-US" altLang="zh-CN" dirty="0"/>
              <a:t>Festival</a:t>
            </a:r>
            <a:r>
              <a:rPr lang="zh-CN" altLang="en-US" dirty="0"/>
              <a:t> </a:t>
            </a:r>
            <a:r>
              <a:rPr lang="en-US" altLang="zh-CN" dirty="0"/>
              <a:t>celebrations</a:t>
            </a:r>
          </a:p>
          <a:p>
            <a:pPr lvl="1"/>
            <a:r>
              <a:rPr lang="en-US" altLang="zh-CN" dirty="0"/>
              <a:t>Inconsistent</a:t>
            </a:r>
            <a:r>
              <a:rPr lang="zh-CN" altLang="en-US" dirty="0"/>
              <a:t> </a:t>
            </a:r>
            <a:r>
              <a:rPr lang="en-US" altLang="zh-CN" dirty="0"/>
              <a:t>seasonal</a:t>
            </a:r>
            <a:r>
              <a:rPr lang="zh-CN" altLang="en-US" dirty="0"/>
              <a:t> </a:t>
            </a:r>
            <a:r>
              <a:rPr lang="en-US" altLang="zh-CN" dirty="0"/>
              <a:t>imagery</a:t>
            </a:r>
          </a:p>
          <a:p>
            <a:pPr lvl="1"/>
            <a:r>
              <a:rPr lang="en-US" altLang="zh-CN" dirty="0"/>
              <a:t>Idealized: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poverty,</a:t>
            </a:r>
            <a:r>
              <a:rPr lang="zh-CN" altLang="en-US" dirty="0"/>
              <a:t> </a:t>
            </a:r>
            <a:r>
              <a:rPr lang="en-US" altLang="zh-CN" dirty="0"/>
              <a:t>understaffed</a:t>
            </a:r>
            <a:r>
              <a:rPr lang="zh-CN" altLang="en-US" dirty="0"/>
              <a:t> </a:t>
            </a:r>
            <a:r>
              <a:rPr lang="en-US" altLang="zh-CN" dirty="0"/>
              <a:t>watchtowers,</a:t>
            </a:r>
            <a:r>
              <a:rPr lang="zh-CN" altLang="en-US" dirty="0"/>
              <a:t> </a:t>
            </a:r>
            <a:r>
              <a:rPr lang="en-US" altLang="zh-CN" dirty="0"/>
              <a:t>few</a:t>
            </a:r>
            <a:r>
              <a:rPr lang="zh-CN" altLang="en-US" dirty="0"/>
              <a:t> </a:t>
            </a:r>
            <a:r>
              <a:rPr lang="en-US" altLang="zh-CN" dirty="0"/>
              <a:t>fortifications</a:t>
            </a:r>
          </a:p>
          <a:p>
            <a:pPr lvl="1"/>
            <a:r>
              <a:rPr lang="en-US" altLang="zh-CN" dirty="0"/>
              <a:t>Style/technique</a:t>
            </a:r>
            <a:r>
              <a:rPr lang="zh-CN" altLang="en-US" dirty="0"/>
              <a:t> </a:t>
            </a:r>
            <a:r>
              <a:rPr lang="en-US" altLang="zh-CN" dirty="0"/>
              <a:t>reminiscent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mid/late</a:t>
            </a:r>
            <a:r>
              <a:rPr lang="zh-CN" altLang="en-US" dirty="0"/>
              <a:t> </a:t>
            </a:r>
            <a:r>
              <a:rPr lang="en-US" altLang="zh-CN" dirty="0"/>
              <a:t>12</a:t>
            </a:r>
            <a:r>
              <a:rPr lang="en-US" altLang="zh-CN" baseline="30000" dirty="0"/>
              <a:t>th</a:t>
            </a:r>
            <a:r>
              <a:rPr lang="zh-CN" altLang="en-US" dirty="0"/>
              <a:t> </a:t>
            </a:r>
            <a:r>
              <a:rPr lang="en-US" altLang="zh-CN" dirty="0"/>
              <a:t>century</a:t>
            </a:r>
            <a:r>
              <a:rPr lang="zh-CN" altLang="en-US" dirty="0"/>
              <a:t> </a:t>
            </a:r>
            <a:r>
              <a:rPr lang="en-US" altLang="zh-CN" dirty="0"/>
              <a:t>art,</a:t>
            </a:r>
            <a:r>
              <a:rPr lang="zh-CN" altLang="en-US" dirty="0"/>
              <a:t> </a:t>
            </a:r>
            <a:r>
              <a:rPr lang="en-US" altLang="zh-CN" dirty="0"/>
              <a:t>suggesting</a:t>
            </a:r>
            <a:r>
              <a:rPr lang="zh-CN" altLang="en-US" dirty="0"/>
              <a:t> </a:t>
            </a:r>
            <a:r>
              <a:rPr lang="en-US" altLang="zh-CN" dirty="0"/>
              <a:t>post-N.</a:t>
            </a:r>
            <a:r>
              <a:rPr lang="zh-CN" altLang="en-US" dirty="0"/>
              <a:t> </a:t>
            </a:r>
            <a:r>
              <a:rPr lang="en-US" altLang="zh-CN" dirty="0"/>
              <a:t>Song</a:t>
            </a:r>
            <a:r>
              <a:rPr lang="zh-CN" altLang="en-US" dirty="0"/>
              <a:t> </a:t>
            </a:r>
            <a:r>
              <a:rPr lang="en-US" altLang="zh-CN" dirty="0"/>
              <a:t>composition</a:t>
            </a:r>
          </a:p>
          <a:p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what?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nostalgic</a:t>
            </a:r>
            <a:r>
              <a:rPr lang="zh-CN" altLang="en-US" dirty="0"/>
              <a:t> </a:t>
            </a:r>
            <a:r>
              <a:rPr lang="en-US" altLang="zh-CN" dirty="0"/>
              <a:t>tribute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daily</a:t>
            </a:r>
            <a:r>
              <a:rPr lang="zh-CN" altLang="en-US" dirty="0"/>
              <a:t> </a:t>
            </a:r>
            <a:r>
              <a:rPr lang="en-US" altLang="zh-CN" dirty="0"/>
              <a:t>life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N.</a:t>
            </a:r>
            <a:r>
              <a:rPr lang="zh-CN" altLang="en-US" dirty="0"/>
              <a:t> </a:t>
            </a:r>
            <a:r>
              <a:rPr lang="en-US" altLang="zh-CN" dirty="0"/>
              <a:t>Song,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imaginary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idealized</a:t>
            </a:r>
            <a:r>
              <a:rPr lang="zh-CN" altLang="en-US" dirty="0"/>
              <a:t> </a:t>
            </a:r>
            <a:r>
              <a:rPr lang="en-US" altLang="zh-CN" dirty="0"/>
              <a:t>fictional</a:t>
            </a:r>
            <a:r>
              <a:rPr lang="zh-CN" altLang="en-US" dirty="0"/>
              <a:t> </a:t>
            </a:r>
            <a:r>
              <a:rPr lang="en-US" altLang="zh-CN" dirty="0"/>
              <a:t>city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visual</a:t>
            </a:r>
            <a:r>
              <a:rPr lang="zh-CN" altLang="en-US" dirty="0"/>
              <a:t> </a:t>
            </a:r>
            <a:r>
              <a:rPr lang="en-US" altLang="zh-CN" dirty="0"/>
              <a:t>counterpart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Meng</a:t>
            </a:r>
            <a:r>
              <a:rPr lang="zh-CN" altLang="en-US" dirty="0"/>
              <a:t> </a:t>
            </a:r>
            <a:r>
              <a:rPr lang="en-US" altLang="zh-CN" dirty="0" err="1"/>
              <a:t>Yuanlao’s</a:t>
            </a:r>
            <a:r>
              <a:rPr lang="zh-CN" altLang="en-US" dirty="0"/>
              <a:t> </a:t>
            </a:r>
            <a:r>
              <a:rPr lang="en-US" altLang="zh-CN" dirty="0"/>
              <a:t>memoir,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without</a:t>
            </a:r>
            <a:r>
              <a:rPr lang="zh-CN" altLang="en-US" dirty="0"/>
              <a:t> </a:t>
            </a:r>
            <a:r>
              <a:rPr lang="en-US" altLang="zh-CN" dirty="0"/>
              <a:t>precise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Kaifeng</a:t>
            </a:r>
            <a:r>
              <a:rPr lang="zh-CN" altLang="en-US" dirty="0"/>
              <a:t> </a:t>
            </a:r>
            <a:r>
              <a:rPr lang="en-US" altLang="zh-CN" dirty="0"/>
              <a:t>life?</a:t>
            </a:r>
          </a:p>
          <a:p>
            <a:pPr lvl="1"/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implicit</a:t>
            </a:r>
            <a:r>
              <a:rPr lang="zh-CN" altLang="en-US" dirty="0"/>
              <a:t> </a:t>
            </a:r>
            <a:r>
              <a:rPr lang="en-US" altLang="zh-CN" dirty="0"/>
              <a:t>critique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regime?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0A6D6-DBCC-2303-F9AF-AF21B48A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08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97CFF-6523-A96A-067C-38814FFB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Tsao</a:t>
            </a:r>
            <a:r>
              <a:rPr lang="zh-CN" altLang="en-US" dirty="0"/>
              <a:t> </a:t>
            </a:r>
            <a:r>
              <a:rPr lang="en-US" altLang="zh-CN" dirty="0" err="1"/>
              <a:t>Hsingyuan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“Unraveling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Mystery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Handscroll</a:t>
            </a:r>
            <a:r>
              <a:rPr lang="zh-CN" altLang="en-US" dirty="0"/>
              <a:t> </a:t>
            </a:r>
            <a:r>
              <a:rPr lang="en-US" altLang="zh-CN" dirty="0"/>
              <a:t>‘Qingming</a:t>
            </a:r>
            <a:r>
              <a:rPr lang="zh-CN" altLang="en-US" dirty="0"/>
              <a:t> </a:t>
            </a:r>
            <a:r>
              <a:rPr lang="en-US" altLang="zh-CN" dirty="0" err="1"/>
              <a:t>shanghe</a:t>
            </a:r>
            <a:r>
              <a:rPr lang="zh-CN" altLang="en-US" dirty="0"/>
              <a:t> </a:t>
            </a:r>
            <a:r>
              <a:rPr lang="en-US" altLang="zh-CN" dirty="0" err="1"/>
              <a:t>tu</a:t>
            </a:r>
            <a:r>
              <a:rPr lang="en-US" altLang="zh-CN" dirty="0"/>
              <a:t>’”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B408-6A5B-D2B3-AADD-95B225E6B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5403321" cy="3777622"/>
          </a:xfrm>
        </p:spPr>
        <p:txBody>
          <a:bodyPr/>
          <a:lstStyle/>
          <a:p>
            <a:r>
              <a:rPr lang="en-US" altLang="zh-CN" dirty="0"/>
              <a:t>Argument:</a:t>
            </a:r>
          </a:p>
          <a:p>
            <a:pPr lvl="1"/>
            <a:r>
              <a:rPr lang="en-US" altLang="zh-CN" dirty="0"/>
              <a:t>City</a:t>
            </a:r>
            <a:r>
              <a:rPr lang="zh-CN" altLang="en-US" dirty="0"/>
              <a:t> </a:t>
            </a:r>
            <a:r>
              <a:rPr lang="en-US" altLang="zh-CN" dirty="0"/>
              <a:t>depicted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Kaifeng</a:t>
            </a:r>
          </a:p>
          <a:p>
            <a:pPr lvl="1"/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year:</a:t>
            </a:r>
            <a:r>
              <a:rPr lang="zh-CN" altLang="en-US" dirty="0"/>
              <a:t> </a:t>
            </a:r>
            <a:r>
              <a:rPr lang="en-US" altLang="zh-CN" dirty="0"/>
              <a:t>Around</a:t>
            </a:r>
            <a:r>
              <a:rPr lang="zh-CN" altLang="en-US" dirty="0"/>
              <a:t> </a:t>
            </a:r>
            <a:r>
              <a:rPr lang="en-US" altLang="zh-CN" dirty="0"/>
              <a:t>Qingming</a:t>
            </a:r>
            <a:r>
              <a:rPr lang="zh-CN" altLang="en-US" dirty="0"/>
              <a:t> </a:t>
            </a:r>
            <a:r>
              <a:rPr lang="en-US" altLang="zh-CN" dirty="0"/>
              <a:t>festival,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concerned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holiday</a:t>
            </a:r>
            <a:r>
              <a:rPr lang="zh-CN" altLang="en-US" dirty="0"/>
              <a:t> </a:t>
            </a:r>
            <a:r>
              <a:rPr lang="en-US" altLang="zh-CN" dirty="0"/>
              <a:t>traditions</a:t>
            </a:r>
          </a:p>
          <a:p>
            <a:pPr lvl="1"/>
            <a:r>
              <a:rPr lang="en-US" altLang="zh-CN" dirty="0"/>
              <a:t>Instead,</a:t>
            </a:r>
            <a:r>
              <a:rPr lang="zh-CN" altLang="en-US" dirty="0"/>
              <a:t> </a:t>
            </a:r>
            <a:r>
              <a:rPr lang="en-US" altLang="zh-CN" dirty="0"/>
              <a:t>theme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spring</a:t>
            </a:r>
            <a:r>
              <a:rPr lang="zh-CN" altLang="en-US" dirty="0"/>
              <a:t> </a:t>
            </a:r>
            <a:r>
              <a:rPr lang="en-US" altLang="zh-CN" dirty="0"/>
              <a:t>re-opening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river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trade</a:t>
            </a:r>
          </a:p>
          <a:p>
            <a:r>
              <a:rPr lang="en-US" altLang="zh-CN" dirty="0"/>
              <a:t>Significance: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contemporary</a:t>
            </a:r>
            <a:r>
              <a:rPr lang="zh-CN" altLang="en-US" dirty="0"/>
              <a:t> </a:t>
            </a:r>
            <a:r>
              <a:rPr lang="en-US" altLang="zh-CN" dirty="0"/>
              <a:t>audiences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forgotten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later</a:t>
            </a:r>
            <a:r>
              <a:rPr lang="zh-CN" altLang="en-US" dirty="0"/>
              <a:t> </a:t>
            </a:r>
            <a:r>
              <a:rPr lang="en-US" altLang="zh-CN" dirty="0"/>
              <a:t>times.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80962-C7C7-8CDB-4963-909DA650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 descr="A book cover with writing on it&#10;&#10;AI-generated content may be incorrect.">
            <a:extLst>
              <a:ext uri="{FF2B5EF4-FFF2-40B4-BE49-F238E27FC236}">
                <a16:creationId xmlns:a16="http://schemas.microsoft.com/office/drawing/2014/main" id="{30E98150-FBC2-C68E-AD46-7BEE2F375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345" y="2133600"/>
            <a:ext cx="2726267" cy="408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9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CC633-0405-2B89-8BD8-EBF74832E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35D4-5C60-AA96-31CF-4125C7C93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</a:t>
            </a:r>
            <a:r>
              <a:rPr lang="zh-CN" altLang="en-US" dirty="0"/>
              <a:t> </a:t>
            </a:r>
            <a:r>
              <a:rPr lang="en-US" altLang="zh-CN" dirty="0"/>
              <a:t>Evidence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EAEA2-B6CF-3101-2271-D5D33A8EA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029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city</a:t>
            </a:r>
            <a:r>
              <a:rPr lang="zh-CN" altLang="en-US" dirty="0"/>
              <a:t> </a:t>
            </a:r>
            <a:r>
              <a:rPr lang="en-US" altLang="zh-CN" dirty="0"/>
              <a:t>represented</a:t>
            </a:r>
            <a:r>
              <a:rPr lang="zh-CN" altLang="en-US" dirty="0"/>
              <a:t> </a:t>
            </a:r>
            <a:r>
              <a:rPr lang="en-US" altLang="zh-CN" i="1" dirty="0"/>
              <a:t>is</a:t>
            </a:r>
            <a:r>
              <a:rPr lang="zh-CN" altLang="en-US" i="1" dirty="0"/>
              <a:t> </a:t>
            </a:r>
            <a:r>
              <a:rPr lang="en-US" altLang="zh-CN" dirty="0"/>
              <a:t>Kaifeng</a:t>
            </a:r>
          </a:p>
          <a:p>
            <a:pPr lvl="1"/>
            <a:r>
              <a:rPr lang="en-US" altLang="zh-CN" dirty="0"/>
              <a:t>Primary</a:t>
            </a:r>
            <a:r>
              <a:rPr lang="zh-CN" altLang="en-US" dirty="0"/>
              <a:t> </a:t>
            </a:r>
            <a:r>
              <a:rPr lang="en-US" altLang="zh-CN" dirty="0"/>
              <a:t>wine</a:t>
            </a:r>
            <a:r>
              <a:rPr lang="zh-CN" altLang="en-US" dirty="0"/>
              <a:t> </a:t>
            </a:r>
            <a:r>
              <a:rPr lang="en-US" altLang="zh-CN" dirty="0"/>
              <a:t>shop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secondary</a:t>
            </a:r>
            <a:r>
              <a:rPr lang="zh-CN" altLang="en-US" dirty="0"/>
              <a:t> </a:t>
            </a:r>
            <a:r>
              <a:rPr lang="en-US" altLang="zh-CN" dirty="0"/>
              <a:t>wine</a:t>
            </a:r>
            <a:r>
              <a:rPr lang="zh-CN" altLang="en-US" dirty="0"/>
              <a:t> </a:t>
            </a:r>
            <a:r>
              <a:rPr lang="en-US" altLang="zh-CN" dirty="0"/>
              <a:t>shops: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large</a:t>
            </a:r>
            <a:r>
              <a:rPr lang="zh-CN" altLang="en-US" dirty="0"/>
              <a:t> </a:t>
            </a:r>
            <a:r>
              <a:rPr lang="en-US" altLang="zh-CN" dirty="0"/>
              <a:t>city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thriving</a:t>
            </a:r>
            <a:r>
              <a:rPr lang="zh-CN" altLang="en-US" dirty="0"/>
              <a:t> </a:t>
            </a:r>
            <a:r>
              <a:rPr lang="en-US" altLang="zh-CN" dirty="0"/>
              <a:t>alcohol</a:t>
            </a:r>
            <a:r>
              <a:rPr lang="zh-CN" altLang="en-US" dirty="0"/>
              <a:t> </a:t>
            </a:r>
            <a:r>
              <a:rPr lang="en-US" altLang="zh-CN" dirty="0"/>
              <a:t>market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small,</a:t>
            </a:r>
            <a:r>
              <a:rPr lang="zh-CN" altLang="en-US" dirty="0"/>
              <a:t> </a:t>
            </a:r>
            <a:r>
              <a:rPr lang="en-US" altLang="zh-CN" dirty="0"/>
              <a:t>easily</a:t>
            </a:r>
            <a:r>
              <a:rPr lang="zh-CN" altLang="en-US" dirty="0"/>
              <a:t> </a:t>
            </a:r>
            <a:r>
              <a:rPr lang="en-US" altLang="zh-CN" dirty="0"/>
              <a:t>overlooked</a:t>
            </a:r>
            <a:r>
              <a:rPr lang="zh-CN" altLang="en-US" dirty="0"/>
              <a:t> </a:t>
            </a:r>
            <a:r>
              <a:rPr lang="en-US" altLang="zh-CN" dirty="0"/>
              <a:t>detail: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en-US" altLang="zh-CN" dirty="0" err="1"/>
              <a:t>Meilu</a:t>
            </a:r>
            <a:r>
              <a:rPr lang="en-US" altLang="zh-CN" dirty="0"/>
              <a:t>”</a:t>
            </a:r>
            <a:r>
              <a:rPr lang="zh-CN" altLang="en-US" dirty="0"/>
              <a:t> </a:t>
            </a:r>
            <a:r>
              <a:rPr lang="en-US" altLang="zh-CN" dirty="0"/>
              <a:t>wine,</a:t>
            </a:r>
            <a:r>
              <a:rPr lang="zh-CN" altLang="en-US" dirty="0"/>
              <a:t> </a:t>
            </a:r>
            <a:r>
              <a:rPr lang="en-US" altLang="zh-CN" dirty="0"/>
              <a:t>known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been</a:t>
            </a:r>
            <a:r>
              <a:rPr lang="zh-CN" altLang="en-US" dirty="0"/>
              <a:t> </a:t>
            </a:r>
            <a:r>
              <a:rPr lang="en-US" altLang="zh-CN" dirty="0"/>
              <a:t>made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Kaifeng</a:t>
            </a:r>
          </a:p>
          <a:p>
            <a:r>
              <a:rPr lang="en-US" altLang="zh-CN" dirty="0"/>
              <a:t>Tsao’s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point: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year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annual</a:t>
            </a:r>
            <a:r>
              <a:rPr lang="zh-CN" altLang="en-US" dirty="0"/>
              <a:t> </a:t>
            </a:r>
            <a:r>
              <a:rPr lang="en-US" altLang="zh-CN" dirty="0"/>
              <a:t>event</a:t>
            </a:r>
          </a:p>
          <a:p>
            <a:pPr lvl="1"/>
            <a:r>
              <a:rPr lang="en-US" altLang="zh-CN" dirty="0"/>
              <a:t>Qingming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24</a:t>
            </a:r>
            <a:r>
              <a:rPr lang="zh-CN" altLang="en-US" dirty="0"/>
              <a:t> </a:t>
            </a:r>
            <a:r>
              <a:rPr lang="en-US" altLang="zh-CN" dirty="0"/>
              <a:t>“solar</a:t>
            </a:r>
            <a:r>
              <a:rPr lang="zh-CN" altLang="en-US" dirty="0"/>
              <a:t> </a:t>
            </a:r>
            <a:r>
              <a:rPr lang="en-US" altLang="zh-CN" dirty="0"/>
              <a:t>terms”</a:t>
            </a:r>
            <a:r>
              <a:rPr lang="zh-CN" altLang="en-US" dirty="0"/>
              <a:t> </a:t>
            </a:r>
            <a:r>
              <a:rPr lang="en-US" altLang="zh-CN" dirty="0"/>
              <a:t>(calendar</a:t>
            </a:r>
            <a:r>
              <a:rPr lang="zh-CN" altLang="en-US" dirty="0"/>
              <a:t> </a:t>
            </a:r>
            <a:r>
              <a:rPr lang="en-US" altLang="zh-CN" dirty="0"/>
              <a:t>segments),</a:t>
            </a:r>
            <a:r>
              <a:rPr lang="zh-CN" altLang="en-US" dirty="0"/>
              <a:t> </a:t>
            </a:r>
            <a:r>
              <a:rPr lang="en-US" altLang="zh-CN" dirty="0"/>
              <a:t>early</a:t>
            </a:r>
            <a:r>
              <a:rPr lang="zh-CN" altLang="en-US" dirty="0"/>
              <a:t> </a:t>
            </a:r>
            <a:r>
              <a:rPr lang="en-US" altLang="zh-CN" dirty="0"/>
              <a:t>spring</a:t>
            </a:r>
            <a:r>
              <a:rPr lang="zh-CN" altLang="en-US" dirty="0"/>
              <a:t> </a:t>
            </a:r>
            <a:r>
              <a:rPr lang="en-US" altLang="zh-CN" dirty="0"/>
              <a:t>(not</a:t>
            </a:r>
            <a:r>
              <a:rPr lang="zh-CN" altLang="en-US" dirty="0"/>
              <a:t>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holiday)</a:t>
            </a:r>
          </a:p>
          <a:p>
            <a:pPr lvl="1"/>
            <a:r>
              <a:rPr lang="en-US" altLang="zh-CN" dirty="0"/>
              <a:t>Thawing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ice,</a:t>
            </a:r>
            <a:r>
              <a:rPr lang="zh-CN" altLang="en-US" dirty="0"/>
              <a:t> </a:t>
            </a:r>
            <a:r>
              <a:rPr lang="en-US" altLang="zh-CN" dirty="0"/>
              <a:t>reopening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canals</a:t>
            </a:r>
          </a:p>
          <a:p>
            <a:pPr lvl="1"/>
            <a:r>
              <a:rPr lang="en-US" altLang="zh-CN" dirty="0"/>
              <a:t>Imagery</a:t>
            </a:r>
            <a:r>
              <a:rPr lang="zh-CN" altLang="en-US" dirty="0"/>
              <a:t> </a:t>
            </a:r>
            <a:r>
              <a:rPr lang="en-US" altLang="zh-CN" dirty="0"/>
              <a:t>focused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grain</a:t>
            </a:r>
            <a:r>
              <a:rPr lang="zh-CN" altLang="en-US" dirty="0"/>
              <a:t> </a:t>
            </a:r>
            <a:r>
              <a:rPr lang="en-US" altLang="zh-CN" dirty="0"/>
              <a:t>ships</a:t>
            </a:r>
            <a:r>
              <a:rPr lang="zh-CN" altLang="en-US" dirty="0"/>
              <a:t> </a:t>
            </a:r>
            <a:r>
              <a:rPr lang="en-US" altLang="zh-CN" dirty="0"/>
              <a:t>returning,</a:t>
            </a:r>
            <a:r>
              <a:rPr lang="zh-CN" altLang="en-US" dirty="0"/>
              <a:t> </a:t>
            </a:r>
            <a:r>
              <a:rPr lang="en-US" altLang="zh-CN" dirty="0"/>
              <a:t>bustling</a:t>
            </a:r>
            <a:r>
              <a:rPr lang="zh-CN" altLang="en-US" dirty="0"/>
              <a:t> </a:t>
            </a:r>
            <a:r>
              <a:rPr lang="en-US" altLang="zh-CN" dirty="0"/>
              <a:t>wine</a:t>
            </a:r>
            <a:r>
              <a:rPr lang="zh-CN" altLang="en-US" dirty="0"/>
              <a:t> </a:t>
            </a:r>
            <a:r>
              <a:rPr lang="en-US" altLang="zh-CN" dirty="0"/>
              <a:t>shops,</a:t>
            </a:r>
            <a:r>
              <a:rPr lang="zh-CN" altLang="en-US" dirty="0"/>
              <a:t> </a:t>
            </a:r>
            <a:r>
              <a:rPr lang="en-US" altLang="zh-CN" dirty="0"/>
              <a:t>warmer</a:t>
            </a:r>
            <a:r>
              <a:rPr lang="zh-CN" altLang="en-US" dirty="0"/>
              <a:t> </a:t>
            </a:r>
            <a:r>
              <a:rPr lang="en-US" altLang="zh-CN" dirty="0"/>
              <a:t>weather</a:t>
            </a:r>
          </a:p>
          <a:p>
            <a:r>
              <a:rPr lang="en-US" altLang="zh-CN" dirty="0"/>
              <a:t>Before</a:t>
            </a:r>
            <a:r>
              <a:rPr lang="zh-CN" altLang="en-US" dirty="0"/>
              <a:t> </a:t>
            </a:r>
            <a:r>
              <a:rPr lang="en-US" altLang="zh-CN" dirty="0"/>
              <a:t>1079?</a:t>
            </a:r>
          </a:p>
          <a:p>
            <a:pPr lvl="1"/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1079,</a:t>
            </a:r>
            <a:r>
              <a:rPr lang="zh-CN" altLang="en-US" dirty="0"/>
              <a:t> </a:t>
            </a:r>
            <a:r>
              <a:rPr lang="en-US" altLang="zh-CN" dirty="0"/>
              <a:t>canals</a:t>
            </a:r>
            <a:r>
              <a:rPr lang="zh-CN" altLang="en-US" dirty="0"/>
              <a:t> </a:t>
            </a:r>
            <a:r>
              <a:rPr lang="en-US" altLang="zh-CN" dirty="0"/>
              <a:t>were</a:t>
            </a:r>
            <a:r>
              <a:rPr lang="zh-CN" altLang="en-US" dirty="0"/>
              <a:t> </a:t>
            </a:r>
            <a:r>
              <a:rPr lang="en-US" altLang="zh-CN" dirty="0"/>
              <a:t>re-routed,</a:t>
            </a:r>
            <a:r>
              <a:rPr lang="zh-CN" altLang="en-US" dirty="0"/>
              <a:t> </a:t>
            </a:r>
            <a:r>
              <a:rPr lang="en-US" altLang="zh-CN" dirty="0"/>
              <a:t>allowing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year-long</a:t>
            </a:r>
            <a:r>
              <a:rPr lang="zh-CN" altLang="en-US" dirty="0"/>
              <a:t> </a:t>
            </a:r>
            <a:r>
              <a:rPr lang="en-US" altLang="zh-CN" dirty="0"/>
              <a:t>transport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goods</a:t>
            </a:r>
          </a:p>
          <a:p>
            <a:pPr lvl="1"/>
            <a:r>
              <a:rPr lang="en-US" altLang="zh-CN" dirty="0"/>
              <a:t>Qingming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longer</a:t>
            </a:r>
            <a:r>
              <a:rPr lang="zh-CN" altLang="en-US" dirty="0"/>
              <a:t> </a:t>
            </a:r>
            <a:r>
              <a:rPr lang="en-US" altLang="zh-CN" dirty="0"/>
              <a:t>associated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re-opening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canals</a:t>
            </a:r>
          </a:p>
          <a:p>
            <a:pPr lvl="1"/>
            <a:r>
              <a:rPr lang="en-US" altLang="zh-CN" dirty="0"/>
              <a:t>Later</a:t>
            </a:r>
            <a:r>
              <a:rPr lang="zh-CN" altLang="en-US" dirty="0"/>
              <a:t> </a:t>
            </a:r>
            <a:r>
              <a:rPr lang="en-US" altLang="zh-CN" dirty="0"/>
              <a:t>artists,</a:t>
            </a:r>
            <a:r>
              <a:rPr lang="zh-CN" altLang="en-US" dirty="0"/>
              <a:t> </a:t>
            </a:r>
            <a:r>
              <a:rPr lang="en-US" altLang="zh-CN" dirty="0"/>
              <a:t>writers,</a:t>
            </a:r>
            <a:r>
              <a:rPr lang="zh-CN" altLang="en-US" dirty="0"/>
              <a:t> </a:t>
            </a:r>
            <a:r>
              <a:rPr lang="en-US" altLang="zh-CN" dirty="0"/>
              <a:t>viewers,</a:t>
            </a:r>
            <a:r>
              <a:rPr lang="zh-CN" altLang="en-US" dirty="0"/>
              <a:t> </a:t>
            </a:r>
            <a:r>
              <a:rPr lang="en-US" altLang="zh-CN" dirty="0"/>
              <a:t>etc.</a:t>
            </a:r>
            <a:r>
              <a:rPr lang="zh-CN" altLang="en-US" dirty="0"/>
              <a:t> </a:t>
            </a:r>
            <a:r>
              <a:rPr lang="en-US" altLang="zh-CN" dirty="0"/>
              <a:t>gradually</a:t>
            </a:r>
            <a:r>
              <a:rPr lang="zh-CN" altLang="en-US" dirty="0"/>
              <a:t> </a:t>
            </a:r>
            <a:r>
              <a:rPr lang="en-US" altLang="zh-CN" dirty="0"/>
              <a:t>forget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detail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155DF-5B9A-0D94-7002-54574B49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14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5D81-AF99-9DB1-7CBB-1E547986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</a:t>
            </a:r>
            <a:r>
              <a:rPr lang="zh-CN" altLang="en-US" dirty="0"/>
              <a:t> </a:t>
            </a:r>
            <a:r>
              <a:rPr lang="en-US" altLang="zh-CN" dirty="0"/>
              <a:t>Evidence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434FA-B4DC-94B8-5C78-AFA5155C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 descr="A close-up of a painting&#10;&#10;AI-generated content may be incorrect.">
            <a:extLst>
              <a:ext uri="{FF2B5EF4-FFF2-40B4-BE49-F238E27FC236}">
                <a16:creationId xmlns:a16="http://schemas.microsoft.com/office/drawing/2014/main" id="{621FAF1C-42CD-BDE3-12C2-3A5D2490C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809" y="1390499"/>
            <a:ext cx="6861713" cy="546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3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74733-6289-DD17-FE0F-B9B72E6F7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Significance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265D9-EEFA-ED37-9CA5-5261D606A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865090"/>
            <a:ext cx="8915400" cy="4368800"/>
          </a:xfrm>
        </p:spPr>
        <p:txBody>
          <a:bodyPr>
            <a:normAutofit/>
          </a:bodyPr>
          <a:lstStyle/>
          <a:p>
            <a:r>
              <a:rPr lang="en-US" altLang="zh-CN" dirty="0"/>
              <a:t>Changing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Kaifeng</a:t>
            </a:r>
          </a:p>
          <a:p>
            <a:pPr lvl="1"/>
            <a:r>
              <a:rPr lang="en-US" altLang="zh-CN" dirty="0"/>
              <a:t>Pre</a:t>
            </a:r>
            <a:r>
              <a:rPr lang="zh-CN" altLang="en-US" dirty="0"/>
              <a:t> </a:t>
            </a:r>
            <a:r>
              <a:rPr lang="en-US" altLang="zh-CN" dirty="0"/>
              <a:t>1079,</a:t>
            </a:r>
            <a:r>
              <a:rPr lang="zh-CN" altLang="en-US" dirty="0"/>
              <a:t> </a:t>
            </a:r>
            <a:r>
              <a:rPr lang="en-US" altLang="zh-CN" dirty="0"/>
              <a:t>Qingming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reopening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river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familiar</a:t>
            </a:r>
            <a:r>
              <a:rPr lang="zh-CN" altLang="en-US" dirty="0"/>
              <a:t> </a:t>
            </a:r>
            <a:r>
              <a:rPr lang="en-US" altLang="zh-CN" dirty="0"/>
              <a:t>“Kaifeng</a:t>
            </a:r>
            <a:r>
              <a:rPr lang="zh-CN" altLang="en-US" dirty="0"/>
              <a:t> </a:t>
            </a:r>
            <a:r>
              <a:rPr lang="en-US" altLang="zh-CN" dirty="0"/>
              <a:t>culture”</a:t>
            </a:r>
          </a:p>
          <a:p>
            <a:pPr lvl="1"/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mentioned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Meng</a:t>
            </a:r>
            <a:r>
              <a:rPr lang="zh-CN" altLang="en-US" dirty="0"/>
              <a:t> </a:t>
            </a:r>
            <a:r>
              <a:rPr lang="en-US" altLang="zh-CN" dirty="0" err="1"/>
              <a:t>Yuanlao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lived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late</a:t>
            </a:r>
            <a:r>
              <a:rPr lang="zh-CN" altLang="en-US" dirty="0"/>
              <a:t> </a:t>
            </a:r>
            <a:r>
              <a:rPr lang="en-US" altLang="zh-CN" dirty="0"/>
              <a:t>11</a:t>
            </a:r>
            <a:r>
              <a:rPr lang="en-US" altLang="zh-CN" baseline="30000" dirty="0"/>
              <a:t>th</a:t>
            </a:r>
            <a:r>
              <a:rPr lang="en-US" altLang="zh-CN" dirty="0"/>
              <a:t>/early</a:t>
            </a:r>
            <a:r>
              <a:rPr lang="zh-CN" altLang="en-US" dirty="0"/>
              <a:t> </a:t>
            </a:r>
            <a:r>
              <a:rPr lang="en-US" altLang="zh-CN" dirty="0"/>
              <a:t>12</a:t>
            </a:r>
            <a:r>
              <a:rPr lang="en-US" altLang="zh-CN" baseline="30000" dirty="0"/>
              <a:t>th</a:t>
            </a:r>
            <a:r>
              <a:rPr lang="zh-CN" altLang="en-US" dirty="0"/>
              <a:t> </a:t>
            </a:r>
            <a:r>
              <a:rPr lang="en-US" altLang="zh-CN" dirty="0"/>
              <a:t>cent.</a:t>
            </a:r>
            <a:r>
              <a:rPr lang="zh-CN" altLang="en-US" dirty="0"/>
              <a:t> </a:t>
            </a:r>
            <a:r>
              <a:rPr lang="en-US" altLang="zh-CN" dirty="0"/>
              <a:t>Kaifeng</a:t>
            </a:r>
          </a:p>
          <a:p>
            <a:pPr lvl="1"/>
            <a:r>
              <a:rPr lang="en-US" altLang="zh-CN" i="1" dirty="0" err="1"/>
              <a:t>Dongjing</a:t>
            </a:r>
            <a:r>
              <a:rPr lang="zh-CN" altLang="en-US" i="1" dirty="0"/>
              <a:t> </a:t>
            </a:r>
            <a:r>
              <a:rPr lang="en-US" altLang="zh-CN" i="1" dirty="0" err="1"/>
              <a:t>menghua</a:t>
            </a:r>
            <a:r>
              <a:rPr lang="zh-CN" altLang="en-US" i="1" dirty="0"/>
              <a:t> </a:t>
            </a:r>
            <a:r>
              <a:rPr lang="en-US" altLang="zh-CN" i="1" dirty="0" err="1"/>
              <a:t>lu</a:t>
            </a:r>
            <a:r>
              <a:rPr lang="zh-CN" altLang="en-US" i="1" dirty="0"/>
              <a:t> </a:t>
            </a:r>
            <a:r>
              <a:rPr lang="en-US" altLang="zh-CN" dirty="0"/>
              <a:t>defines</a:t>
            </a:r>
            <a:r>
              <a:rPr lang="zh-CN" altLang="en-US" dirty="0"/>
              <a:t> </a:t>
            </a:r>
            <a:r>
              <a:rPr lang="en-US" altLang="zh-CN" dirty="0"/>
              <a:t>“N.</a:t>
            </a:r>
            <a:r>
              <a:rPr lang="zh-CN" altLang="en-US" dirty="0"/>
              <a:t> </a:t>
            </a:r>
            <a:r>
              <a:rPr lang="en-US" altLang="zh-CN" dirty="0"/>
              <a:t>Song</a:t>
            </a:r>
            <a:r>
              <a:rPr lang="zh-CN" altLang="en-US" dirty="0"/>
              <a:t> </a:t>
            </a:r>
            <a:r>
              <a:rPr lang="en-US" altLang="zh-CN" dirty="0"/>
              <a:t>Kaifeng”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later</a:t>
            </a:r>
            <a:r>
              <a:rPr lang="zh-CN" altLang="en-US" dirty="0"/>
              <a:t> </a:t>
            </a:r>
            <a:r>
              <a:rPr lang="en-US" altLang="zh-CN" dirty="0"/>
              <a:t>audiences</a:t>
            </a:r>
          </a:p>
          <a:p>
            <a:r>
              <a:rPr lang="en-US" altLang="zh-CN" dirty="0"/>
              <a:t>Legacy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Qingming</a:t>
            </a:r>
            <a:r>
              <a:rPr lang="zh-CN" altLang="en-US" dirty="0"/>
              <a:t> </a:t>
            </a:r>
            <a:r>
              <a:rPr lang="en-US" altLang="zh-CN" dirty="0"/>
              <a:t>scroll</a:t>
            </a:r>
          </a:p>
          <a:p>
            <a:pPr lvl="1"/>
            <a:r>
              <a:rPr lang="en-US" altLang="zh-CN" dirty="0"/>
              <a:t>Later</a:t>
            </a:r>
            <a:r>
              <a:rPr lang="zh-CN" altLang="en-US" dirty="0"/>
              <a:t> </a:t>
            </a:r>
            <a:r>
              <a:rPr lang="en-US" altLang="zh-CN" dirty="0"/>
              <a:t>versions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Qingming</a:t>
            </a:r>
            <a:r>
              <a:rPr lang="zh-CN" altLang="en-US" dirty="0"/>
              <a:t> </a:t>
            </a:r>
            <a:r>
              <a:rPr lang="en-US" altLang="zh-CN" dirty="0"/>
              <a:t>scroll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detail</a:t>
            </a:r>
            <a:r>
              <a:rPr lang="zh-CN" altLang="en-US" dirty="0"/>
              <a:t> </a:t>
            </a:r>
            <a:r>
              <a:rPr lang="en-US" altLang="zh-CN" dirty="0"/>
              <a:t>directly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Meng’s</a:t>
            </a:r>
            <a:r>
              <a:rPr lang="zh-CN" altLang="en-US" dirty="0"/>
              <a:t> </a:t>
            </a:r>
            <a:r>
              <a:rPr lang="en-US" altLang="zh-CN" dirty="0"/>
              <a:t>memoirs</a:t>
            </a:r>
          </a:p>
          <a:p>
            <a:pPr lvl="2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absence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local</a:t>
            </a:r>
            <a:r>
              <a:rPr lang="zh-CN" altLang="en-US" dirty="0"/>
              <a:t> </a:t>
            </a:r>
            <a:r>
              <a:rPr lang="en-US" altLang="zh-CN" dirty="0"/>
              <a:t>landmarks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becomes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conspicuous!</a:t>
            </a:r>
          </a:p>
          <a:p>
            <a:pPr lvl="1"/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lose</a:t>
            </a:r>
            <a:r>
              <a:rPr lang="zh-CN" altLang="en-US" dirty="0"/>
              <a:t> </a:t>
            </a:r>
            <a:r>
              <a:rPr lang="en-US" altLang="zh-CN" dirty="0"/>
              <a:t>sight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context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painting</a:t>
            </a:r>
          </a:p>
          <a:p>
            <a:pPr lvl="2"/>
            <a:r>
              <a:rPr lang="en-US" altLang="zh-CN" dirty="0"/>
              <a:t>Perhaps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pre-1079</a:t>
            </a:r>
            <a:r>
              <a:rPr lang="zh-CN" altLang="en-US" dirty="0"/>
              <a:t> </a:t>
            </a:r>
            <a:r>
              <a:rPr lang="en-US" altLang="zh-CN" dirty="0"/>
              <a:t>audience,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detail</a:t>
            </a:r>
            <a:r>
              <a:rPr lang="zh-CN" altLang="en-US" dirty="0"/>
              <a:t> </a:t>
            </a:r>
            <a:r>
              <a:rPr lang="en-US" altLang="zh-CN" dirty="0"/>
              <a:t>alone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enough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signify</a:t>
            </a:r>
            <a:r>
              <a:rPr lang="zh-CN" altLang="en-US" dirty="0"/>
              <a:t> </a:t>
            </a:r>
            <a:r>
              <a:rPr lang="en-US" altLang="zh-CN" dirty="0"/>
              <a:t>Kaifeng</a:t>
            </a:r>
          </a:p>
          <a:p>
            <a:pPr lvl="1"/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later</a:t>
            </a:r>
            <a:r>
              <a:rPr lang="zh-CN" altLang="en-US" dirty="0"/>
              <a:t> </a:t>
            </a:r>
            <a:r>
              <a:rPr lang="en-US" altLang="zh-CN" dirty="0"/>
              <a:t>versions</a:t>
            </a:r>
            <a:r>
              <a:rPr lang="zh-CN" altLang="en-US" dirty="0"/>
              <a:t> </a:t>
            </a:r>
            <a:r>
              <a:rPr lang="en-US" altLang="zh-CN" dirty="0"/>
              <a:t>instead</a:t>
            </a:r>
            <a:r>
              <a:rPr lang="zh-CN" altLang="en-US" dirty="0"/>
              <a:t> </a:t>
            </a:r>
            <a:r>
              <a:rPr lang="en-US" altLang="zh-CN" dirty="0"/>
              <a:t>apply</a:t>
            </a:r>
            <a:r>
              <a:rPr lang="zh-CN" altLang="en-US" dirty="0"/>
              <a:t> </a:t>
            </a:r>
            <a:r>
              <a:rPr lang="en-US" altLang="zh-CN" dirty="0"/>
              <a:t>‘Qingming’</a:t>
            </a:r>
            <a:r>
              <a:rPr lang="zh-CN" altLang="en-US" dirty="0"/>
              <a:t> </a:t>
            </a:r>
            <a:r>
              <a:rPr lang="en-US" altLang="zh-CN" dirty="0"/>
              <a:t>theme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Ming/Qing</a:t>
            </a:r>
            <a:r>
              <a:rPr lang="zh-CN" altLang="en-US" dirty="0"/>
              <a:t> </a:t>
            </a:r>
            <a:r>
              <a:rPr lang="en-US" altLang="zh-CN" dirty="0"/>
              <a:t>cities</a:t>
            </a:r>
          </a:p>
          <a:p>
            <a:pPr lvl="2"/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connects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Zhang</a:t>
            </a:r>
            <a:r>
              <a:rPr lang="zh-CN" altLang="en-US" dirty="0"/>
              <a:t> </a:t>
            </a:r>
            <a:r>
              <a:rPr lang="en-US" altLang="zh-CN" dirty="0" err="1"/>
              <a:t>Zeduan’s</a:t>
            </a:r>
            <a:r>
              <a:rPr lang="zh-CN" altLang="en-US" dirty="0"/>
              <a:t> </a:t>
            </a:r>
            <a:r>
              <a:rPr lang="en-US" altLang="zh-CN" dirty="0"/>
              <a:t>original?</a:t>
            </a:r>
            <a:r>
              <a:rPr lang="zh-CN" altLang="en-US" dirty="0"/>
              <a:t> </a:t>
            </a:r>
            <a:endParaRPr lang="en-US" altLang="zh-CN" dirty="0"/>
          </a:p>
          <a:p>
            <a:pPr lvl="2"/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reopening</a:t>
            </a:r>
            <a:r>
              <a:rPr lang="zh-CN" altLang="en-US" dirty="0"/>
              <a:t> </a:t>
            </a:r>
            <a:r>
              <a:rPr lang="en-US" altLang="zh-CN" dirty="0"/>
              <a:t>river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Kaifeng</a:t>
            </a:r>
            <a:r>
              <a:rPr lang="zh-CN" altLang="en-US" dirty="0"/>
              <a:t> </a:t>
            </a:r>
            <a:r>
              <a:rPr lang="en-US" altLang="zh-CN" dirty="0"/>
              <a:t>imagery,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general</a:t>
            </a:r>
            <a:r>
              <a:rPr lang="zh-CN" altLang="en-US" dirty="0"/>
              <a:t> </a:t>
            </a:r>
            <a:r>
              <a:rPr lang="en-US" altLang="zh-CN" dirty="0"/>
              <a:t>theme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prosperous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peaceful</a:t>
            </a:r>
            <a:r>
              <a:rPr lang="zh-CN" altLang="en-US" dirty="0"/>
              <a:t> </a:t>
            </a:r>
            <a:r>
              <a:rPr lang="en-US" altLang="zh-CN" dirty="0"/>
              <a:t>city</a:t>
            </a:r>
            <a:r>
              <a:rPr lang="zh-CN" alt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992DA-6C1E-53D1-21BC-082B57A8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75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18794-E801-B69F-FAC2-7720454D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perspective...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83269-8936-CBA4-004D-31B0FF228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029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Yu</a:t>
            </a:r>
            <a:r>
              <a:rPr lang="zh-CN" altLang="en-US" dirty="0"/>
              <a:t> </a:t>
            </a:r>
            <a:r>
              <a:rPr lang="en-US" altLang="zh-CN" dirty="0"/>
              <a:t>Hui,</a:t>
            </a:r>
            <a:r>
              <a:rPr lang="zh-CN" altLang="en-US" dirty="0"/>
              <a:t> </a:t>
            </a:r>
            <a:r>
              <a:rPr lang="en-US" altLang="zh-CN" dirty="0"/>
              <a:t>National</a:t>
            </a:r>
            <a:r>
              <a:rPr lang="zh-CN" altLang="en-US" dirty="0"/>
              <a:t> </a:t>
            </a:r>
            <a:r>
              <a:rPr lang="en-US" altLang="zh-CN" dirty="0"/>
              <a:t>Palace</a:t>
            </a:r>
            <a:r>
              <a:rPr lang="zh-CN" altLang="en-US" dirty="0"/>
              <a:t> </a:t>
            </a:r>
            <a:r>
              <a:rPr lang="en-US" altLang="zh-CN" dirty="0"/>
              <a:t>Museum</a:t>
            </a:r>
            <a:r>
              <a:rPr lang="zh-CN" altLang="en-US" dirty="0"/>
              <a:t> </a:t>
            </a:r>
            <a:r>
              <a:rPr lang="en-US" altLang="zh-CN" dirty="0"/>
              <a:t>Beijing:</a:t>
            </a:r>
          </a:p>
          <a:p>
            <a:r>
              <a:rPr lang="en-US" altLang="zh-CN" dirty="0"/>
              <a:t>City</a:t>
            </a:r>
            <a:r>
              <a:rPr lang="zh-CN" altLang="en-US" dirty="0"/>
              <a:t> </a:t>
            </a:r>
            <a:r>
              <a:rPr lang="en-US" altLang="zh-CN" dirty="0"/>
              <a:t>depicted</a:t>
            </a:r>
            <a:r>
              <a:rPr lang="zh-CN" altLang="en-US" dirty="0"/>
              <a:t> </a:t>
            </a:r>
            <a:r>
              <a:rPr lang="en-US" altLang="zh-CN" i="1" dirty="0"/>
              <a:t>is</a:t>
            </a:r>
            <a:r>
              <a:rPr lang="zh-CN" altLang="en-US" i="1" dirty="0"/>
              <a:t> </a:t>
            </a:r>
            <a:r>
              <a:rPr lang="en-US" altLang="zh-CN" dirty="0"/>
              <a:t>Kaifeng,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scroll</a:t>
            </a:r>
            <a:r>
              <a:rPr lang="zh-CN" altLang="en-US" dirty="0"/>
              <a:t> </a:t>
            </a:r>
            <a:r>
              <a:rPr lang="en-US" altLang="zh-CN" i="1" dirty="0"/>
              <a:t>criticizes</a:t>
            </a:r>
            <a:r>
              <a:rPr lang="zh-CN" altLang="en-US" i="1" dirty="0"/>
              <a:t> </a:t>
            </a:r>
            <a:r>
              <a:rPr lang="en-US" altLang="zh-CN" dirty="0"/>
              <a:t>N.</a:t>
            </a:r>
            <a:r>
              <a:rPr lang="zh-CN" altLang="en-US" dirty="0"/>
              <a:t> </a:t>
            </a:r>
            <a:r>
              <a:rPr lang="en-US" altLang="zh-CN" dirty="0"/>
              <a:t>Song</a:t>
            </a:r>
            <a:r>
              <a:rPr lang="zh-CN" altLang="en-US" dirty="0"/>
              <a:t> </a:t>
            </a:r>
            <a:r>
              <a:rPr lang="en-US" altLang="zh-CN" dirty="0"/>
              <a:t>Kaifeng,</a:t>
            </a:r>
            <a:r>
              <a:rPr lang="zh-CN" altLang="en-US" dirty="0"/>
              <a:t> </a:t>
            </a:r>
            <a:r>
              <a:rPr lang="en-US" altLang="zh-CN" dirty="0"/>
              <a:t>rather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praises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Reinterpretation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details:</a:t>
            </a:r>
          </a:p>
          <a:p>
            <a:r>
              <a:rPr lang="en-US" altLang="zh-CN" dirty="0"/>
              <a:t>Lack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fortifications,</a:t>
            </a:r>
            <a:r>
              <a:rPr lang="zh-CN" altLang="en-US" dirty="0"/>
              <a:t> </a:t>
            </a:r>
            <a:r>
              <a:rPr lang="en-US" altLang="zh-CN" dirty="0"/>
              <a:t>guards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city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unprepared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Jin</a:t>
            </a:r>
            <a:r>
              <a:rPr lang="zh-CN" altLang="en-US" dirty="0"/>
              <a:t> </a:t>
            </a:r>
            <a:r>
              <a:rPr lang="en-US" altLang="zh-CN" dirty="0"/>
              <a:t>invasion</a:t>
            </a:r>
          </a:p>
          <a:p>
            <a:r>
              <a:rPr lang="en-US" altLang="zh-CN" dirty="0"/>
              <a:t>Wine</a:t>
            </a:r>
            <a:r>
              <a:rPr lang="zh-CN" altLang="en-US" dirty="0"/>
              <a:t> </a:t>
            </a:r>
            <a:r>
              <a:rPr lang="en-US" altLang="zh-CN" dirty="0"/>
              <a:t>shops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celebration</a:t>
            </a:r>
          </a:p>
          <a:p>
            <a:pPr lvl="1"/>
            <a:r>
              <a:rPr lang="en-US" altLang="zh-CN" dirty="0"/>
              <a:t>Boisterous,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decadent,</a:t>
            </a:r>
            <a:r>
              <a:rPr lang="zh-CN" altLang="en-US" dirty="0"/>
              <a:t> </a:t>
            </a:r>
            <a:r>
              <a:rPr lang="en-US" altLang="zh-CN" dirty="0"/>
              <a:t>distracted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medicine</a:t>
            </a:r>
            <a:r>
              <a:rPr lang="zh-CN" altLang="en-US" dirty="0"/>
              <a:t> </a:t>
            </a:r>
            <a:r>
              <a:rPr lang="en-US" altLang="zh-CN" dirty="0"/>
              <a:t>stall</a:t>
            </a:r>
            <a:r>
              <a:rPr lang="zh-CN" altLang="en-US" dirty="0"/>
              <a:t> </a:t>
            </a:r>
            <a:r>
              <a:rPr lang="en-US" altLang="zh-CN" dirty="0"/>
              <a:t>marketing</a:t>
            </a:r>
            <a:r>
              <a:rPr lang="zh-CN" altLang="en-US" dirty="0"/>
              <a:t> </a:t>
            </a:r>
            <a:r>
              <a:rPr lang="en-US" altLang="zh-CN" dirty="0"/>
              <a:t>“hangover</a:t>
            </a:r>
            <a:r>
              <a:rPr lang="zh-CN" altLang="en-US" dirty="0"/>
              <a:t> </a:t>
            </a:r>
            <a:r>
              <a:rPr lang="en-US" altLang="zh-CN" dirty="0"/>
              <a:t>cures”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scroll’s</a:t>
            </a:r>
            <a:r>
              <a:rPr lang="zh-CN" altLang="en-US" dirty="0"/>
              <a:t> </a:t>
            </a:r>
            <a:r>
              <a:rPr lang="en-US" altLang="zh-CN" dirty="0"/>
              <a:t>end...</a:t>
            </a:r>
          </a:p>
          <a:p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ships</a:t>
            </a:r>
            <a:r>
              <a:rPr lang="zh-CN" altLang="en-US" dirty="0"/>
              <a:t> </a:t>
            </a:r>
            <a:r>
              <a:rPr lang="en-US" altLang="zh-CN" dirty="0"/>
              <a:t>carrying</a:t>
            </a:r>
            <a:r>
              <a:rPr lang="zh-CN" altLang="en-US" dirty="0"/>
              <a:t> </a:t>
            </a:r>
            <a:r>
              <a:rPr lang="en-US" altLang="zh-CN" dirty="0"/>
              <a:t>goods</a:t>
            </a:r>
          </a:p>
          <a:p>
            <a:pPr lvl="1"/>
            <a:r>
              <a:rPr lang="en-US" altLang="zh-CN" dirty="0"/>
              <a:t>Prosperous,</a:t>
            </a:r>
            <a:r>
              <a:rPr lang="zh-CN" altLang="en-US" dirty="0"/>
              <a:t> </a:t>
            </a:r>
            <a:r>
              <a:rPr lang="en-US" altLang="zh-CN" dirty="0"/>
              <a:t>perhaps,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Yu</a:t>
            </a:r>
            <a:r>
              <a:rPr lang="zh-CN" altLang="en-US" dirty="0"/>
              <a:t> </a:t>
            </a:r>
            <a:r>
              <a:rPr lang="en-US" altLang="zh-CN" dirty="0"/>
              <a:t>Hui</a:t>
            </a:r>
            <a:r>
              <a:rPr lang="zh-CN" altLang="en-US" dirty="0"/>
              <a:t> </a:t>
            </a:r>
            <a:r>
              <a:rPr lang="en-US" altLang="zh-CN" dirty="0"/>
              <a:t>notes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private</a:t>
            </a:r>
            <a:r>
              <a:rPr lang="zh-CN" altLang="en-US" dirty="0"/>
              <a:t> </a:t>
            </a:r>
            <a:r>
              <a:rPr lang="en-US" altLang="zh-CN" dirty="0"/>
              <a:t>ships,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government-owned</a:t>
            </a:r>
          </a:p>
          <a:p>
            <a:pPr lvl="1"/>
            <a:r>
              <a:rPr lang="en-US" altLang="zh-CN" dirty="0"/>
              <a:t>Emperor</a:t>
            </a:r>
            <a:r>
              <a:rPr lang="zh-CN" altLang="en-US" dirty="0"/>
              <a:t> </a:t>
            </a:r>
            <a:r>
              <a:rPr lang="en-US" altLang="zh-CN" dirty="0"/>
              <a:t>Huizong</a:t>
            </a:r>
            <a:r>
              <a:rPr lang="zh-CN" altLang="en-US" dirty="0"/>
              <a:t> </a:t>
            </a:r>
            <a:r>
              <a:rPr lang="en-US" altLang="zh-CN" dirty="0"/>
              <a:t>criticized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monopolizing</a:t>
            </a:r>
            <a:r>
              <a:rPr lang="zh-CN" altLang="en-US" dirty="0"/>
              <a:t> </a:t>
            </a:r>
            <a:r>
              <a:rPr lang="en-US" altLang="zh-CN" dirty="0"/>
              <a:t>imperial</a:t>
            </a:r>
            <a:r>
              <a:rPr lang="zh-CN" altLang="en-US" dirty="0"/>
              <a:t> </a:t>
            </a:r>
            <a:r>
              <a:rPr lang="en-US" altLang="zh-CN" dirty="0"/>
              <a:t>fleet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his</a:t>
            </a:r>
            <a:r>
              <a:rPr lang="zh-CN" altLang="en-US" dirty="0"/>
              <a:t> </a:t>
            </a:r>
            <a:r>
              <a:rPr lang="en-US" altLang="zh-CN" dirty="0"/>
              <a:t>own</a:t>
            </a:r>
            <a:r>
              <a:rPr lang="zh-CN" altLang="en-US" dirty="0"/>
              <a:t> </a:t>
            </a:r>
            <a:r>
              <a:rPr lang="en-US" altLang="zh-CN" dirty="0"/>
              <a:t>hobbies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leisure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65B27-4A0B-D243-E6F9-86F2573D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3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B2497-B192-AEF7-9454-743A464BA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what?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49885-C877-0941-AA24-1CC9264F1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right?</a:t>
            </a:r>
            <a:r>
              <a:rPr lang="zh-CN" altLang="en-US" dirty="0"/>
              <a:t> </a:t>
            </a:r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wrong?</a:t>
            </a:r>
          </a:p>
          <a:p>
            <a:pPr lvl="1"/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persuasive</a:t>
            </a:r>
            <a:r>
              <a:rPr lang="zh-CN" altLang="en-US" dirty="0"/>
              <a:t> </a:t>
            </a:r>
            <a:r>
              <a:rPr lang="en-US" altLang="zh-CN" dirty="0"/>
              <a:t>points.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‘definitive’</a:t>
            </a:r>
            <a:r>
              <a:rPr lang="zh-CN" altLang="en-US" dirty="0"/>
              <a:t> </a:t>
            </a:r>
            <a:r>
              <a:rPr lang="en-US" altLang="zh-CN" dirty="0"/>
              <a:t>evidence?</a:t>
            </a:r>
          </a:p>
          <a:p>
            <a:pPr lvl="1"/>
            <a:r>
              <a:rPr lang="en-US" altLang="zh-CN" dirty="0"/>
              <a:t>Debate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likely</a:t>
            </a:r>
            <a:r>
              <a:rPr lang="zh-CN" altLang="en-US" dirty="0"/>
              <a:t> </a:t>
            </a:r>
            <a:r>
              <a:rPr lang="en-US" altLang="zh-CN" dirty="0"/>
              <a:t>continue,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arguments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made</a:t>
            </a:r>
          </a:p>
          <a:p>
            <a:pPr lvl="1"/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concerned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Zhang</a:t>
            </a:r>
            <a:r>
              <a:rPr lang="zh-CN" altLang="en-US" dirty="0"/>
              <a:t> </a:t>
            </a:r>
            <a:r>
              <a:rPr lang="en-US" altLang="zh-CN" dirty="0" err="1"/>
              <a:t>Zeduan’s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must</a:t>
            </a:r>
            <a:r>
              <a:rPr lang="zh-CN" altLang="en-US" dirty="0"/>
              <a:t> </a:t>
            </a:r>
            <a:r>
              <a:rPr lang="en-US" altLang="zh-CN" dirty="0"/>
              <a:t>focus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painting</a:t>
            </a:r>
            <a:r>
              <a:rPr lang="zh-CN" altLang="en-US" dirty="0"/>
              <a:t> </a:t>
            </a:r>
            <a:r>
              <a:rPr lang="en-US" altLang="zh-CN" dirty="0"/>
              <a:t>itself,</a:t>
            </a:r>
            <a:r>
              <a:rPr lang="zh-CN" altLang="en-US" dirty="0"/>
              <a:t> </a:t>
            </a:r>
            <a:r>
              <a:rPr lang="en-US" altLang="zh-CN" dirty="0"/>
              <a:t>Song-era</a:t>
            </a:r>
            <a:r>
              <a:rPr lang="zh-CN" altLang="en-US" dirty="0"/>
              <a:t> </a:t>
            </a:r>
            <a:r>
              <a:rPr lang="en-US" altLang="zh-CN" dirty="0"/>
              <a:t>context,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overwhelming</a:t>
            </a:r>
            <a:r>
              <a:rPr lang="zh-CN" altLang="en-US" dirty="0"/>
              <a:t> </a:t>
            </a:r>
            <a:r>
              <a:rPr lang="en-US" altLang="zh-CN" dirty="0"/>
              <a:t>legacy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later</a:t>
            </a:r>
            <a:r>
              <a:rPr lang="zh-CN" altLang="en-US" dirty="0"/>
              <a:t> </a:t>
            </a:r>
            <a:r>
              <a:rPr lang="en-US" altLang="zh-CN" dirty="0"/>
              <a:t>versions,</a:t>
            </a:r>
            <a:r>
              <a:rPr lang="zh-CN" altLang="en-US" dirty="0"/>
              <a:t> </a:t>
            </a:r>
            <a:r>
              <a:rPr lang="en-US" altLang="zh-CN" dirty="0"/>
              <a:t>popular</a:t>
            </a:r>
            <a:r>
              <a:rPr lang="zh-CN" altLang="en-US" dirty="0"/>
              <a:t> </a:t>
            </a:r>
            <a:r>
              <a:rPr lang="en-US" altLang="zh-CN" dirty="0"/>
              <a:t>understanding.</a:t>
            </a:r>
          </a:p>
          <a:p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later</a:t>
            </a:r>
            <a:r>
              <a:rPr lang="zh-CN" altLang="en-US" dirty="0"/>
              <a:t> </a:t>
            </a:r>
            <a:r>
              <a:rPr lang="en-US" altLang="zh-CN" dirty="0"/>
              <a:t>versions</a:t>
            </a:r>
            <a:r>
              <a:rPr lang="zh-CN" altLang="en-US" dirty="0"/>
              <a:t> </a:t>
            </a:r>
            <a:r>
              <a:rPr lang="en-US" altLang="zh-CN" dirty="0"/>
              <a:t>don’t</a:t>
            </a:r>
            <a:r>
              <a:rPr lang="zh-CN" altLang="en-US" dirty="0"/>
              <a:t> </a:t>
            </a:r>
            <a:r>
              <a:rPr lang="en-US" altLang="zh-CN" dirty="0"/>
              <a:t>matter?</a:t>
            </a:r>
          </a:p>
          <a:p>
            <a:pPr lvl="1"/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do!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Whatever</a:t>
            </a:r>
            <a:r>
              <a:rPr lang="zh-CN" altLang="en-US" dirty="0"/>
              <a:t> </a:t>
            </a:r>
            <a:r>
              <a:rPr lang="en-US" altLang="zh-CN" dirty="0"/>
              <a:t>unresolved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Zhang</a:t>
            </a:r>
            <a:r>
              <a:rPr lang="zh-CN" altLang="en-US" dirty="0"/>
              <a:t> </a:t>
            </a:r>
            <a:r>
              <a:rPr lang="en-US" altLang="zh-CN" dirty="0" err="1"/>
              <a:t>Zeduan’s</a:t>
            </a:r>
            <a:r>
              <a:rPr lang="zh-CN" altLang="en-US" dirty="0"/>
              <a:t> </a:t>
            </a:r>
            <a:r>
              <a:rPr lang="en-US" altLang="zh-CN" dirty="0"/>
              <a:t>painting...</a:t>
            </a:r>
          </a:p>
          <a:p>
            <a:pPr lvl="1"/>
            <a:r>
              <a:rPr lang="en-US" altLang="zh-CN" dirty="0"/>
              <a:t>...the</a:t>
            </a:r>
            <a:r>
              <a:rPr lang="zh-CN" altLang="en-US" dirty="0"/>
              <a:t> </a:t>
            </a:r>
            <a:r>
              <a:rPr lang="en-US" altLang="zh-CN" dirty="0"/>
              <a:t>‘idea’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Qingming</a:t>
            </a:r>
            <a:r>
              <a:rPr lang="zh-CN" altLang="en-US" dirty="0"/>
              <a:t> </a:t>
            </a:r>
            <a:r>
              <a:rPr lang="en-US" altLang="zh-CN" dirty="0"/>
              <a:t>scroll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established</a:t>
            </a:r>
            <a:r>
              <a:rPr lang="zh-CN" altLang="en-US" dirty="0"/>
              <a:t> </a:t>
            </a:r>
            <a:r>
              <a:rPr lang="en-US" altLang="zh-CN" dirty="0"/>
              <a:t>via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later</a:t>
            </a:r>
            <a:r>
              <a:rPr lang="zh-CN" altLang="en-US" dirty="0"/>
              <a:t> </a:t>
            </a:r>
            <a:r>
              <a:rPr lang="en-US" altLang="zh-CN" dirty="0"/>
              <a:t>works.</a:t>
            </a:r>
          </a:p>
          <a:p>
            <a:pPr lvl="1"/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draw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Meng’s</a:t>
            </a:r>
            <a:r>
              <a:rPr lang="zh-CN" altLang="en-US" dirty="0"/>
              <a:t> </a:t>
            </a:r>
            <a:r>
              <a:rPr lang="en-US" altLang="zh-CN" dirty="0"/>
              <a:t>memoir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Kaifeng,</a:t>
            </a:r>
            <a:r>
              <a:rPr lang="zh-CN" altLang="en-US" dirty="0"/>
              <a:t> </a:t>
            </a:r>
            <a:r>
              <a:rPr lang="en-US" altLang="zh-CN" dirty="0"/>
              <a:t>later</a:t>
            </a:r>
            <a:r>
              <a:rPr lang="zh-CN" altLang="en-US" dirty="0"/>
              <a:t> </a:t>
            </a:r>
            <a:r>
              <a:rPr lang="en-US" altLang="zh-CN" dirty="0"/>
              <a:t>artists’</a:t>
            </a:r>
            <a:r>
              <a:rPr lang="zh-CN" altLang="en-US" dirty="0"/>
              <a:t> </a:t>
            </a:r>
            <a:r>
              <a:rPr lang="en-US" altLang="zh-CN" dirty="0"/>
              <a:t>own</a:t>
            </a:r>
            <a:r>
              <a:rPr lang="zh-CN" altLang="en-US" dirty="0"/>
              <a:t> </a:t>
            </a:r>
            <a:r>
              <a:rPr lang="en-US" altLang="zh-CN" dirty="0"/>
              <a:t>ideas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experiences,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cities,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periods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history,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more...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CCB26-9879-AB3E-D69D-63A6495A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27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70B60-3DBE-F2F1-7E9F-A779C0F9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Quiz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B83AA-DE9C-1961-4BA1-2F55BEAD3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Tsao’s</a:t>
            </a:r>
            <a:r>
              <a:rPr lang="zh-CN" altLang="en-US" dirty="0"/>
              <a:t> </a:t>
            </a:r>
            <a:r>
              <a:rPr lang="en-US" altLang="zh-CN" dirty="0"/>
              <a:t>argument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based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idea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event</a:t>
            </a:r>
            <a:r>
              <a:rPr lang="zh-CN" altLang="en-US" dirty="0"/>
              <a:t> </a:t>
            </a:r>
            <a:r>
              <a:rPr lang="en-US" altLang="zh-CN" dirty="0"/>
              <a:t>immediately</a:t>
            </a:r>
            <a:r>
              <a:rPr lang="zh-CN" altLang="en-US" dirty="0"/>
              <a:t> </a:t>
            </a:r>
            <a:r>
              <a:rPr lang="en-US" altLang="zh-CN" dirty="0"/>
              <a:t>recognizable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generation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forgotten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next.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think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image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event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 </a:t>
            </a:r>
            <a:r>
              <a:rPr lang="en-US" altLang="zh-CN" dirty="0"/>
              <a:t>cultural</a:t>
            </a:r>
            <a:r>
              <a:rPr lang="zh-CN" altLang="en-US" dirty="0"/>
              <a:t> </a:t>
            </a:r>
            <a:r>
              <a:rPr lang="en-US" altLang="zh-CN" dirty="0"/>
              <a:t>phenomenon,</a:t>
            </a:r>
            <a:r>
              <a:rPr lang="zh-CN" altLang="en-US" dirty="0"/>
              <a:t> </a:t>
            </a:r>
            <a:r>
              <a:rPr lang="en-US" altLang="zh-CN" dirty="0"/>
              <a:t>etc.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instantly</a:t>
            </a:r>
            <a:r>
              <a:rPr lang="zh-CN" altLang="en-US" dirty="0"/>
              <a:t> </a:t>
            </a:r>
            <a:r>
              <a:rPr lang="en-US" altLang="zh-CN" dirty="0"/>
              <a:t>familiar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parents’</a:t>
            </a:r>
            <a:r>
              <a:rPr lang="zh-CN" altLang="en-US" dirty="0"/>
              <a:t> </a:t>
            </a:r>
            <a:r>
              <a:rPr lang="en-US" altLang="zh-CN" dirty="0"/>
              <a:t>generation,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don’t</a:t>
            </a:r>
            <a:r>
              <a:rPr lang="zh-CN" altLang="en-US" dirty="0"/>
              <a:t> </a:t>
            </a:r>
            <a:r>
              <a:rPr lang="en-US" altLang="zh-CN" dirty="0"/>
              <a:t>understand</a:t>
            </a:r>
            <a:r>
              <a:rPr lang="zh-CN" altLang="en-US" dirty="0"/>
              <a:t> </a:t>
            </a:r>
            <a:r>
              <a:rPr lang="en-US" altLang="zh-CN" dirty="0"/>
              <a:t>without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explanation?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image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something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own</a:t>
            </a:r>
            <a:r>
              <a:rPr lang="zh-CN" altLang="en-US" dirty="0"/>
              <a:t> </a:t>
            </a:r>
            <a:r>
              <a:rPr lang="en-US" altLang="zh-CN" dirty="0"/>
              <a:t>lifetime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might</a:t>
            </a:r>
            <a:r>
              <a:rPr lang="zh-CN" altLang="en-US" dirty="0"/>
              <a:t> </a:t>
            </a:r>
            <a:r>
              <a:rPr lang="en-US" altLang="zh-CN" dirty="0"/>
              <a:t>soon</a:t>
            </a:r>
            <a:r>
              <a:rPr lang="zh-CN" altLang="en-US" dirty="0"/>
              <a:t> </a:t>
            </a:r>
            <a:r>
              <a:rPr lang="en-US" altLang="zh-CN" dirty="0"/>
              <a:t>become</a:t>
            </a:r>
            <a:r>
              <a:rPr lang="zh-CN" altLang="en-US" dirty="0"/>
              <a:t> </a:t>
            </a:r>
            <a:r>
              <a:rPr lang="en-US" altLang="zh-CN" dirty="0"/>
              <a:t>similarly</a:t>
            </a:r>
            <a:r>
              <a:rPr lang="zh-CN" altLang="en-US" dirty="0"/>
              <a:t> </a:t>
            </a:r>
            <a:r>
              <a:rPr lang="en-US" altLang="zh-CN" dirty="0"/>
              <a:t>confusing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later</a:t>
            </a:r>
            <a:r>
              <a:rPr lang="zh-CN" altLang="en-US" dirty="0"/>
              <a:t> </a:t>
            </a:r>
            <a:r>
              <a:rPr lang="en-US" altLang="zh-CN" dirty="0"/>
              <a:t>generations?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additional</a:t>
            </a:r>
            <a:r>
              <a:rPr lang="zh-CN" altLang="en-US" dirty="0"/>
              <a:t> </a:t>
            </a:r>
            <a:r>
              <a:rPr lang="en-US" altLang="zh-CN" dirty="0"/>
              <a:t>documentation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necessary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sure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image</a:t>
            </a:r>
            <a:r>
              <a:rPr lang="zh-CN" altLang="en-US" dirty="0"/>
              <a:t> </a:t>
            </a:r>
            <a:r>
              <a:rPr lang="en-US" altLang="zh-CN" dirty="0"/>
              <a:t>remained</a:t>
            </a:r>
            <a:r>
              <a:rPr lang="zh-CN" altLang="en-US" dirty="0"/>
              <a:t> </a:t>
            </a:r>
            <a:r>
              <a:rPr lang="en-US" altLang="zh-CN" dirty="0"/>
              <a:t>intelligible?</a:t>
            </a:r>
            <a:r>
              <a:rPr lang="zh-CN" altLang="en-US" dirty="0"/>
              <a:t> </a:t>
            </a:r>
            <a:r>
              <a:rPr lang="en-US" altLang="zh-CN" dirty="0"/>
              <a:t>Write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explanation,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reference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relates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Tsao’s</a:t>
            </a:r>
            <a:r>
              <a:rPr lang="zh-CN" altLang="en-US" dirty="0"/>
              <a:t> </a:t>
            </a:r>
            <a:r>
              <a:rPr lang="en-US" altLang="zh-CN" dirty="0"/>
              <a:t>argument.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Quiz: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questions,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r>
              <a:rPr lang="zh-CN" altLang="en-US" dirty="0"/>
              <a:t> </a:t>
            </a:r>
            <a:r>
              <a:rPr lang="en-US" altLang="zh-CN" dirty="0"/>
              <a:t>minutes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complete.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dirty="0"/>
              <a:t>perspectives</a:t>
            </a:r>
            <a:r>
              <a:rPr lang="zh-CN" altLang="en-US" dirty="0"/>
              <a:t> </a:t>
            </a:r>
            <a:r>
              <a:rPr lang="en-US" altLang="zh-CN" dirty="0"/>
              <a:t>mentioned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today’s</a:t>
            </a:r>
            <a:r>
              <a:rPr lang="zh-CN" altLang="en-US" dirty="0"/>
              <a:t> </a:t>
            </a:r>
            <a:r>
              <a:rPr lang="en-US" altLang="zh-CN" dirty="0"/>
              <a:t>lecture,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attention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Tsao’s</a:t>
            </a:r>
            <a:r>
              <a:rPr lang="zh-CN" altLang="en-US" dirty="0"/>
              <a:t> </a:t>
            </a:r>
            <a:r>
              <a:rPr lang="en-US" altLang="zh-CN" dirty="0"/>
              <a:t>article.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asked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decide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Tsao,</a:t>
            </a:r>
            <a:r>
              <a:rPr lang="zh-CN" altLang="en-US" dirty="0"/>
              <a:t> </a:t>
            </a:r>
            <a:r>
              <a:rPr lang="en-US" altLang="zh-CN" dirty="0"/>
              <a:t>Hansen,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Yu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right,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try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understand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rationale</a:t>
            </a:r>
            <a:r>
              <a:rPr lang="zh-CN" altLang="en-US" dirty="0"/>
              <a:t> </a:t>
            </a:r>
            <a:r>
              <a:rPr lang="en-US" altLang="zh-CN" dirty="0"/>
              <a:t>behind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perspectives.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EBCE6-4758-515F-36C5-8D5CCB0D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85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F3E9-8CAE-B364-B7B0-ABBF8D461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Additional</a:t>
            </a:r>
            <a:r>
              <a:rPr lang="zh-TW" altLang="en-US" dirty="0"/>
              <a:t> </a:t>
            </a:r>
            <a:r>
              <a:rPr lang="en-US" altLang="zh-TW" dirty="0"/>
              <a:t>reading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70904-4AB2-C009-3C7C-5DBFD3312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Hansen,</a:t>
            </a:r>
            <a:r>
              <a:rPr lang="zh-CN" altLang="en-US" dirty="0"/>
              <a:t> </a:t>
            </a:r>
            <a:r>
              <a:rPr lang="en-US" altLang="zh-CN" dirty="0"/>
              <a:t>Valerie.</a:t>
            </a:r>
            <a:r>
              <a:rPr lang="zh-CN" altLang="en-US" dirty="0"/>
              <a:t> </a:t>
            </a:r>
            <a:r>
              <a:rPr lang="en-US" altLang="zh-CN" dirty="0"/>
              <a:t>“The</a:t>
            </a:r>
            <a:r>
              <a:rPr lang="zh-CN" altLang="en-US" dirty="0"/>
              <a:t> </a:t>
            </a:r>
            <a:r>
              <a:rPr lang="en-US" altLang="zh-CN" dirty="0"/>
              <a:t>Mystery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Qingming</a:t>
            </a:r>
            <a:r>
              <a:rPr lang="zh-CN" altLang="en-US" dirty="0"/>
              <a:t> </a:t>
            </a:r>
            <a:r>
              <a:rPr lang="en-US" altLang="zh-CN" dirty="0"/>
              <a:t>Scroll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Subject: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Against</a:t>
            </a:r>
            <a:r>
              <a:rPr lang="zh-CN" altLang="en-US" dirty="0"/>
              <a:t> </a:t>
            </a:r>
            <a:r>
              <a:rPr lang="en-US" altLang="zh-CN" dirty="0"/>
              <a:t>Kaifeng.”</a:t>
            </a:r>
            <a:r>
              <a:rPr lang="zh-CN" altLang="en-US" dirty="0"/>
              <a:t> </a:t>
            </a:r>
            <a:r>
              <a:rPr lang="en-US" altLang="zh-CN" i="1" dirty="0"/>
              <a:t>Journal</a:t>
            </a:r>
            <a:r>
              <a:rPr lang="zh-CN" altLang="en-US" i="1" dirty="0"/>
              <a:t> </a:t>
            </a:r>
            <a:r>
              <a:rPr lang="en-US" altLang="zh-CN" i="1" dirty="0"/>
              <a:t>of</a:t>
            </a:r>
            <a:r>
              <a:rPr lang="zh-CN" altLang="en-US" i="1" dirty="0"/>
              <a:t> </a:t>
            </a:r>
            <a:r>
              <a:rPr lang="en-US" altLang="zh-CN" i="1" dirty="0"/>
              <a:t>Song-Yuan</a:t>
            </a:r>
            <a:r>
              <a:rPr lang="zh-CN" altLang="en-US" i="1" dirty="0"/>
              <a:t> </a:t>
            </a:r>
            <a:r>
              <a:rPr lang="en-US" altLang="zh-CN" i="1" dirty="0"/>
              <a:t>Studies</a:t>
            </a:r>
            <a:r>
              <a:rPr lang="zh-CN" altLang="en-US" i="1" dirty="0"/>
              <a:t> </a:t>
            </a:r>
            <a:r>
              <a:rPr lang="en-US" altLang="zh-CN" dirty="0"/>
              <a:t>26</a:t>
            </a:r>
            <a:r>
              <a:rPr lang="zh-CN" altLang="en-US" dirty="0"/>
              <a:t> </a:t>
            </a:r>
            <a:r>
              <a:rPr lang="en-US" altLang="zh-CN" dirty="0"/>
              <a:t>(1996):</a:t>
            </a:r>
            <a:r>
              <a:rPr lang="zh-CN" altLang="en-US" dirty="0"/>
              <a:t> </a:t>
            </a:r>
            <a:r>
              <a:rPr lang="en-US" altLang="zh-CN" dirty="0"/>
              <a:t>183–200.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dirty="0"/>
              <a:t>West, Stephen H. “The Interpretation of a Dream: The Sources, Evaluation, and</a:t>
            </a:r>
            <a:r>
              <a:rPr lang="zh-CN" altLang="en-US" dirty="0"/>
              <a:t> </a:t>
            </a:r>
            <a:r>
              <a:rPr lang="en-US" dirty="0"/>
              <a:t>Influence of the </a:t>
            </a:r>
            <a:r>
              <a:rPr lang="en-US" i="1" dirty="0" err="1"/>
              <a:t>Dongjing</a:t>
            </a:r>
            <a:r>
              <a:rPr lang="en-US" i="1" dirty="0"/>
              <a:t> meng Hua </a:t>
            </a:r>
            <a:r>
              <a:rPr lang="en-US" i="1" dirty="0" err="1"/>
              <a:t>lu</a:t>
            </a:r>
            <a:r>
              <a:rPr lang="en-US" dirty="0"/>
              <a:t>.” </a:t>
            </a:r>
            <a:r>
              <a:rPr lang="en-US" dirty="0" err="1"/>
              <a:t>T’oung</a:t>
            </a:r>
            <a:r>
              <a:rPr lang="en-US" dirty="0"/>
              <a:t> Pao 71.1/3 (1985): 63–108. </a:t>
            </a:r>
            <a:endParaRPr lang="en-US" altLang="zh-CN" dirty="0"/>
          </a:p>
          <a:p>
            <a:r>
              <a:rPr lang="en-US" dirty="0"/>
              <a:t>Yu Hui</a:t>
            </a:r>
            <a:r>
              <a:rPr lang="zh-CN" altLang="en-US" dirty="0"/>
              <a:t> 余晖</a:t>
            </a:r>
            <a:r>
              <a:rPr lang="en-US" altLang="zh-CN" dirty="0"/>
              <a:t>.</a:t>
            </a:r>
            <a:r>
              <a:rPr lang="en-US" i="1" dirty="0"/>
              <a:t> </a:t>
            </a:r>
            <a:r>
              <a:rPr lang="en-US" i="1" dirty="0" err="1"/>
              <a:t>Yinyou</a:t>
            </a:r>
            <a:r>
              <a:rPr lang="en-US" i="1" dirty="0"/>
              <a:t> </a:t>
            </a:r>
            <a:r>
              <a:rPr lang="en-US" i="1" dirty="0" err="1"/>
              <a:t>yu</a:t>
            </a:r>
            <a:r>
              <a:rPr lang="en-US" i="1" dirty="0"/>
              <a:t> </a:t>
            </a:r>
            <a:r>
              <a:rPr lang="en-US" i="1" dirty="0" err="1"/>
              <a:t>qujian</a:t>
            </a:r>
            <a:r>
              <a:rPr lang="en-US" i="1" dirty="0"/>
              <a:t>: ‘Qingming </a:t>
            </a:r>
            <a:r>
              <a:rPr lang="en-US" i="1" dirty="0" err="1"/>
              <a:t>shanghe</a:t>
            </a:r>
            <a:r>
              <a:rPr lang="en-US" i="1" dirty="0"/>
              <a:t> </a:t>
            </a:r>
            <a:r>
              <a:rPr lang="en-US" i="1" dirty="0" err="1"/>
              <a:t>tu</a:t>
            </a:r>
            <a:r>
              <a:rPr lang="en-US" i="1" dirty="0"/>
              <a:t>’ </a:t>
            </a:r>
            <a:r>
              <a:rPr lang="en-US" i="1" dirty="0" err="1"/>
              <a:t>jiemalu</a:t>
            </a:r>
            <a:r>
              <a:rPr lang="zh-CN" altLang="en-US" i="1" dirty="0"/>
              <a:t> </a:t>
            </a:r>
            <a:r>
              <a:rPr lang="zh-CN" altLang="en-US" dirty="0"/>
              <a:t>隐优与曲谏：</a:t>
            </a:r>
            <a:r>
              <a:rPr lang="en-US" altLang="zh-CN" dirty="0"/>
              <a:t>《</a:t>
            </a:r>
            <a:r>
              <a:rPr lang="zh-CN" altLang="en-US" dirty="0"/>
              <a:t>清明上河图</a:t>
            </a:r>
            <a:r>
              <a:rPr lang="en-US" altLang="zh-CN" dirty="0"/>
              <a:t>》</a:t>
            </a:r>
            <a:r>
              <a:rPr lang="zh-CN" altLang="en-US" dirty="0"/>
              <a:t>解码录</a:t>
            </a:r>
            <a:r>
              <a:rPr lang="en-US" dirty="0"/>
              <a:t> (Hidden Concern and Subtle Critique: Decoding the Going Upriver on the Qingming Festival Scroll</a:t>
            </a:r>
            <a:r>
              <a:rPr lang="en-US" altLang="zh-CN" dirty="0"/>
              <a:t>).</a:t>
            </a:r>
            <a:r>
              <a:rPr lang="zh-CN" altLang="en-US" dirty="0"/>
              <a:t> </a:t>
            </a:r>
            <a:r>
              <a:rPr lang="en-US" altLang="zh-CN" dirty="0"/>
              <a:t>Peking</a:t>
            </a:r>
            <a:r>
              <a:rPr lang="zh-CN" altLang="en-US" dirty="0"/>
              <a:t> </a:t>
            </a:r>
            <a:r>
              <a:rPr lang="en-US" altLang="zh-CN" dirty="0"/>
              <a:t>University</a:t>
            </a:r>
            <a:r>
              <a:rPr lang="zh-CN" altLang="en-US" dirty="0"/>
              <a:t> </a:t>
            </a:r>
            <a:r>
              <a:rPr lang="en-US" altLang="zh-CN" dirty="0"/>
              <a:t>Press,</a:t>
            </a:r>
            <a:r>
              <a:rPr lang="zh-CN" altLang="en-US" dirty="0"/>
              <a:t> </a:t>
            </a:r>
            <a:r>
              <a:rPr lang="en-US" altLang="zh-CN" dirty="0"/>
              <a:t>2015.</a:t>
            </a:r>
          </a:p>
          <a:p>
            <a:pPr lvl="1"/>
            <a:r>
              <a:rPr lang="en-US" altLang="zh-CN" dirty="0"/>
              <a:t>Yu</a:t>
            </a:r>
            <a:r>
              <a:rPr lang="zh-CN" altLang="en-US" dirty="0"/>
              <a:t> </a:t>
            </a:r>
            <a:r>
              <a:rPr lang="en-US" altLang="zh-CN" dirty="0"/>
              <a:t>Hui’s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Qingming</a:t>
            </a:r>
            <a:r>
              <a:rPr lang="zh-CN" altLang="en-US" dirty="0"/>
              <a:t> </a:t>
            </a:r>
            <a:r>
              <a:rPr lang="en-US" altLang="zh-CN" dirty="0"/>
              <a:t>scroll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available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Chinese.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summarized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English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McCausland,</a:t>
            </a:r>
            <a:r>
              <a:rPr lang="zh-CN" altLang="en-US" dirty="0"/>
              <a:t> </a:t>
            </a:r>
            <a:r>
              <a:rPr lang="en-US" altLang="zh-CN" i="1" dirty="0"/>
              <a:t>The</a:t>
            </a:r>
            <a:r>
              <a:rPr lang="zh-CN" altLang="en-US" i="1" dirty="0"/>
              <a:t> </a:t>
            </a:r>
            <a:r>
              <a:rPr lang="en-US" altLang="zh-CN" i="1" dirty="0"/>
              <a:t>Art</a:t>
            </a:r>
            <a:r>
              <a:rPr lang="zh-CN" altLang="en-US" i="1" dirty="0"/>
              <a:t> </a:t>
            </a:r>
            <a:r>
              <a:rPr lang="en-US" altLang="zh-CN" i="1" dirty="0"/>
              <a:t>of</a:t>
            </a:r>
            <a:r>
              <a:rPr lang="zh-CN" altLang="en-US" i="1" dirty="0"/>
              <a:t> </a:t>
            </a:r>
            <a:r>
              <a:rPr lang="en-US" altLang="zh-CN" i="1" dirty="0"/>
              <a:t>the</a:t>
            </a:r>
            <a:r>
              <a:rPr lang="zh-CN" altLang="en-US" i="1" dirty="0"/>
              <a:t> </a:t>
            </a:r>
            <a:r>
              <a:rPr lang="en-US" altLang="zh-CN" i="1" dirty="0"/>
              <a:t>Chinese</a:t>
            </a:r>
            <a:r>
              <a:rPr lang="zh-CN" altLang="en-US" i="1" dirty="0"/>
              <a:t> </a:t>
            </a:r>
            <a:r>
              <a:rPr lang="en-US" altLang="zh-CN" i="1" dirty="0"/>
              <a:t>Picture</a:t>
            </a:r>
            <a:r>
              <a:rPr lang="zh-CN" altLang="en-US" i="1" dirty="0"/>
              <a:t> </a:t>
            </a:r>
            <a:r>
              <a:rPr lang="en-US" altLang="zh-CN" i="1" dirty="0"/>
              <a:t>Scroll</a:t>
            </a:r>
            <a:r>
              <a:rPr lang="zh-CN" altLang="en-US" i="1" dirty="0"/>
              <a:t> </a:t>
            </a:r>
            <a:r>
              <a:rPr lang="en-US" altLang="zh-CN" dirty="0"/>
              <a:t>p.</a:t>
            </a:r>
            <a:r>
              <a:rPr lang="zh-CN" altLang="en-US" dirty="0"/>
              <a:t> </a:t>
            </a:r>
            <a:r>
              <a:rPr lang="en-US" altLang="zh-CN" dirty="0"/>
              <a:t>54-</a:t>
            </a:r>
            <a:r>
              <a:rPr lang="zh-CN" altLang="en-US" dirty="0"/>
              <a:t> </a:t>
            </a:r>
            <a:r>
              <a:rPr lang="en-US" altLang="zh-CN" dirty="0"/>
              <a:t>55.</a:t>
            </a:r>
            <a:endParaRPr lang="en-US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85666-9F6D-D882-B9A4-7EF0A498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FYI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51583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 Template EASIA 237" id="{72FCC593-2FB4-4249-BF7F-B1199F732D04}" vid="{1F0C49AC-D6B5-1C45-8B27-974BA720B9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1528</TotalTime>
  <Words>1699</Words>
  <Application>Microsoft Macintosh PowerPoint</Application>
  <PresentationFormat>Widescreen</PresentationFormat>
  <Paragraphs>146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Wingdings 3</vt:lpstr>
      <vt:lpstr>Candara</vt:lpstr>
      <vt:lpstr>Aptos</vt:lpstr>
      <vt:lpstr>Arial</vt:lpstr>
      <vt:lpstr>Wisp</vt:lpstr>
      <vt:lpstr>Questions about the painting: Location, date, and significance</vt:lpstr>
      <vt:lpstr>Today’s lecture</vt:lpstr>
      <vt:lpstr>Before we begin: “Unraveling the Mystery” and research articles in general</vt:lpstr>
      <vt:lpstr>Research articles, ‘thesis statements,’ arguments</vt:lpstr>
      <vt:lpstr>Song dynasty history</vt:lpstr>
      <vt:lpstr>PowerPoint Presentation</vt:lpstr>
      <vt:lpstr>Why does this matter?</vt:lpstr>
      <vt:lpstr>One perspective: Hansen &amp; ‘idealized city’</vt:lpstr>
      <vt:lpstr>Tsao Hsingyuan: “Unraveling the Mystery of the Handscroll ‘Qingming shanghe tu’”</vt:lpstr>
      <vt:lpstr>Review: Evidence &amp; Analysis</vt:lpstr>
      <vt:lpstr>Review: Evidence &amp; Analysis</vt:lpstr>
      <vt:lpstr>Significance</vt:lpstr>
      <vt:lpstr>One more perspective...</vt:lpstr>
      <vt:lpstr>So what?</vt:lpstr>
      <vt:lpstr>Assignment &amp; Quiz details</vt:lpstr>
      <vt:lpstr>Additional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Nicoll-Johnson</dc:creator>
  <cp:lastModifiedBy>Evan Nicoll-Johnson</cp:lastModifiedBy>
  <cp:revision>34</cp:revision>
  <dcterms:created xsi:type="dcterms:W3CDTF">2025-07-14T17:05:07Z</dcterms:created>
  <dcterms:modified xsi:type="dcterms:W3CDTF">2025-08-30T21:08:59Z</dcterms:modified>
</cp:coreProperties>
</file>