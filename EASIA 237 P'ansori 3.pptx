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autoCompressPictures="0">
  <p:sldMasterIdLst>
    <p:sldMasterId id="2147483648" r:id="rId1"/>
  </p:sldMasterIdLst>
  <p:notesMasterIdLst>
    <p:notesMasterId r:id="rId17"/>
  </p:notesMasterIdLst>
  <p:sldIdLst>
    <p:sldId id="256" r:id="rId2"/>
    <p:sldId id="257" r:id="rId3"/>
    <p:sldId id="259" r:id="rId4"/>
    <p:sldId id="260" r:id="rId5"/>
    <p:sldId id="261" r:id="rId6"/>
    <p:sldId id="262" r:id="rId7"/>
    <p:sldId id="266" r:id="rId8"/>
    <p:sldId id="263" r:id="rId9"/>
    <p:sldId id="267" r:id="rId10"/>
    <p:sldId id="264" r:id="rId11"/>
    <p:sldId id="268" r:id="rId12"/>
    <p:sldId id="269" r:id="rId13"/>
    <p:sldId id="265" r:id="rId14"/>
    <p:sldId id="270" r:id="rId15"/>
    <p:sldId id="258" r:id="rId16"/>
  </p:sldIdLst>
  <p:sldSz cx="12192000" cy="6858000"/>
  <p:notesSz cx="6858000" cy="9144000"/>
  <p:embeddedFontLst>
    <p:embeddedFont>
      <p:font typeface="Candara" panose="020E0502030303020204" pitchFamily="34" charset="0"/>
      <p:regular r:id="rId18"/>
      <p:bold r:id="rId19"/>
      <p:italic r:id="rId20"/>
      <p:boldItalic r:id="rId21"/>
    </p:embeddedFont>
    <p:embeddedFont>
      <p:font typeface="Wingdings 3" pitchFamily="2" charset="2"/>
      <p:regular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982"/>
    <p:restoredTop sz="94637"/>
  </p:normalViewPr>
  <p:slideViewPr>
    <p:cSldViewPr snapToGrid="0">
      <p:cViewPr varScale="1">
        <p:scale>
          <a:sx n="64" d="100"/>
          <a:sy n="64" d="100"/>
        </p:scale>
        <p:origin x="200" y="10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8092D-7F75-F344-9196-B63EC0A6AD85}" type="datetimeFigureOut">
              <a:rPr lang="en-CA" smtClean="0"/>
              <a:t>2025-07-31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49EF16-783C-1D41-9480-F474792927A2}" type="slidenum">
              <a:rPr lang="en-CA" smtClean="0"/>
              <a:t>‹#›</a:t>
            </a:fld>
            <a:endParaRPr lang="en-CA"/>
          </a:p>
        </p:txBody>
      </p:sp>
    </p:spTree>
    <p:extLst>
      <p:ext uri="{BB962C8B-B14F-4D97-AF65-F5344CB8AC3E}">
        <p14:creationId xmlns:p14="http://schemas.microsoft.com/office/powerpoint/2010/main" val="1764003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1C1774-F7F7-494F-993A-105AEFD08DCC}" type="datetime1">
              <a:rPr lang="en-US" smtClean="0"/>
              <a:t>7/31/25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DFEEA5-DDD8-4345-A8BE-9352A991F65A}" type="datetime1">
              <a:rPr lang="en-US" smtClean="0"/>
              <a:t>7/31/25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C8E628-A11A-DA45-9CC1-32A6495D58FB}" type="datetime1">
              <a:rPr lang="en-US" smtClean="0"/>
              <a:t>7/31/25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B297C3-F293-8A49-B75F-827EFF988220}" type="datetime1">
              <a:rPr lang="en-US" smtClean="0"/>
              <a:t>7/31/25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5A3824-9231-0B45-86E6-DFAC4372F375}" type="datetime1">
              <a:rPr lang="en-US" smtClean="0"/>
              <a:t>7/31/25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894147-B230-CC40-AB7B-33F9DE2CD951}" type="datetime1">
              <a:rPr lang="en-US" smtClean="0"/>
              <a:t>7/31/25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E3A88D-6E59-B141-8118-055B266FFB5B}" type="datetime1">
              <a:rPr lang="en-US" smtClean="0"/>
              <a:t>7/31/25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9B1764-FE95-014A-8F9D-8197623892C7}" type="datetime1">
              <a:rPr lang="en-US" smtClean="0"/>
              <a:t>7/31/25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4D6AD7-6881-374D-AEBE-10B6D892F375}" type="datetime1">
              <a:rPr lang="en-US" smtClean="0"/>
              <a:t>7/31/25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D25C88-D03B-4E4A-A593-2830BF36A0AD}" type="datetime1">
              <a:rPr lang="en-US" smtClean="0"/>
              <a:t>7/31/25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3AAEBB-A3D0-CA4E-B888-DA8CB6323983}" type="datetime1">
              <a:rPr lang="en-US" smtClean="0"/>
              <a:t>7/31/25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71E7589-32EB-DA40-B48A-58CC81064CAE}" type="datetime1">
              <a:rPr lang="en-US" smtClean="0"/>
              <a:t>7/31/25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D597125-3BA2-124D-AE7E-ED1AC962DD56}" type="datetime1">
              <a:rPr lang="en-US" smtClean="0"/>
              <a:t>7/31/25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22EEDFD-2BE7-6F41-B07F-0E98264CACAF}" type="datetime1">
              <a:rPr lang="en-US" smtClean="0"/>
              <a:t>7/31/25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BBCCC7-F605-904D-BDBE-C5404CC82A02}" type="datetime1">
              <a:rPr lang="en-US" smtClean="0"/>
              <a:t>7/31/25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31B48-2619-4945-B1BD-A96235845754}" type="datetime1">
              <a:rPr lang="en-US" smtClean="0"/>
              <a:t>7/31/25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dirty="0"/>
              <a:t>Click to edit Master text styles</a:t>
            </a:r>
            <a:r>
              <a:rPr lang="zh-TW" altLang="en-US" dirty="0"/>
              <a:t> 中文</a:t>
            </a:r>
            <a:endParaRPr lang="en-US" dirty="0"/>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8F47642-1967-D94C-A4D1-DCD18F6F65D6}" type="datetime1">
              <a:rPr lang="en-US" smtClean="0"/>
              <a:t>7/31/25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FDA4D-8222-2592-9297-3146DA53F141}"/>
              </a:ext>
            </a:extLst>
          </p:cNvPr>
          <p:cNvSpPr>
            <a:spLocks noGrp="1"/>
          </p:cNvSpPr>
          <p:nvPr>
            <p:ph type="ctrTitle"/>
          </p:nvPr>
        </p:nvSpPr>
        <p:spPr/>
        <p:txBody>
          <a:bodyPr>
            <a:normAutofit/>
          </a:bodyPr>
          <a:lstStyle/>
          <a:p>
            <a:r>
              <a:rPr lang="en-US" dirty="0" err="1"/>
              <a:t>P’ansori</a:t>
            </a:r>
            <a:r>
              <a:rPr lang="en-US" dirty="0"/>
              <a:t> Today: </a:t>
            </a:r>
            <a:br>
              <a:rPr lang="en-US" dirty="0"/>
            </a:br>
            <a:r>
              <a:rPr lang="en-US" sz="3700" dirty="0"/>
              <a:t>Contemporary Preservation and Innovation</a:t>
            </a:r>
            <a:endParaRPr lang="en-CA" sz="3700" dirty="0"/>
          </a:p>
        </p:txBody>
      </p:sp>
      <p:sp>
        <p:nvSpPr>
          <p:cNvPr id="3" name="Subtitle 2">
            <a:extLst>
              <a:ext uri="{FF2B5EF4-FFF2-40B4-BE49-F238E27FC236}">
                <a16:creationId xmlns:a16="http://schemas.microsoft.com/office/drawing/2014/main" id="{5C740358-D9B1-A478-413A-A12313F6BFAF}"/>
              </a:ext>
            </a:extLst>
          </p:cNvPr>
          <p:cNvSpPr>
            <a:spLocks noGrp="1"/>
          </p:cNvSpPr>
          <p:nvPr>
            <p:ph type="subTitle" idx="1"/>
          </p:nvPr>
        </p:nvSpPr>
        <p:spPr/>
        <p:txBody>
          <a:bodyPr/>
          <a:lstStyle/>
          <a:p>
            <a:r>
              <a:rPr lang="en-US" altLang="zh-TW" dirty="0"/>
              <a:t>Reinventing</a:t>
            </a:r>
            <a:r>
              <a:rPr lang="zh-TW" altLang="en-US" dirty="0"/>
              <a:t> </a:t>
            </a:r>
            <a:r>
              <a:rPr lang="en-US" altLang="zh-TW" dirty="0"/>
              <a:t>Culture</a:t>
            </a:r>
            <a:r>
              <a:rPr lang="zh-TW" altLang="en-US" dirty="0"/>
              <a:t> </a:t>
            </a:r>
            <a:r>
              <a:rPr lang="en-US" altLang="zh-TW" dirty="0"/>
              <a:t>in</a:t>
            </a:r>
            <a:r>
              <a:rPr lang="zh-TW" altLang="en-US" dirty="0"/>
              <a:t> </a:t>
            </a:r>
            <a:r>
              <a:rPr lang="en-US" altLang="zh-TW" dirty="0"/>
              <a:t>East</a:t>
            </a:r>
            <a:r>
              <a:rPr lang="zh-TW" altLang="en-US" dirty="0"/>
              <a:t> </a:t>
            </a:r>
            <a:r>
              <a:rPr lang="en-US" altLang="zh-TW" dirty="0"/>
              <a:t>Asia</a:t>
            </a:r>
          </a:p>
          <a:p>
            <a:r>
              <a:rPr lang="en-US" altLang="zh-TW" dirty="0"/>
              <a:t>EASIA</a:t>
            </a:r>
            <a:r>
              <a:rPr lang="zh-TW" altLang="en-US" dirty="0"/>
              <a:t> </a:t>
            </a:r>
            <a:r>
              <a:rPr lang="en-US" altLang="zh-TW" dirty="0"/>
              <a:t>237</a:t>
            </a:r>
            <a:endParaRPr lang="en-CA" dirty="0"/>
          </a:p>
        </p:txBody>
      </p:sp>
    </p:spTree>
    <p:extLst>
      <p:ext uri="{BB962C8B-B14F-4D97-AF65-F5344CB8AC3E}">
        <p14:creationId xmlns:p14="http://schemas.microsoft.com/office/powerpoint/2010/main" val="2515797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013EE-F21C-D4B9-9026-E8DA8E7EF2A9}"/>
              </a:ext>
            </a:extLst>
          </p:cNvPr>
          <p:cNvSpPr>
            <a:spLocks noGrp="1"/>
          </p:cNvSpPr>
          <p:nvPr>
            <p:ph type="title"/>
          </p:nvPr>
        </p:nvSpPr>
        <p:spPr/>
        <p:txBody>
          <a:bodyPr/>
          <a:lstStyle/>
          <a:p>
            <a:r>
              <a:rPr lang="en-CA"/>
              <a:t>Today’s lecture</a:t>
            </a:r>
            <a:endParaRPr lang="en-CA" dirty="0"/>
          </a:p>
        </p:txBody>
      </p:sp>
      <p:sp>
        <p:nvSpPr>
          <p:cNvPr id="3" name="Content Placeholder 2">
            <a:extLst>
              <a:ext uri="{FF2B5EF4-FFF2-40B4-BE49-F238E27FC236}">
                <a16:creationId xmlns:a16="http://schemas.microsoft.com/office/drawing/2014/main" id="{0F2CEB5A-56C2-B6A7-174E-C9ECDE2F6A2B}"/>
              </a:ext>
            </a:extLst>
          </p:cNvPr>
          <p:cNvSpPr>
            <a:spLocks noGrp="1"/>
          </p:cNvSpPr>
          <p:nvPr>
            <p:ph idx="1"/>
          </p:nvPr>
        </p:nvSpPr>
        <p:spPr/>
        <p:txBody>
          <a:bodyPr/>
          <a:lstStyle/>
          <a:p>
            <a:r>
              <a:rPr lang="en-CA" dirty="0"/>
              <a:t>Resources overview (2)</a:t>
            </a:r>
          </a:p>
          <a:p>
            <a:r>
              <a:rPr lang="en-CA" dirty="0"/>
              <a:t>Reading introduction: Writing a ‘reverse outline’ (3-4)</a:t>
            </a:r>
          </a:p>
          <a:p>
            <a:r>
              <a:rPr lang="en-CA" dirty="0"/>
              <a:t>‘New </a:t>
            </a:r>
            <a:r>
              <a:rPr lang="en-CA" dirty="0" err="1"/>
              <a:t>P’ansori</a:t>
            </a:r>
            <a:r>
              <a:rPr lang="en-CA" dirty="0"/>
              <a:t>’ in the 20</a:t>
            </a:r>
            <a:r>
              <a:rPr lang="en-CA" baseline="30000" dirty="0"/>
              <a:t>th</a:t>
            </a:r>
            <a:r>
              <a:rPr lang="en-CA" dirty="0"/>
              <a:t> century (5-6)</a:t>
            </a:r>
          </a:p>
          <a:p>
            <a:r>
              <a:rPr lang="en-CA" dirty="0"/>
              <a:t>‘New </a:t>
            </a:r>
            <a:r>
              <a:rPr lang="en-CA" dirty="0" err="1"/>
              <a:t>P’ansori</a:t>
            </a:r>
            <a:r>
              <a:rPr lang="en-CA" dirty="0"/>
              <a:t>’ in the 21</a:t>
            </a:r>
            <a:r>
              <a:rPr lang="en-CA" baseline="30000" dirty="0"/>
              <a:t>st</a:t>
            </a:r>
            <a:r>
              <a:rPr lang="en-CA" dirty="0"/>
              <a:t> century (7-8)</a:t>
            </a:r>
          </a:p>
          <a:p>
            <a:r>
              <a:rPr lang="en-CA" dirty="0"/>
              <a:t>The ‘authenticity debate’ (9-11)</a:t>
            </a:r>
          </a:p>
          <a:p>
            <a:r>
              <a:rPr lang="en-CA" dirty="0"/>
              <a:t>Quiz and Assignment details (12-13)</a:t>
            </a:r>
          </a:p>
        </p:txBody>
      </p:sp>
      <p:sp>
        <p:nvSpPr>
          <p:cNvPr id="5" name="Slide Number Placeholder 4">
            <a:extLst>
              <a:ext uri="{FF2B5EF4-FFF2-40B4-BE49-F238E27FC236}">
                <a16:creationId xmlns:a16="http://schemas.microsoft.com/office/drawing/2014/main" id="{657CA522-087E-8A63-7D39-2EE8F42B8536}"/>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27530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C9114-FA31-8AFE-CD33-6BE224261D5C}"/>
              </a:ext>
            </a:extLst>
          </p:cNvPr>
          <p:cNvSpPr>
            <a:spLocks noGrp="1"/>
          </p:cNvSpPr>
          <p:nvPr>
            <p:ph type="title"/>
          </p:nvPr>
        </p:nvSpPr>
        <p:spPr/>
        <p:txBody>
          <a:bodyPr/>
          <a:lstStyle/>
          <a:p>
            <a:r>
              <a:rPr lang="en-US" altLang="zh-TW" dirty="0"/>
              <a:t>Resources</a:t>
            </a:r>
            <a:r>
              <a:rPr lang="zh-TW" altLang="en-US" dirty="0"/>
              <a:t> </a:t>
            </a:r>
            <a:r>
              <a:rPr lang="en-US" altLang="zh-TW" dirty="0"/>
              <a:t>overview:</a:t>
            </a:r>
            <a:r>
              <a:rPr lang="zh-TW" altLang="en-US" dirty="0"/>
              <a:t> </a:t>
            </a:r>
            <a:br>
              <a:rPr lang="en-US" altLang="zh-TW" dirty="0"/>
            </a:br>
            <a:r>
              <a:rPr lang="en-US" altLang="zh-TW" dirty="0" err="1"/>
              <a:t>P’ansori</a:t>
            </a:r>
            <a:r>
              <a:rPr lang="zh-TW" altLang="en-US" dirty="0"/>
              <a:t> </a:t>
            </a:r>
            <a:r>
              <a:rPr lang="en-US" altLang="zh-TW" dirty="0"/>
              <a:t>in</a:t>
            </a:r>
            <a:r>
              <a:rPr lang="zh-TW" altLang="en-US" dirty="0"/>
              <a:t> </a:t>
            </a:r>
            <a:r>
              <a:rPr lang="en-US" altLang="zh-TW" dirty="0"/>
              <a:t>Contemporary</a:t>
            </a:r>
            <a:r>
              <a:rPr lang="zh-TW" altLang="en-US" dirty="0"/>
              <a:t> </a:t>
            </a:r>
            <a:r>
              <a:rPr lang="en-US" altLang="zh-TW" dirty="0"/>
              <a:t>Korea</a:t>
            </a:r>
            <a:endParaRPr lang="en-CA" dirty="0"/>
          </a:p>
        </p:txBody>
      </p:sp>
      <p:sp>
        <p:nvSpPr>
          <p:cNvPr id="3" name="Content Placeholder 2">
            <a:extLst>
              <a:ext uri="{FF2B5EF4-FFF2-40B4-BE49-F238E27FC236}">
                <a16:creationId xmlns:a16="http://schemas.microsoft.com/office/drawing/2014/main" id="{62E4BF1E-1E54-0E75-1EF7-4CB525C961BF}"/>
              </a:ext>
            </a:extLst>
          </p:cNvPr>
          <p:cNvSpPr>
            <a:spLocks noGrp="1"/>
          </p:cNvSpPr>
          <p:nvPr>
            <p:ph idx="1"/>
          </p:nvPr>
        </p:nvSpPr>
        <p:spPr>
          <a:xfrm>
            <a:off x="2132012" y="2093844"/>
            <a:ext cx="8915400" cy="3777622"/>
          </a:xfrm>
        </p:spPr>
        <p:txBody>
          <a:bodyPr>
            <a:noAutofit/>
          </a:bodyPr>
          <a:lstStyle/>
          <a:p>
            <a:pPr>
              <a:lnSpc>
                <a:spcPts val="1500"/>
              </a:lnSpc>
            </a:pPr>
            <a:r>
              <a:rPr lang="en-US" altLang="zh-TW" sz="1900" dirty="0"/>
              <a:t>Videos</a:t>
            </a:r>
          </a:p>
          <a:p>
            <a:pPr lvl="1">
              <a:lnSpc>
                <a:spcPts val="1500"/>
              </a:lnSpc>
            </a:pPr>
            <a:r>
              <a:rPr lang="en-US" sz="1900" dirty="0"/>
              <a:t>‘Outsider </a:t>
            </a:r>
            <a:r>
              <a:rPr lang="en-US" sz="1900" dirty="0" err="1"/>
              <a:t>p’ansori</a:t>
            </a:r>
            <a:r>
              <a:rPr lang="en-US" sz="1900" dirty="0"/>
              <a:t>’ Pak T’ae-O, “Star Wars”</a:t>
            </a:r>
          </a:p>
          <a:p>
            <a:pPr lvl="2">
              <a:lnSpc>
                <a:spcPts val="1500"/>
              </a:lnSpc>
            </a:pPr>
            <a:r>
              <a:rPr lang="en-US" altLang="zh-TW" sz="1900" dirty="0"/>
              <a:t>Based</a:t>
            </a:r>
            <a:r>
              <a:rPr lang="en-US" sz="1900" dirty="0"/>
              <a:t> on PC game StarCraft</a:t>
            </a:r>
            <a:r>
              <a:rPr lang="en-US" altLang="zh-TW" sz="1900" dirty="0"/>
              <a:t>.</a:t>
            </a:r>
            <a:r>
              <a:rPr lang="zh-TW" altLang="en-US" sz="1900" dirty="0"/>
              <a:t> </a:t>
            </a:r>
            <a:r>
              <a:rPr lang="en-US" altLang="zh-TW" sz="1900" dirty="0"/>
              <a:t>Excerpt</a:t>
            </a:r>
            <a:r>
              <a:rPr lang="zh-TW" altLang="en-US" sz="1900" dirty="0"/>
              <a:t> </a:t>
            </a:r>
            <a:r>
              <a:rPr lang="en-US" altLang="zh-TW" sz="1900" dirty="0"/>
              <a:t>in</a:t>
            </a:r>
            <a:r>
              <a:rPr lang="zh-TW" altLang="en-US" sz="1900" dirty="0"/>
              <a:t> </a:t>
            </a:r>
            <a:r>
              <a:rPr lang="en-US" altLang="zh-TW" sz="1900" dirty="0"/>
              <a:t>Um’s</a:t>
            </a:r>
            <a:r>
              <a:rPr lang="zh-TW" altLang="en-US" sz="1900" dirty="0"/>
              <a:t> </a:t>
            </a:r>
            <a:r>
              <a:rPr lang="en-US" altLang="zh-TW" sz="1900" dirty="0"/>
              <a:t>article.</a:t>
            </a:r>
            <a:endParaRPr lang="en-US" sz="1900" dirty="0"/>
          </a:p>
          <a:p>
            <a:pPr lvl="1">
              <a:lnSpc>
                <a:spcPts val="1500"/>
              </a:lnSpc>
            </a:pPr>
            <a:r>
              <a:rPr lang="en-US" sz="1900" dirty="0"/>
              <a:t>Seo Yoon Jang, Pansori 'Le Petit Prince', Episode: The Fox </a:t>
            </a:r>
          </a:p>
          <a:p>
            <a:pPr lvl="2">
              <a:lnSpc>
                <a:spcPts val="1500"/>
              </a:lnSpc>
            </a:pPr>
            <a:r>
              <a:rPr lang="en-US" altLang="zh-TW" sz="1900" dirty="0"/>
              <a:t>Based</a:t>
            </a:r>
            <a:r>
              <a:rPr lang="zh-TW" altLang="en-US" sz="1900" dirty="0"/>
              <a:t> </a:t>
            </a:r>
            <a:r>
              <a:rPr lang="en-US" altLang="zh-TW" sz="1900" dirty="0"/>
              <a:t>from</a:t>
            </a:r>
            <a:r>
              <a:rPr lang="zh-TW" altLang="en-US" sz="1900" dirty="0"/>
              <a:t> </a:t>
            </a:r>
            <a:r>
              <a:rPr lang="en-US" altLang="zh-TW" sz="1900" i="1" dirty="0"/>
              <a:t>The</a:t>
            </a:r>
            <a:r>
              <a:rPr lang="zh-TW" altLang="en-US" sz="1900" i="1" dirty="0"/>
              <a:t> </a:t>
            </a:r>
            <a:r>
              <a:rPr lang="en-US" altLang="zh-TW" sz="1900" i="1" dirty="0"/>
              <a:t>Little</a:t>
            </a:r>
            <a:r>
              <a:rPr lang="zh-TW" altLang="en-US" sz="1900" i="1" dirty="0"/>
              <a:t> </a:t>
            </a:r>
            <a:r>
              <a:rPr lang="en-US" altLang="zh-TW" sz="1900" i="1" dirty="0"/>
              <a:t>Prince.</a:t>
            </a:r>
            <a:r>
              <a:rPr lang="zh-TW" altLang="en-US" sz="1900" i="1" dirty="0"/>
              <a:t> </a:t>
            </a:r>
            <a:r>
              <a:rPr lang="en-US" altLang="zh-TW" sz="1900" dirty="0"/>
              <a:t>Written/performed</a:t>
            </a:r>
            <a:r>
              <a:rPr lang="zh-TW" altLang="en-US" sz="1900" dirty="0"/>
              <a:t> </a:t>
            </a:r>
            <a:r>
              <a:rPr lang="en-US" altLang="zh-TW" sz="1900" dirty="0"/>
              <a:t>after</a:t>
            </a:r>
            <a:r>
              <a:rPr lang="zh-TW" altLang="en-US" sz="1900" dirty="0"/>
              <a:t> </a:t>
            </a:r>
            <a:r>
              <a:rPr lang="en-US" altLang="zh-TW" sz="1900" dirty="0"/>
              <a:t>Um’s</a:t>
            </a:r>
            <a:r>
              <a:rPr lang="zh-TW" altLang="en-US" sz="1900" dirty="0"/>
              <a:t> </a:t>
            </a:r>
            <a:r>
              <a:rPr lang="en-US" altLang="zh-TW" sz="1900" dirty="0"/>
              <a:t>article.</a:t>
            </a:r>
            <a:endParaRPr lang="en-US" altLang="zh-TW" sz="1900" i="1" dirty="0"/>
          </a:p>
          <a:p>
            <a:pPr lvl="2">
              <a:lnSpc>
                <a:spcPts val="1500"/>
              </a:lnSpc>
            </a:pPr>
            <a:r>
              <a:rPr lang="en-US" altLang="zh-TW" sz="1900" dirty="0"/>
              <a:t>Same</a:t>
            </a:r>
            <a:r>
              <a:rPr lang="zh-TW" altLang="en-US" sz="1900" dirty="0"/>
              <a:t> </a:t>
            </a:r>
            <a:r>
              <a:rPr lang="en-US" altLang="zh-TW" sz="1900" dirty="0"/>
              <a:t>performer</a:t>
            </a:r>
            <a:r>
              <a:rPr lang="zh-TW" altLang="en-US" sz="1900" dirty="0"/>
              <a:t> </a:t>
            </a:r>
            <a:r>
              <a:rPr lang="en-US" altLang="zh-TW" sz="1900" dirty="0"/>
              <a:t>as</a:t>
            </a:r>
            <a:r>
              <a:rPr lang="zh-TW" altLang="en-US" sz="1900" dirty="0"/>
              <a:t> </a:t>
            </a:r>
            <a:r>
              <a:rPr lang="en-US" altLang="zh-TW" sz="1900" dirty="0"/>
              <a:t>‘Korean</a:t>
            </a:r>
            <a:r>
              <a:rPr lang="zh-TW" altLang="en-US" sz="1900" dirty="0"/>
              <a:t> </a:t>
            </a:r>
            <a:r>
              <a:rPr lang="en-US" altLang="zh-TW" sz="1900" dirty="0"/>
              <a:t>Music</a:t>
            </a:r>
            <a:r>
              <a:rPr lang="zh-TW" altLang="en-US" sz="1900" dirty="0"/>
              <a:t> </a:t>
            </a:r>
            <a:r>
              <a:rPr lang="en-US" altLang="zh-TW" sz="1900" dirty="0"/>
              <a:t>101’</a:t>
            </a:r>
            <a:r>
              <a:rPr lang="zh-TW" altLang="en-US" sz="1900" dirty="0"/>
              <a:t> </a:t>
            </a:r>
            <a:r>
              <a:rPr lang="en-US" altLang="zh-TW" sz="1900" dirty="0"/>
              <a:t>videos</a:t>
            </a:r>
            <a:r>
              <a:rPr lang="zh-TW" altLang="en-US" sz="1900" dirty="0"/>
              <a:t> </a:t>
            </a:r>
            <a:r>
              <a:rPr lang="en-US" altLang="zh-TW" sz="1900" dirty="0"/>
              <a:t>from</a:t>
            </a:r>
            <a:r>
              <a:rPr lang="zh-TW" altLang="en-US" sz="1900" dirty="0"/>
              <a:t> </a:t>
            </a:r>
            <a:r>
              <a:rPr lang="en-US" altLang="zh-TW" sz="1900" dirty="0"/>
              <a:t>Unit</a:t>
            </a:r>
            <a:r>
              <a:rPr lang="zh-TW" altLang="en-US" sz="1900" dirty="0"/>
              <a:t> </a:t>
            </a:r>
            <a:r>
              <a:rPr lang="en-US" altLang="zh-TW" sz="1900" dirty="0"/>
              <a:t>1.</a:t>
            </a:r>
            <a:r>
              <a:rPr lang="zh-TW" altLang="en-US" sz="1900" dirty="0"/>
              <a:t> </a:t>
            </a:r>
            <a:endParaRPr lang="en-US" altLang="zh-TW" sz="1900" dirty="0"/>
          </a:p>
          <a:p>
            <a:pPr lvl="2">
              <a:lnSpc>
                <a:spcPts val="1500"/>
              </a:lnSpc>
            </a:pPr>
            <a:r>
              <a:rPr lang="en-US" altLang="zh-TW" sz="1900" dirty="0"/>
              <a:t>These</a:t>
            </a:r>
            <a:r>
              <a:rPr lang="zh-TW" altLang="en-US" sz="1900" dirty="0"/>
              <a:t> </a:t>
            </a:r>
            <a:r>
              <a:rPr lang="en-US" altLang="zh-TW" sz="1900" dirty="0"/>
              <a:t>are</a:t>
            </a:r>
            <a:r>
              <a:rPr lang="zh-TW" altLang="en-US" sz="1900" dirty="0"/>
              <a:t> </a:t>
            </a:r>
            <a:r>
              <a:rPr lang="en-US" altLang="zh-TW" sz="1900" dirty="0"/>
              <a:t>also</a:t>
            </a:r>
            <a:r>
              <a:rPr lang="zh-TW" altLang="en-US" sz="1900" dirty="0"/>
              <a:t> </a:t>
            </a:r>
            <a:r>
              <a:rPr lang="en-US" altLang="zh-TW" sz="1900" dirty="0"/>
              <a:t>“</a:t>
            </a:r>
            <a:r>
              <a:rPr lang="en-US" altLang="zh-TW" sz="1900" dirty="0" err="1"/>
              <a:t>p’ansori</a:t>
            </a:r>
            <a:r>
              <a:rPr lang="zh-TW" altLang="en-US" sz="1900" dirty="0"/>
              <a:t> </a:t>
            </a:r>
            <a:r>
              <a:rPr lang="en-US" altLang="zh-TW" sz="1900" dirty="0"/>
              <a:t>today!”</a:t>
            </a:r>
          </a:p>
          <a:p>
            <a:pPr lvl="1">
              <a:lnSpc>
                <a:spcPts val="1500"/>
              </a:lnSpc>
            </a:pPr>
            <a:r>
              <a:rPr lang="en-US" altLang="zh-TW" sz="1900" dirty="0"/>
              <a:t>No</a:t>
            </a:r>
            <a:r>
              <a:rPr lang="zh-TW" altLang="en-US" sz="1900" dirty="0"/>
              <a:t> </a:t>
            </a:r>
            <a:r>
              <a:rPr lang="en-US" altLang="zh-TW" sz="1900" dirty="0"/>
              <a:t>subtitles/translation:</a:t>
            </a:r>
            <a:r>
              <a:rPr lang="zh-TW" altLang="en-US" sz="1900" dirty="0"/>
              <a:t> </a:t>
            </a:r>
            <a:r>
              <a:rPr lang="en-US" altLang="zh-TW" sz="1900" dirty="0"/>
              <a:t>Focus</a:t>
            </a:r>
            <a:r>
              <a:rPr lang="zh-TW" altLang="en-US" sz="1900" dirty="0"/>
              <a:t> </a:t>
            </a:r>
            <a:r>
              <a:rPr lang="en-US" altLang="zh-TW" sz="1900" dirty="0"/>
              <a:t>on</a:t>
            </a:r>
            <a:r>
              <a:rPr lang="zh-TW" altLang="en-US" sz="1900" dirty="0"/>
              <a:t> </a:t>
            </a:r>
            <a:r>
              <a:rPr lang="en-US" altLang="zh-TW" sz="1900" dirty="0"/>
              <a:t>performance,</a:t>
            </a:r>
            <a:r>
              <a:rPr lang="zh-TW" altLang="en-US" sz="1900" dirty="0"/>
              <a:t> </a:t>
            </a:r>
            <a:r>
              <a:rPr lang="en-US" altLang="zh-TW" sz="1900" dirty="0"/>
              <a:t>staging,</a:t>
            </a:r>
            <a:r>
              <a:rPr lang="zh-TW" altLang="en-US" sz="1900" dirty="0"/>
              <a:t> </a:t>
            </a:r>
            <a:r>
              <a:rPr lang="en-US" altLang="zh-TW" sz="1900" dirty="0"/>
              <a:t>etc.</a:t>
            </a:r>
            <a:endParaRPr lang="en-US" sz="1900" dirty="0"/>
          </a:p>
          <a:p>
            <a:pPr>
              <a:lnSpc>
                <a:spcPts val="1500"/>
              </a:lnSpc>
            </a:pPr>
            <a:r>
              <a:rPr lang="en-US" altLang="zh-TW" sz="1900" dirty="0"/>
              <a:t>Reading</a:t>
            </a:r>
          </a:p>
          <a:p>
            <a:pPr lvl="1">
              <a:lnSpc>
                <a:spcPts val="1500"/>
              </a:lnSpc>
            </a:pPr>
            <a:r>
              <a:rPr lang="en-US" sz="1900" dirty="0"/>
              <a:t>Um, </a:t>
            </a:r>
            <a:r>
              <a:rPr lang="en-US" sz="1900" dirty="0" err="1"/>
              <a:t>Haekyung</a:t>
            </a:r>
            <a:r>
              <a:rPr lang="en-US" sz="1900" dirty="0"/>
              <a:t>. “New </a:t>
            </a:r>
            <a:r>
              <a:rPr lang="en-US" sz="1900" dirty="0" err="1"/>
              <a:t>P’ansori</a:t>
            </a:r>
            <a:r>
              <a:rPr lang="en-US" sz="1900" dirty="0"/>
              <a:t> in Twenty-first-century Korea</a:t>
            </a:r>
            <a:r>
              <a:rPr lang="en-US" altLang="zh-TW" sz="1900" dirty="0"/>
              <a:t>”</a:t>
            </a:r>
          </a:p>
          <a:p>
            <a:pPr lvl="1">
              <a:lnSpc>
                <a:spcPts val="1500"/>
              </a:lnSpc>
            </a:pPr>
            <a:r>
              <a:rPr lang="en-US" altLang="zh-TW" sz="1900" dirty="0"/>
              <a:t>Academic</a:t>
            </a:r>
            <a:r>
              <a:rPr lang="zh-TW" altLang="en-US" sz="1900" dirty="0"/>
              <a:t> </a:t>
            </a:r>
            <a:r>
              <a:rPr lang="en-US" altLang="zh-TW" sz="1900" dirty="0"/>
              <a:t>journal</a:t>
            </a:r>
            <a:r>
              <a:rPr lang="zh-TW" altLang="en-US" sz="1900" dirty="0"/>
              <a:t> </a:t>
            </a:r>
            <a:r>
              <a:rPr lang="en-US" altLang="zh-TW" sz="1900" dirty="0"/>
              <a:t>article.</a:t>
            </a:r>
            <a:endParaRPr lang="en-CA" sz="1900" dirty="0"/>
          </a:p>
        </p:txBody>
      </p:sp>
      <p:sp>
        <p:nvSpPr>
          <p:cNvPr id="4" name="Slide Number Placeholder 3">
            <a:extLst>
              <a:ext uri="{FF2B5EF4-FFF2-40B4-BE49-F238E27FC236}">
                <a16:creationId xmlns:a16="http://schemas.microsoft.com/office/drawing/2014/main" id="{88019F62-AB0C-2C67-0DB8-FE178344C9F0}"/>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777367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4AD71-FE40-1CF1-E368-3E316BC8ACD4}"/>
              </a:ext>
            </a:extLst>
          </p:cNvPr>
          <p:cNvSpPr>
            <a:spLocks noGrp="1"/>
          </p:cNvSpPr>
          <p:nvPr>
            <p:ph type="title"/>
          </p:nvPr>
        </p:nvSpPr>
        <p:spPr/>
        <p:txBody>
          <a:bodyPr>
            <a:normAutofit fontScale="90000"/>
          </a:bodyPr>
          <a:lstStyle/>
          <a:p>
            <a:r>
              <a:rPr lang="en-US" dirty="0"/>
              <a:t>New </a:t>
            </a:r>
            <a:r>
              <a:rPr lang="en-US" dirty="0" err="1"/>
              <a:t>P’ansori</a:t>
            </a:r>
            <a:r>
              <a:rPr lang="en-US" dirty="0"/>
              <a:t> in Twenty-first-century Korea: Creative Dialectics of Tradition and Modernity</a:t>
            </a:r>
            <a:endParaRPr lang="en-CA" dirty="0"/>
          </a:p>
        </p:txBody>
      </p:sp>
      <p:sp>
        <p:nvSpPr>
          <p:cNvPr id="3" name="Content Placeholder 2">
            <a:extLst>
              <a:ext uri="{FF2B5EF4-FFF2-40B4-BE49-F238E27FC236}">
                <a16:creationId xmlns:a16="http://schemas.microsoft.com/office/drawing/2014/main" id="{4792E675-B4F6-E698-7C16-CBA3618C1DC0}"/>
              </a:ext>
            </a:extLst>
          </p:cNvPr>
          <p:cNvSpPr>
            <a:spLocks noGrp="1"/>
          </p:cNvSpPr>
          <p:nvPr>
            <p:ph idx="1"/>
          </p:nvPr>
        </p:nvSpPr>
        <p:spPr/>
        <p:txBody>
          <a:bodyPr/>
          <a:lstStyle/>
          <a:p>
            <a:r>
              <a:rPr lang="en-US" altLang="zh-TW" dirty="0"/>
              <a:t>Published</a:t>
            </a:r>
            <a:r>
              <a:rPr lang="zh-TW" altLang="en-US" dirty="0"/>
              <a:t> </a:t>
            </a:r>
            <a:r>
              <a:rPr lang="en-US" altLang="zh-TW" dirty="0"/>
              <a:t>in</a:t>
            </a:r>
            <a:r>
              <a:rPr lang="zh-TW" altLang="en-US" dirty="0"/>
              <a:t> </a:t>
            </a:r>
            <a:r>
              <a:rPr lang="en-US" i="1" dirty="0"/>
              <a:t>Asian Theatre Journal </a:t>
            </a:r>
          </a:p>
          <a:p>
            <a:pPr lvl="1"/>
            <a:r>
              <a:rPr lang="en-US" altLang="zh-TW" dirty="0"/>
              <a:t>What</a:t>
            </a:r>
            <a:r>
              <a:rPr lang="zh-TW" altLang="en-US" dirty="0"/>
              <a:t> </a:t>
            </a:r>
            <a:r>
              <a:rPr lang="en-US" altLang="zh-TW" dirty="0"/>
              <a:t>do</a:t>
            </a:r>
            <a:r>
              <a:rPr lang="zh-TW" altLang="en-US" dirty="0"/>
              <a:t> </a:t>
            </a:r>
            <a:r>
              <a:rPr lang="en-US" altLang="zh-TW" dirty="0"/>
              <a:t>the</a:t>
            </a:r>
            <a:r>
              <a:rPr lang="zh-TW" altLang="en-US" dirty="0"/>
              <a:t> </a:t>
            </a:r>
            <a:r>
              <a:rPr lang="en-US" altLang="zh-TW" dirty="0"/>
              <a:t>titles</a:t>
            </a:r>
            <a:r>
              <a:rPr lang="zh-TW" altLang="en-US" dirty="0"/>
              <a:t> </a:t>
            </a:r>
            <a:r>
              <a:rPr lang="en-US" altLang="zh-TW" dirty="0"/>
              <a:t>of</a:t>
            </a:r>
            <a:r>
              <a:rPr lang="zh-TW" altLang="en-US" dirty="0"/>
              <a:t> </a:t>
            </a:r>
            <a:r>
              <a:rPr lang="en-US" altLang="zh-TW" dirty="0"/>
              <a:t>article</a:t>
            </a:r>
            <a:r>
              <a:rPr lang="zh-TW" altLang="en-US" dirty="0"/>
              <a:t> </a:t>
            </a:r>
            <a:r>
              <a:rPr lang="en-US" altLang="zh-TW" dirty="0"/>
              <a:t>&amp;</a:t>
            </a:r>
            <a:r>
              <a:rPr lang="zh-TW" altLang="en-US" dirty="0"/>
              <a:t> </a:t>
            </a:r>
            <a:r>
              <a:rPr lang="en-US" altLang="zh-TW" dirty="0"/>
              <a:t>journal</a:t>
            </a:r>
            <a:r>
              <a:rPr lang="zh-TW" altLang="en-US" dirty="0"/>
              <a:t> </a:t>
            </a:r>
            <a:r>
              <a:rPr lang="en-US" altLang="zh-TW" dirty="0"/>
              <a:t>tell</a:t>
            </a:r>
            <a:r>
              <a:rPr lang="zh-TW" altLang="en-US" dirty="0"/>
              <a:t> </a:t>
            </a:r>
            <a:r>
              <a:rPr lang="en-US" altLang="zh-TW" dirty="0"/>
              <a:t>us?</a:t>
            </a:r>
          </a:p>
          <a:p>
            <a:pPr lvl="1"/>
            <a:r>
              <a:rPr lang="en-US" altLang="zh-TW" dirty="0"/>
              <a:t>Dialectic:</a:t>
            </a:r>
            <a:r>
              <a:rPr lang="zh-TW" altLang="en-US" dirty="0"/>
              <a:t> </a:t>
            </a:r>
            <a:r>
              <a:rPr lang="en-US" altLang="zh-TW" dirty="0"/>
              <a:t>A</a:t>
            </a:r>
            <a:r>
              <a:rPr lang="zh-TW" altLang="en-US" dirty="0"/>
              <a:t> </a:t>
            </a:r>
            <a:r>
              <a:rPr lang="en-US" altLang="zh-TW" dirty="0"/>
              <a:t>discussion/debate,</a:t>
            </a:r>
            <a:r>
              <a:rPr lang="zh-TW" altLang="en-US" dirty="0"/>
              <a:t> </a:t>
            </a:r>
            <a:r>
              <a:rPr lang="en-US" altLang="zh-TW" dirty="0"/>
              <a:t>often</a:t>
            </a:r>
            <a:r>
              <a:rPr lang="zh-TW" altLang="en-US" dirty="0"/>
              <a:t> </a:t>
            </a:r>
            <a:r>
              <a:rPr lang="en-US" altLang="zh-TW" dirty="0"/>
              <a:t>in</a:t>
            </a:r>
            <a:r>
              <a:rPr lang="zh-TW" altLang="en-US" dirty="0"/>
              <a:t> </a:t>
            </a:r>
            <a:r>
              <a:rPr lang="en-US" altLang="zh-TW" dirty="0"/>
              <a:t>which</a:t>
            </a:r>
            <a:r>
              <a:rPr lang="zh-TW" altLang="en-US" dirty="0"/>
              <a:t> </a:t>
            </a:r>
            <a:r>
              <a:rPr lang="en-US" altLang="zh-TW" dirty="0"/>
              <a:t>two</a:t>
            </a:r>
            <a:r>
              <a:rPr lang="zh-TW" altLang="en-US" dirty="0"/>
              <a:t> </a:t>
            </a:r>
            <a:r>
              <a:rPr lang="en-US" altLang="zh-TW" dirty="0"/>
              <a:t>opposing</a:t>
            </a:r>
            <a:r>
              <a:rPr lang="zh-TW" altLang="en-US" dirty="0"/>
              <a:t> </a:t>
            </a:r>
            <a:r>
              <a:rPr lang="en-US" altLang="zh-TW" dirty="0"/>
              <a:t>sides</a:t>
            </a:r>
            <a:r>
              <a:rPr lang="zh-TW" altLang="en-US" dirty="0"/>
              <a:t> </a:t>
            </a:r>
            <a:r>
              <a:rPr lang="en-US" altLang="zh-TW" dirty="0"/>
              <a:t>create</a:t>
            </a:r>
            <a:r>
              <a:rPr lang="zh-TW" altLang="en-US" dirty="0"/>
              <a:t> </a:t>
            </a:r>
            <a:r>
              <a:rPr lang="en-US" altLang="zh-TW" dirty="0"/>
              <a:t>new</a:t>
            </a:r>
            <a:r>
              <a:rPr lang="zh-TW" altLang="en-US" dirty="0"/>
              <a:t> </a:t>
            </a:r>
            <a:r>
              <a:rPr lang="en-US" altLang="zh-TW" dirty="0"/>
              <a:t>3</a:t>
            </a:r>
            <a:r>
              <a:rPr lang="en-US" altLang="zh-TW" baseline="30000" dirty="0"/>
              <a:t>rd</a:t>
            </a:r>
            <a:r>
              <a:rPr lang="zh-TW" altLang="en-US" dirty="0"/>
              <a:t> </a:t>
            </a:r>
            <a:r>
              <a:rPr lang="en-US" altLang="zh-TW" dirty="0"/>
              <a:t>position</a:t>
            </a:r>
          </a:p>
          <a:p>
            <a:r>
              <a:rPr lang="en-US" altLang="zh-TW" dirty="0"/>
              <a:t>Active</a:t>
            </a:r>
            <a:r>
              <a:rPr lang="zh-TW" altLang="en-US" dirty="0"/>
              <a:t> </a:t>
            </a:r>
            <a:r>
              <a:rPr lang="en-US" altLang="zh-TW" dirty="0"/>
              <a:t>reading:</a:t>
            </a:r>
            <a:r>
              <a:rPr lang="zh-TW" altLang="en-US" dirty="0"/>
              <a:t> </a:t>
            </a:r>
            <a:r>
              <a:rPr lang="en-US" altLang="zh-TW" dirty="0"/>
              <a:t>Read</a:t>
            </a:r>
            <a:r>
              <a:rPr lang="zh-TW" altLang="en-US" dirty="0"/>
              <a:t> </a:t>
            </a:r>
            <a:r>
              <a:rPr lang="en-US" altLang="zh-TW" dirty="0"/>
              <a:t>in</a:t>
            </a:r>
            <a:r>
              <a:rPr lang="zh-TW" altLang="en-US" dirty="0"/>
              <a:t> </a:t>
            </a:r>
            <a:r>
              <a:rPr lang="en-US" altLang="zh-TW" dirty="0"/>
              <a:t>order</a:t>
            </a:r>
            <a:r>
              <a:rPr lang="zh-TW" altLang="en-US" dirty="0"/>
              <a:t> </a:t>
            </a:r>
            <a:r>
              <a:rPr lang="en-US" altLang="zh-TW" dirty="0"/>
              <a:t>to</a:t>
            </a:r>
            <a:r>
              <a:rPr lang="zh-TW" altLang="en-US" dirty="0"/>
              <a:t> </a:t>
            </a:r>
            <a:r>
              <a:rPr lang="en-US" altLang="zh-TW" dirty="0"/>
              <a:t>answer</a:t>
            </a:r>
            <a:r>
              <a:rPr lang="zh-TW" altLang="en-US" dirty="0"/>
              <a:t> </a:t>
            </a:r>
            <a:r>
              <a:rPr lang="en-US" altLang="zh-TW" dirty="0"/>
              <a:t>specific</a:t>
            </a:r>
            <a:r>
              <a:rPr lang="zh-TW" altLang="en-US" dirty="0"/>
              <a:t> </a:t>
            </a:r>
            <a:r>
              <a:rPr lang="en-US" altLang="zh-TW" dirty="0"/>
              <a:t>questions.</a:t>
            </a:r>
          </a:p>
          <a:p>
            <a:pPr lvl="1"/>
            <a:r>
              <a:rPr lang="en-US" altLang="zh-TW" dirty="0"/>
              <a:t>E.g. “If</a:t>
            </a:r>
            <a:r>
              <a:rPr lang="zh-TW" altLang="en-US" dirty="0"/>
              <a:t> </a:t>
            </a:r>
            <a:r>
              <a:rPr lang="en-US" altLang="zh-TW" dirty="0"/>
              <a:t>‘tradition’</a:t>
            </a:r>
            <a:r>
              <a:rPr lang="zh-TW" altLang="en-US" dirty="0"/>
              <a:t> </a:t>
            </a:r>
            <a:r>
              <a:rPr lang="en-US" altLang="zh-TW" dirty="0"/>
              <a:t>and</a:t>
            </a:r>
            <a:r>
              <a:rPr lang="zh-TW" altLang="en-US" dirty="0"/>
              <a:t> </a:t>
            </a:r>
            <a:r>
              <a:rPr lang="en-US" altLang="zh-TW" dirty="0"/>
              <a:t>‘modernity’</a:t>
            </a:r>
            <a:r>
              <a:rPr lang="zh-TW" altLang="en-US" dirty="0"/>
              <a:t> </a:t>
            </a:r>
            <a:r>
              <a:rPr lang="en-US" altLang="zh-TW" dirty="0"/>
              <a:t>are</a:t>
            </a:r>
            <a:r>
              <a:rPr lang="zh-TW" altLang="en-US" dirty="0"/>
              <a:t> </a:t>
            </a:r>
            <a:r>
              <a:rPr lang="en-US" altLang="zh-TW" dirty="0"/>
              <a:t>two</a:t>
            </a:r>
            <a:r>
              <a:rPr lang="zh-TW" altLang="en-US" dirty="0"/>
              <a:t> </a:t>
            </a:r>
            <a:r>
              <a:rPr lang="en-US" altLang="zh-TW" dirty="0"/>
              <a:t>sides</a:t>
            </a:r>
            <a:r>
              <a:rPr lang="zh-TW" altLang="en-US" dirty="0"/>
              <a:t> </a:t>
            </a:r>
            <a:r>
              <a:rPr lang="en-US" altLang="zh-TW" dirty="0"/>
              <a:t>in</a:t>
            </a:r>
            <a:r>
              <a:rPr lang="zh-TW" altLang="en-US" dirty="0"/>
              <a:t> </a:t>
            </a:r>
            <a:r>
              <a:rPr lang="en-US" altLang="zh-TW" dirty="0"/>
              <a:t>debate,</a:t>
            </a:r>
            <a:r>
              <a:rPr lang="zh-TW" altLang="en-US" dirty="0"/>
              <a:t> </a:t>
            </a:r>
            <a:r>
              <a:rPr lang="en-US" altLang="zh-TW" dirty="0"/>
              <a:t>what</a:t>
            </a:r>
            <a:r>
              <a:rPr lang="zh-TW" altLang="en-US" dirty="0"/>
              <a:t> </a:t>
            </a:r>
            <a:r>
              <a:rPr lang="en-US" altLang="zh-TW" dirty="0"/>
              <a:t>is</a:t>
            </a:r>
            <a:r>
              <a:rPr lang="zh-TW" altLang="en-US" dirty="0"/>
              <a:t> </a:t>
            </a:r>
            <a:r>
              <a:rPr lang="en-US" altLang="zh-TW" dirty="0"/>
              <a:t>the</a:t>
            </a:r>
            <a:r>
              <a:rPr lang="zh-TW" altLang="en-US" dirty="0"/>
              <a:t> </a:t>
            </a:r>
            <a:r>
              <a:rPr lang="en-US" altLang="zh-TW" dirty="0"/>
              <a:t>resolution?”</a:t>
            </a:r>
          </a:p>
          <a:p>
            <a:pPr lvl="1"/>
            <a:r>
              <a:rPr lang="en-US" altLang="zh-TW" dirty="0"/>
              <a:t>q’s:</a:t>
            </a:r>
            <a:r>
              <a:rPr lang="zh-TW" altLang="en-US" dirty="0"/>
              <a:t> </a:t>
            </a:r>
            <a:r>
              <a:rPr lang="en-US" altLang="zh-TW" dirty="0"/>
              <a:t>What</a:t>
            </a:r>
            <a:r>
              <a:rPr lang="zh-TW" altLang="en-US" dirty="0"/>
              <a:t> </a:t>
            </a:r>
            <a:r>
              <a:rPr lang="en-US" altLang="zh-TW" dirty="0"/>
              <a:t>does</a:t>
            </a:r>
            <a:r>
              <a:rPr lang="zh-TW" altLang="en-US" dirty="0"/>
              <a:t> </a:t>
            </a:r>
            <a:r>
              <a:rPr lang="en-US" altLang="zh-TW" dirty="0"/>
              <a:t>‘tradition’</a:t>
            </a:r>
            <a:r>
              <a:rPr lang="zh-TW" altLang="en-US" dirty="0"/>
              <a:t> </a:t>
            </a:r>
            <a:r>
              <a:rPr lang="en-US" altLang="zh-TW" dirty="0"/>
              <a:t>mean</a:t>
            </a:r>
            <a:r>
              <a:rPr lang="zh-TW" altLang="en-US" dirty="0"/>
              <a:t> </a:t>
            </a:r>
            <a:r>
              <a:rPr lang="en-US" altLang="zh-TW" dirty="0"/>
              <a:t>in</a:t>
            </a:r>
            <a:r>
              <a:rPr lang="zh-TW" altLang="en-US" dirty="0"/>
              <a:t> </a:t>
            </a:r>
            <a:r>
              <a:rPr lang="en-US" altLang="zh-TW" dirty="0"/>
              <a:t>this</a:t>
            </a:r>
            <a:r>
              <a:rPr lang="zh-TW" altLang="en-US" dirty="0"/>
              <a:t> </a:t>
            </a:r>
            <a:r>
              <a:rPr lang="en-US" altLang="zh-TW" dirty="0"/>
              <a:t>context?</a:t>
            </a:r>
            <a:r>
              <a:rPr lang="zh-TW" altLang="en-US" dirty="0"/>
              <a:t> </a:t>
            </a:r>
            <a:r>
              <a:rPr lang="en-US" altLang="zh-TW" dirty="0"/>
              <a:t>Modernity?</a:t>
            </a:r>
            <a:r>
              <a:rPr lang="zh-TW" altLang="en-US" dirty="0"/>
              <a:t> </a:t>
            </a:r>
            <a:r>
              <a:rPr lang="en-US" altLang="zh-TW" dirty="0"/>
              <a:t>Why</a:t>
            </a:r>
            <a:r>
              <a:rPr lang="zh-TW" altLang="en-US" dirty="0"/>
              <a:t> </a:t>
            </a:r>
            <a:r>
              <a:rPr lang="en-US" altLang="zh-TW" dirty="0"/>
              <a:t>‘creative’?</a:t>
            </a:r>
          </a:p>
          <a:p>
            <a:pPr lvl="1"/>
            <a:r>
              <a:rPr lang="en-US" altLang="zh-TW" dirty="0"/>
              <a:t>Title</a:t>
            </a:r>
            <a:r>
              <a:rPr lang="zh-TW" altLang="en-US" dirty="0"/>
              <a:t> </a:t>
            </a:r>
            <a:r>
              <a:rPr lang="en-US" altLang="zh-TW" dirty="0"/>
              <a:t>mentions</a:t>
            </a:r>
            <a:r>
              <a:rPr lang="zh-TW" altLang="en-US" dirty="0"/>
              <a:t> </a:t>
            </a:r>
            <a:r>
              <a:rPr lang="en-US" altLang="zh-TW" dirty="0"/>
              <a:t>21</a:t>
            </a:r>
            <a:r>
              <a:rPr lang="en-US" altLang="zh-TW" baseline="30000" dirty="0"/>
              <a:t>st</a:t>
            </a:r>
            <a:r>
              <a:rPr lang="zh-TW" altLang="en-US" dirty="0"/>
              <a:t> </a:t>
            </a:r>
            <a:r>
              <a:rPr lang="en-US" altLang="zh-TW" dirty="0"/>
              <a:t>cent,</a:t>
            </a:r>
            <a:r>
              <a:rPr lang="zh-TW" altLang="en-US" dirty="0"/>
              <a:t> </a:t>
            </a:r>
            <a:r>
              <a:rPr lang="en-US" altLang="zh-TW" dirty="0"/>
              <a:t>but</a:t>
            </a:r>
            <a:r>
              <a:rPr lang="zh-TW" altLang="en-US" dirty="0"/>
              <a:t> </a:t>
            </a:r>
            <a:r>
              <a:rPr lang="en-US" altLang="zh-TW" dirty="0"/>
              <a:t>text</a:t>
            </a:r>
            <a:r>
              <a:rPr lang="zh-TW" altLang="en-US" dirty="0"/>
              <a:t> </a:t>
            </a:r>
            <a:r>
              <a:rPr lang="en-US" altLang="zh-TW" dirty="0"/>
              <a:t>also</a:t>
            </a:r>
            <a:r>
              <a:rPr lang="zh-TW" altLang="en-US" dirty="0"/>
              <a:t> </a:t>
            </a:r>
            <a:r>
              <a:rPr lang="en-US" altLang="zh-TW" dirty="0"/>
              <a:t>briefly</a:t>
            </a:r>
            <a:r>
              <a:rPr lang="zh-TW" altLang="en-US" dirty="0"/>
              <a:t> </a:t>
            </a:r>
            <a:r>
              <a:rPr lang="en-US" altLang="zh-TW" dirty="0"/>
              <a:t>introduces</a:t>
            </a:r>
            <a:r>
              <a:rPr lang="zh-TW" altLang="en-US" dirty="0"/>
              <a:t> </a:t>
            </a:r>
            <a:r>
              <a:rPr lang="en-US" altLang="zh-TW" dirty="0"/>
              <a:t>premodern</a:t>
            </a:r>
            <a:r>
              <a:rPr lang="zh-TW" altLang="en-US" dirty="0"/>
              <a:t> </a:t>
            </a:r>
            <a:r>
              <a:rPr lang="en-US" altLang="zh-TW" dirty="0" err="1"/>
              <a:t>p’ansori</a:t>
            </a:r>
            <a:r>
              <a:rPr lang="en-US" altLang="zh-TW" dirty="0"/>
              <a:t>,</a:t>
            </a:r>
            <a:r>
              <a:rPr lang="zh-TW" altLang="en-US" dirty="0"/>
              <a:t> </a:t>
            </a:r>
            <a:r>
              <a:rPr lang="en-US" altLang="zh-TW" dirty="0"/>
              <a:t>has</a:t>
            </a:r>
            <a:r>
              <a:rPr lang="zh-TW" altLang="en-US" dirty="0"/>
              <a:t> </a:t>
            </a:r>
            <a:r>
              <a:rPr lang="en-US" altLang="zh-TW" dirty="0"/>
              <a:t>a</a:t>
            </a:r>
            <a:r>
              <a:rPr lang="zh-TW" altLang="en-US" dirty="0"/>
              <a:t> </a:t>
            </a:r>
            <a:r>
              <a:rPr lang="en-US" altLang="zh-TW" dirty="0"/>
              <a:t>lengthy</a:t>
            </a:r>
            <a:r>
              <a:rPr lang="zh-TW" altLang="en-US" dirty="0"/>
              <a:t> </a:t>
            </a:r>
            <a:r>
              <a:rPr lang="en-US" altLang="zh-TW" dirty="0"/>
              <a:t>section</a:t>
            </a:r>
            <a:r>
              <a:rPr lang="zh-TW" altLang="en-US" dirty="0"/>
              <a:t> </a:t>
            </a:r>
            <a:r>
              <a:rPr lang="en-US" altLang="zh-TW" dirty="0"/>
              <a:t>on</a:t>
            </a:r>
            <a:r>
              <a:rPr lang="zh-TW" altLang="en-US" dirty="0"/>
              <a:t> </a:t>
            </a:r>
            <a:r>
              <a:rPr lang="en-US" altLang="zh-TW" dirty="0" err="1"/>
              <a:t>p’ansori</a:t>
            </a:r>
            <a:r>
              <a:rPr lang="zh-TW" altLang="en-US" dirty="0"/>
              <a:t> </a:t>
            </a:r>
            <a:r>
              <a:rPr lang="en-US" altLang="zh-TW" dirty="0"/>
              <a:t>in</a:t>
            </a:r>
            <a:r>
              <a:rPr lang="zh-TW" altLang="en-US" dirty="0"/>
              <a:t> </a:t>
            </a:r>
            <a:r>
              <a:rPr lang="en-US" altLang="zh-TW" dirty="0"/>
              <a:t>the</a:t>
            </a:r>
            <a:r>
              <a:rPr lang="zh-TW" altLang="en-US" dirty="0"/>
              <a:t> </a:t>
            </a:r>
            <a:r>
              <a:rPr lang="en-US" altLang="zh-TW" dirty="0"/>
              <a:t>20</a:t>
            </a:r>
            <a:r>
              <a:rPr lang="en-US" altLang="zh-TW" baseline="30000" dirty="0"/>
              <a:t>th</a:t>
            </a:r>
            <a:r>
              <a:rPr lang="zh-TW" altLang="en-US" dirty="0"/>
              <a:t> </a:t>
            </a:r>
            <a:r>
              <a:rPr lang="en-US" altLang="zh-TW" dirty="0"/>
              <a:t>century.</a:t>
            </a:r>
            <a:r>
              <a:rPr lang="zh-TW" altLang="en-US" dirty="0"/>
              <a:t> </a:t>
            </a:r>
            <a:r>
              <a:rPr lang="en-US" altLang="zh-TW" dirty="0"/>
              <a:t>Why?</a:t>
            </a:r>
          </a:p>
          <a:p>
            <a:r>
              <a:rPr lang="en-US" altLang="zh-TW" dirty="0"/>
              <a:t>Then, consider in context: What is author arguing? How to connect to this class?</a:t>
            </a:r>
          </a:p>
          <a:p>
            <a:r>
              <a:rPr lang="en-US" altLang="zh-TW" dirty="0"/>
              <a:t>How can we connect info/argument in this article to themes of this class?</a:t>
            </a:r>
          </a:p>
        </p:txBody>
      </p:sp>
      <p:sp>
        <p:nvSpPr>
          <p:cNvPr id="4" name="Slide Number Placeholder 3">
            <a:extLst>
              <a:ext uri="{FF2B5EF4-FFF2-40B4-BE49-F238E27FC236}">
                <a16:creationId xmlns:a16="http://schemas.microsoft.com/office/drawing/2014/main" id="{149EEED5-3B4D-26BB-D45F-AE33FF322F16}"/>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6605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EF993-42FD-2DE6-39A6-7BCB453C4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27DF29-DEA0-B663-6A7C-BA84A82A791B}"/>
              </a:ext>
            </a:extLst>
          </p:cNvPr>
          <p:cNvSpPr>
            <a:spLocks noGrp="1"/>
          </p:cNvSpPr>
          <p:nvPr>
            <p:ph type="title"/>
          </p:nvPr>
        </p:nvSpPr>
        <p:spPr/>
        <p:txBody>
          <a:bodyPr>
            <a:normAutofit fontScale="90000"/>
          </a:bodyPr>
          <a:lstStyle/>
          <a:p>
            <a:r>
              <a:rPr lang="en-US" altLang="zh-TW" dirty="0"/>
              <a:t>Reverse</a:t>
            </a:r>
            <a:r>
              <a:rPr lang="zh-TW" altLang="en-US" dirty="0"/>
              <a:t> </a:t>
            </a:r>
            <a:r>
              <a:rPr lang="en-US" altLang="zh-TW" dirty="0"/>
              <a:t>outline</a:t>
            </a:r>
            <a:br>
              <a:rPr lang="en-US" altLang="zh-TW" dirty="0"/>
            </a:br>
            <a:r>
              <a:rPr lang="en-US" altLang="zh-TW" sz="3300" dirty="0"/>
              <a:t>Another</a:t>
            </a:r>
            <a:r>
              <a:rPr lang="zh-TW" altLang="en-US" sz="3300" dirty="0"/>
              <a:t> </a:t>
            </a:r>
            <a:r>
              <a:rPr lang="en-US" altLang="zh-TW" sz="3300" dirty="0"/>
              <a:t>strategy</a:t>
            </a:r>
            <a:r>
              <a:rPr lang="zh-TW" altLang="en-US" sz="3300" dirty="0"/>
              <a:t> </a:t>
            </a:r>
            <a:r>
              <a:rPr lang="en-US" altLang="zh-TW" sz="3300" dirty="0"/>
              <a:t>to</a:t>
            </a:r>
            <a:r>
              <a:rPr lang="zh-TW" altLang="en-US" sz="3300" dirty="0"/>
              <a:t> </a:t>
            </a:r>
            <a:r>
              <a:rPr lang="en-US" altLang="zh-TW" sz="3300" dirty="0"/>
              <a:t>create</a:t>
            </a:r>
            <a:r>
              <a:rPr lang="zh-TW" altLang="en-US" sz="3300" dirty="0"/>
              <a:t> </a:t>
            </a:r>
            <a:r>
              <a:rPr lang="en-US" altLang="zh-TW" sz="3300" dirty="0"/>
              <a:t>‘active</a:t>
            </a:r>
            <a:r>
              <a:rPr lang="zh-TW" altLang="en-US" sz="3300" dirty="0"/>
              <a:t> </a:t>
            </a:r>
            <a:r>
              <a:rPr lang="en-US" altLang="zh-TW" sz="3300" dirty="0"/>
              <a:t>reading’</a:t>
            </a:r>
            <a:r>
              <a:rPr lang="zh-TW" altLang="en-US" sz="3300" dirty="0"/>
              <a:t> </a:t>
            </a:r>
            <a:r>
              <a:rPr lang="en-US" altLang="zh-TW" sz="3300" dirty="0"/>
              <a:t>questions</a:t>
            </a:r>
            <a:r>
              <a:rPr lang="zh-TW" altLang="en-US" sz="3300" dirty="0"/>
              <a:t> </a:t>
            </a:r>
            <a:br>
              <a:rPr lang="en-US" altLang="zh-TW" dirty="0"/>
            </a:br>
            <a:endParaRPr lang="en-US" altLang="zh-TW" dirty="0"/>
          </a:p>
        </p:txBody>
      </p:sp>
      <p:sp>
        <p:nvSpPr>
          <p:cNvPr id="3" name="Content Placeholder 2">
            <a:extLst>
              <a:ext uri="{FF2B5EF4-FFF2-40B4-BE49-F238E27FC236}">
                <a16:creationId xmlns:a16="http://schemas.microsoft.com/office/drawing/2014/main" id="{0674310A-72EE-427E-4547-4C0144ABBC83}"/>
              </a:ext>
            </a:extLst>
          </p:cNvPr>
          <p:cNvSpPr>
            <a:spLocks noGrp="1"/>
          </p:cNvSpPr>
          <p:nvPr>
            <p:ph idx="1"/>
          </p:nvPr>
        </p:nvSpPr>
        <p:spPr>
          <a:xfrm>
            <a:off x="2390429" y="1905000"/>
            <a:ext cx="8915400" cy="4525618"/>
          </a:xfrm>
        </p:spPr>
        <p:txBody>
          <a:bodyPr>
            <a:normAutofit/>
          </a:bodyPr>
          <a:lstStyle/>
          <a:p>
            <a:pPr>
              <a:lnSpc>
                <a:spcPct val="70000"/>
              </a:lnSpc>
            </a:pPr>
            <a:r>
              <a:rPr lang="en-US" altLang="zh-TW" sz="1900" dirty="0"/>
              <a:t>Write</a:t>
            </a:r>
            <a:r>
              <a:rPr lang="zh-TW" altLang="en-US" sz="1900" dirty="0"/>
              <a:t> </a:t>
            </a:r>
            <a:r>
              <a:rPr lang="en-US" altLang="zh-TW" sz="1900" dirty="0"/>
              <a:t>q’s</a:t>
            </a:r>
            <a:r>
              <a:rPr lang="zh-TW" altLang="en-US" sz="1900" dirty="0"/>
              <a:t> </a:t>
            </a:r>
            <a:r>
              <a:rPr lang="en-US" altLang="zh-TW" sz="1900" dirty="0"/>
              <a:t>based</a:t>
            </a:r>
            <a:r>
              <a:rPr lang="zh-TW" altLang="en-US" sz="1900" dirty="0"/>
              <a:t> </a:t>
            </a:r>
            <a:r>
              <a:rPr lang="en-US" altLang="zh-TW" sz="1900" dirty="0"/>
              <a:t>on</a:t>
            </a:r>
            <a:r>
              <a:rPr lang="zh-TW" altLang="en-US" sz="1900" dirty="0"/>
              <a:t> </a:t>
            </a:r>
            <a:r>
              <a:rPr lang="en-US" altLang="zh-TW" sz="1900" dirty="0"/>
              <a:t>section</a:t>
            </a:r>
            <a:r>
              <a:rPr lang="zh-TW" altLang="en-US" sz="1900" dirty="0"/>
              <a:t> </a:t>
            </a:r>
            <a:r>
              <a:rPr lang="en-US" altLang="zh-TW" sz="1900" dirty="0"/>
              <a:t>subtitles,</a:t>
            </a:r>
            <a:r>
              <a:rPr lang="zh-TW" altLang="en-US" sz="1900" dirty="0"/>
              <a:t> </a:t>
            </a:r>
            <a:r>
              <a:rPr lang="en-US" altLang="zh-TW" sz="1900" dirty="0"/>
              <a:t>answer</a:t>
            </a:r>
            <a:r>
              <a:rPr lang="zh-TW" altLang="en-US" sz="1900" dirty="0"/>
              <a:t> </a:t>
            </a:r>
            <a:r>
              <a:rPr lang="en-US" altLang="zh-TW" sz="1900" dirty="0"/>
              <a:t>after</a:t>
            </a:r>
            <a:r>
              <a:rPr lang="zh-TW" altLang="en-US" sz="1900" dirty="0"/>
              <a:t> </a:t>
            </a:r>
            <a:r>
              <a:rPr lang="en-US" altLang="zh-TW" sz="1900" dirty="0"/>
              <a:t>reading</a:t>
            </a:r>
            <a:r>
              <a:rPr lang="zh-TW" altLang="en-US" sz="1900" dirty="0"/>
              <a:t> </a:t>
            </a:r>
            <a:r>
              <a:rPr lang="en-US" altLang="zh-TW" sz="1900" dirty="0"/>
              <a:t>each</a:t>
            </a:r>
            <a:r>
              <a:rPr lang="zh-TW" altLang="en-US" sz="1900" dirty="0"/>
              <a:t> </a:t>
            </a:r>
            <a:r>
              <a:rPr lang="en-US" altLang="zh-TW" sz="1900" dirty="0"/>
              <a:t>section.</a:t>
            </a:r>
          </a:p>
          <a:p>
            <a:pPr>
              <a:lnSpc>
                <a:spcPct val="70000"/>
              </a:lnSpc>
            </a:pPr>
            <a:r>
              <a:rPr lang="en-US" altLang="zh-TW" sz="1900" dirty="0"/>
              <a:t>Consider</a:t>
            </a:r>
            <a:r>
              <a:rPr lang="zh-TW" altLang="en-US" sz="1900" dirty="0"/>
              <a:t> </a:t>
            </a:r>
            <a:r>
              <a:rPr lang="en-US" altLang="zh-TW" sz="1900" dirty="0"/>
              <a:t>how</a:t>
            </a:r>
            <a:r>
              <a:rPr lang="zh-TW" altLang="en-US" sz="1900" dirty="0"/>
              <a:t> </a:t>
            </a:r>
            <a:r>
              <a:rPr lang="en-US" altLang="zh-TW" sz="1900" dirty="0"/>
              <a:t>each</a:t>
            </a:r>
            <a:r>
              <a:rPr lang="zh-TW" altLang="en-US" sz="1900" dirty="0"/>
              <a:t> </a:t>
            </a:r>
            <a:r>
              <a:rPr lang="en-US" altLang="zh-TW" sz="1900" dirty="0"/>
              <a:t>relates</a:t>
            </a:r>
            <a:r>
              <a:rPr lang="zh-TW" altLang="en-US" sz="1900" dirty="0"/>
              <a:t> </a:t>
            </a:r>
            <a:r>
              <a:rPr lang="en-US" altLang="zh-TW" sz="1900" dirty="0"/>
              <a:t>to</a:t>
            </a:r>
            <a:r>
              <a:rPr lang="zh-TW" altLang="en-US" sz="1900" dirty="0"/>
              <a:t> </a:t>
            </a:r>
            <a:r>
              <a:rPr lang="en-US" altLang="zh-TW" sz="1900" dirty="0"/>
              <a:t>topic/argument</a:t>
            </a:r>
            <a:r>
              <a:rPr lang="zh-TW" altLang="en-US" sz="1900" dirty="0"/>
              <a:t> </a:t>
            </a:r>
            <a:r>
              <a:rPr lang="en-US" altLang="zh-TW" sz="1900" dirty="0"/>
              <a:t>of</a:t>
            </a:r>
            <a:r>
              <a:rPr lang="zh-TW" altLang="en-US" sz="1900" dirty="0"/>
              <a:t> </a:t>
            </a:r>
            <a:r>
              <a:rPr lang="en-US" altLang="zh-TW" sz="1900" dirty="0"/>
              <a:t>article.</a:t>
            </a:r>
          </a:p>
          <a:p>
            <a:pPr>
              <a:lnSpc>
                <a:spcPct val="70000"/>
              </a:lnSpc>
              <a:buFont typeface="Wingdings" pitchFamily="2" charset="2"/>
              <a:buChar char="Ø"/>
            </a:pPr>
            <a:r>
              <a:rPr lang="en-US" sz="1900" dirty="0"/>
              <a:t>What Is </a:t>
            </a:r>
            <a:r>
              <a:rPr lang="en-US" sz="1900" dirty="0" err="1"/>
              <a:t>P’ansori</a:t>
            </a:r>
            <a:r>
              <a:rPr lang="en-US" sz="1900" dirty="0"/>
              <a:t>? Historical Origins and Contemporary Fusion</a:t>
            </a:r>
          </a:p>
          <a:p>
            <a:pPr lvl="1">
              <a:lnSpc>
                <a:spcPct val="70000"/>
              </a:lnSpc>
              <a:buFont typeface="Wingdings" pitchFamily="2" charset="2"/>
              <a:buChar char="v"/>
            </a:pPr>
            <a:r>
              <a:rPr lang="en-US" altLang="zh-TW" sz="1900" dirty="0"/>
              <a:t>Already</a:t>
            </a:r>
            <a:r>
              <a:rPr lang="zh-TW" altLang="en-US" sz="1900" dirty="0"/>
              <a:t> </a:t>
            </a:r>
            <a:r>
              <a:rPr lang="en-US" altLang="zh-TW" sz="1900" dirty="0"/>
              <a:t>a</a:t>
            </a:r>
            <a:r>
              <a:rPr lang="zh-TW" altLang="en-US" sz="1900" dirty="0"/>
              <a:t> </a:t>
            </a:r>
            <a:r>
              <a:rPr lang="en-US" altLang="zh-TW" sz="1900" dirty="0"/>
              <a:t>question,</a:t>
            </a:r>
            <a:r>
              <a:rPr lang="zh-TW" altLang="en-US" sz="1900" dirty="0"/>
              <a:t> </a:t>
            </a:r>
            <a:r>
              <a:rPr lang="en-US" altLang="zh-TW" sz="1900" dirty="0"/>
              <a:t>but</a:t>
            </a:r>
            <a:r>
              <a:rPr lang="zh-TW" altLang="en-US" sz="1900" dirty="0"/>
              <a:t> </a:t>
            </a:r>
            <a:r>
              <a:rPr lang="en-US" altLang="zh-TW" sz="1900" dirty="0"/>
              <a:t>why</a:t>
            </a:r>
            <a:r>
              <a:rPr lang="zh-TW" altLang="en-US" sz="1900" dirty="0"/>
              <a:t> </a:t>
            </a:r>
            <a:r>
              <a:rPr lang="en-US" altLang="zh-TW" sz="1900" dirty="0"/>
              <a:t>‘contemporary</a:t>
            </a:r>
            <a:r>
              <a:rPr lang="zh-TW" altLang="en-US" sz="1900" dirty="0"/>
              <a:t> </a:t>
            </a:r>
            <a:r>
              <a:rPr lang="en-US" altLang="zh-TW" sz="1900" dirty="0"/>
              <a:t>fusion’? What are its ‘origins’?</a:t>
            </a:r>
            <a:endParaRPr lang="en-US" sz="1900" dirty="0"/>
          </a:p>
          <a:p>
            <a:pPr>
              <a:lnSpc>
                <a:spcPct val="70000"/>
              </a:lnSpc>
              <a:buFont typeface="Wingdings" pitchFamily="2" charset="2"/>
              <a:buChar char="Ø"/>
            </a:pPr>
            <a:r>
              <a:rPr lang="en-US" sz="1900" dirty="0"/>
              <a:t>How “New” Is New </a:t>
            </a:r>
            <a:r>
              <a:rPr lang="en-US" sz="1900" dirty="0" err="1"/>
              <a:t>P’ansori</a:t>
            </a:r>
            <a:r>
              <a:rPr lang="en-US" sz="1900" dirty="0"/>
              <a:t>?</a:t>
            </a:r>
            <a:r>
              <a:rPr lang="zh-TW" altLang="en-US" sz="1900" dirty="0"/>
              <a:t> </a:t>
            </a:r>
            <a:r>
              <a:rPr lang="en-US" altLang="zh-TW" sz="1900" dirty="0"/>
              <a:t>(Already</a:t>
            </a:r>
            <a:r>
              <a:rPr lang="zh-TW" altLang="en-US" sz="1900" dirty="0"/>
              <a:t> </a:t>
            </a:r>
            <a:r>
              <a:rPr lang="en-US" altLang="zh-TW" sz="1900" dirty="0"/>
              <a:t>a</a:t>
            </a:r>
            <a:r>
              <a:rPr lang="zh-TW" altLang="en-US" sz="1900" dirty="0"/>
              <a:t> </a:t>
            </a:r>
            <a:r>
              <a:rPr lang="en-US" altLang="zh-TW" sz="1900" dirty="0"/>
              <a:t>question!)</a:t>
            </a:r>
            <a:endParaRPr lang="en-US" sz="1900" dirty="0"/>
          </a:p>
          <a:p>
            <a:pPr lvl="1">
              <a:lnSpc>
                <a:spcPct val="70000"/>
              </a:lnSpc>
              <a:buFont typeface="Wingdings" pitchFamily="2" charset="2"/>
              <a:buChar char="Ø"/>
            </a:pPr>
            <a:r>
              <a:rPr lang="en-US" sz="1900" dirty="0"/>
              <a:t>Patriotic </a:t>
            </a:r>
            <a:r>
              <a:rPr lang="en-US" sz="1900" dirty="0" err="1"/>
              <a:t>P’ansori</a:t>
            </a:r>
            <a:endParaRPr lang="en-US" sz="1900" dirty="0"/>
          </a:p>
          <a:p>
            <a:pPr lvl="1">
              <a:lnSpc>
                <a:spcPct val="70000"/>
              </a:lnSpc>
              <a:buFont typeface="Wingdings" pitchFamily="2" charset="2"/>
              <a:buChar char="Ø"/>
            </a:pPr>
            <a:r>
              <a:rPr lang="en-US" sz="1900" dirty="0"/>
              <a:t>Religious </a:t>
            </a:r>
            <a:r>
              <a:rPr lang="en-US" sz="1900" dirty="0" err="1"/>
              <a:t>P’ansori</a:t>
            </a:r>
            <a:endParaRPr lang="en-US" sz="1900" dirty="0"/>
          </a:p>
          <a:p>
            <a:pPr lvl="1">
              <a:lnSpc>
                <a:spcPct val="70000"/>
              </a:lnSpc>
              <a:buFont typeface="Wingdings" pitchFamily="2" charset="2"/>
              <a:buChar char="Ø"/>
            </a:pPr>
            <a:r>
              <a:rPr lang="en-US" sz="1900" dirty="0"/>
              <a:t>Sociopolitical </a:t>
            </a:r>
            <a:r>
              <a:rPr lang="en-US" sz="1900" dirty="0" err="1"/>
              <a:t>P’ansori</a:t>
            </a:r>
            <a:r>
              <a:rPr lang="zh-TW" altLang="en-US" sz="1900" dirty="0"/>
              <a:t> </a:t>
            </a:r>
            <a:r>
              <a:rPr lang="en-US" altLang="zh-TW" sz="1900" dirty="0"/>
              <a:t>(All</a:t>
            </a:r>
            <a:r>
              <a:rPr lang="zh-TW" altLang="en-US" sz="1900" dirty="0"/>
              <a:t> </a:t>
            </a:r>
            <a:r>
              <a:rPr lang="en-US" altLang="zh-TW" sz="1900" dirty="0"/>
              <a:t>straightforward:</a:t>
            </a:r>
            <a:r>
              <a:rPr lang="zh-TW" altLang="en-US" sz="1900" dirty="0"/>
              <a:t> </a:t>
            </a:r>
            <a:r>
              <a:rPr lang="en-US" altLang="zh-TW" sz="1900" dirty="0"/>
              <a:t>Definitions</a:t>
            </a:r>
            <a:r>
              <a:rPr lang="zh-TW" altLang="en-US" sz="1900" dirty="0"/>
              <a:t> </a:t>
            </a:r>
            <a:r>
              <a:rPr lang="en-US" altLang="zh-TW" sz="1900" dirty="0"/>
              <a:t>&amp;</a:t>
            </a:r>
            <a:r>
              <a:rPr lang="zh-TW" altLang="en-US" sz="1900" dirty="0"/>
              <a:t> </a:t>
            </a:r>
            <a:r>
              <a:rPr lang="en-US" altLang="zh-TW" sz="1900" dirty="0"/>
              <a:t>distinctions)</a:t>
            </a:r>
            <a:endParaRPr lang="en-US" sz="1900" dirty="0"/>
          </a:p>
          <a:p>
            <a:pPr lvl="1">
              <a:lnSpc>
                <a:spcPct val="70000"/>
              </a:lnSpc>
              <a:buFont typeface="Wingdings" pitchFamily="2" charset="2"/>
              <a:buChar char="Ø"/>
            </a:pPr>
            <a:r>
              <a:rPr lang="en-US" sz="1900" dirty="0"/>
              <a:t>Compositional Process and Creative Techniques in New </a:t>
            </a:r>
            <a:r>
              <a:rPr lang="en-US" sz="1900" dirty="0" err="1"/>
              <a:t>P’ansori</a:t>
            </a:r>
            <a:endParaRPr lang="en-US" sz="1900" dirty="0"/>
          </a:p>
          <a:p>
            <a:pPr lvl="2">
              <a:lnSpc>
                <a:spcPct val="70000"/>
              </a:lnSpc>
              <a:buFont typeface="Wingdings" pitchFamily="2" charset="2"/>
              <a:buChar char="v"/>
            </a:pPr>
            <a:r>
              <a:rPr lang="en-US" altLang="zh-TW" sz="1900" dirty="0"/>
              <a:t>How</a:t>
            </a:r>
            <a:r>
              <a:rPr lang="zh-TW" altLang="en-US" sz="1900" dirty="0"/>
              <a:t> </a:t>
            </a:r>
            <a:r>
              <a:rPr lang="en-US" altLang="zh-TW" sz="1900" dirty="0"/>
              <a:t>do</a:t>
            </a:r>
            <a:r>
              <a:rPr lang="zh-TW" altLang="en-US" sz="1900" dirty="0"/>
              <a:t> </a:t>
            </a:r>
            <a:r>
              <a:rPr lang="en-US" altLang="zh-TW" sz="1900" dirty="0"/>
              <a:t>‘process’</a:t>
            </a:r>
            <a:r>
              <a:rPr lang="zh-TW" altLang="en-US" sz="1900" dirty="0"/>
              <a:t> </a:t>
            </a:r>
            <a:r>
              <a:rPr lang="en-US" altLang="zh-TW" sz="1900" dirty="0"/>
              <a:t>&amp;</a:t>
            </a:r>
            <a:r>
              <a:rPr lang="zh-TW" altLang="en-US" sz="1900" dirty="0"/>
              <a:t> </a:t>
            </a:r>
            <a:r>
              <a:rPr lang="en-US" altLang="zh-TW" sz="1900" dirty="0"/>
              <a:t>‘technique’</a:t>
            </a:r>
            <a:r>
              <a:rPr lang="zh-TW" altLang="en-US" sz="1900" dirty="0"/>
              <a:t> </a:t>
            </a:r>
            <a:r>
              <a:rPr lang="en-US" altLang="zh-TW" sz="1900" dirty="0"/>
              <a:t>differ</a:t>
            </a:r>
            <a:r>
              <a:rPr lang="zh-TW" altLang="en-US" sz="1900" dirty="0"/>
              <a:t> </a:t>
            </a:r>
            <a:r>
              <a:rPr lang="en-US" altLang="zh-TW" sz="1900" dirty="0"/>
              <a:t>b/w</a:t>
            </a:r>
            <a:r>
              <a:rPr lang="zh-TW" altLang="en-US" sz="1900" dirty="0"/>
              <a:t> </a:t>
            </a:r>
            <a:r>
              <a:rPr lang="en-US" altLang="zh-TW" sz="1900" dirty="0"/>
              <a:t>“new”</a:t>
            </a:r>
            <a:r>
              <a:rPr lang="zh-TW" altLang="en-US" sz="1900" dirty="0"/>
              <a:t> </a:t>
            </a:r>
            <a:r>
              <a:rPr lang="en-US" altLang="zh-TW" sz="1900" dirty="0"/>
              <a:t>&amp;</a:t>
            </a:r>
            <a:r>
              <a:rPr lang="zh-TW" altLang="en-US" sz="1900" dirty="0"/>
              <a:t> </a:t>
            </a:r>
            <a:r>
              <a:rPr lang="en-US" altLang="zh-TW" sz="1900" dirty="0"/>
              <a:t>“traditional”</a:t>
            </a:r>
            <a:r>
              <a:rPr lang="zh-TW" altLang="en-US" sz="1900" dirty="0"/>
              <a:t> </a:t>
            </a:r>
            <a:r>
              <a:rPr lang="en-US" altLang="zh-TW" sz="1900" dirty="0" err="1"/>
              <a:t>p’ansori</a:t>
            </a:r>
            <a:r>
              <a:rPr lang="en-US" altLang="zh-TW" sz="1900" dirty="0"/>
              <a:t>?</a:t>
            </a:r>
          </a:p>
          <a:p>
            <a:pPr>
              <a:lnSpc>
                <a:spcPct val="70000"/>
              </a:lnSpc>
            </a:pPr>
            <a:r>
              <a:rPr lang="en-US" altLang="zh-TW" sz="1900" dirty="0"/>
              <a:t>Continue</a:t>
            </a:r>
            <a:r>
              <a:rPr lang="zh-TW" altLang="en-US" sz="1900" dirty="0"/>
              <a:t> </a:t>
            </a:r>
            <a:r>
              <a:rPr lang="en-US" altLang="zh-TW" sz="1900" dirty="0"/>
              <a:t>for</a:t>
            </a:r>
            <a:r>
              <a:rPr lang="zh-TW" altLang="en-US" sz="1900" dirty="0"/>
              <a:t> </a:t>
            </a:r>
            <a:r>
              <a:rPr lang="en-US" altLang="zh-TW" sz="1900" dirty="0"/>
              <a:t>remaining</a:t>
            </a:r>
            <a:r>
              <a:rPr lang="zh-TW" altLang="en-US" sz="1900" dirty="0"/>
              <a:t> </a:t>
            </a:r>
            <a:r>
              <a:rPr lang="en-US" altLang="zh-TW" sz="1900" dirty="0"/>
              <a:t>sections,</a:t>
            </a:r>
            <a:r>
              <a:rPr lang="zh-TW" altLang="en-US" sz="1900" dirty="0"/>
              <a:t> </a:t>
            </a:r>
            <a:r>
              <a:rPr lang="en-US" altLang="zh-TW" sz="1900" dirty="0"/>
              <a:t>note</a:t>
            </a:r>
            <a:r>
              <a:rPr lang="zh-TW" altLang="en-US" sz="1900" dirty="0"/>
              <a:t> </a:t>
            </a:r>
            <a:r>
              <a:rPr lang="en-US" altLang="zh-TW" sz="1900" dirty="0"/>
              <a:t>that</a:t>
            </a:r>
            <a:r>
              <a:rPr lang="zh-TW" altLang="en-US" sz="1900" dirty="0"/>
              <a:t> </a:t>
            </a:r>
            <a:r>
              <a:rPr lang="en-US" altLang="zh-TW" sz="1900" dirty="0"/>
              <a:t>last</a:t>
            </a:r>
            <a:r>
              <a:rPr lang="zh-TW" altLang="en-US" sz="1900" dirty="0"/>
              <a:t> </a:t>
            </a:r>
            <a:r>
              <a:rPr lang="en-US" altLang="zh-TW" sz="1900" dirty="0"/>
              <a:t>is</a:t>
            </a:r>
            <a:r>
              <a:rPr lang="zh-TW" altLang="en-US" sz="1900" dirty="0"/>
              <a:t> </a:t>
            </a:r>
            <a:r>
              <a:rPr lang="en-US" altLang="zh-TW" sz="1900" dirty="0"/>
              <a:t>‘conclusion.’</a:t>
            </a:r>
            <a:endParaRPr lang="en-US" sz="1900" dirty="0"/>
          </a:p>
          <a:p>
            <a:r>
              <a:rPr lang="en-US" dirty="0"/>
              <a:t>As before, consider in context of unit, module, class. </a:t>
            </a:r>
          </a:p>
          <a:p>
            <a:r>
              <a:rPr lang="en-US" dirty="0"/>
              <a:t>Adaptation? Heritagization? Invented tradition?</a:t>
            </a:r>
          </a:p>
        </p:txBody>
      </p:sp>
      <p:sp>
        <p:nvSpPr>
          <p:cNvPr id="4" name="Slide Number Placeholder 3">
            <a:extLst>
              <a:ext uri="{FF2B5EF4-FFF2-40B4-BE49-F238E27FC236}">
                <a16:creationId xmlns:a16="http://schemas.microsoft.com/office/drawing/2014/main" id="{9E859D4D-A1A3-9B49-99DF-EB81E0C70321}"/>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26085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C8CA-CEB5-2547-AE4C-C1EDECA42B12}"/>
              </a:ext>
            </a:extLst>
          </p:cNvPr>
          <p:cNvSpPr>
            <a:spLocks noGrp="1"/>
          </p:cNvSpPr>
          <p:nvPr>
            <p:ph type="title"/>
          </p:nvPr>
        </p:nvSpPr>
        <p:spPr/>
        <p:txBody>
          <a:bodyPr/>
          <a:lstStyle/>
          <a:p>
            <a:r>
              <a:rPr lang="en-CA" dirty="0"/>
              <a:t>‘New </a:t>
            </a:r>
            <a:r>
              <a:rPr lang="en-CA" dirty="0" err="1"/>
              <a:t>P’ansori</a:t>
            </a:r>
            <a:r>
              <a:rPr lang="en-CA" dirty="0"/>
              <a:t>’ in the 20</a:t>
            </a:r>
            <a:r>
              <a:rPr lang="en-CA" baseline="30000" dirty="0"/>
              <a:t>th</a:t>
            </a:r>
            <a:r>
              <a:rPr lang="en-CA" dirty="0"/>
              <a:t> century</a:t>
            </a:r>
          </a:p>
        </p:txBody>
      </p:sp>
      <p:sp>
        <p:nvSpPr>
          <p:cNvPr id="3" name="Content Placeholder 2">
            <a:extLst>
              <a:ext uri="{FF2B5EF4-FFF2-40B4-BE49-F238E27FC236}">
                <a16:creationId xmlns:a16="http://schemas.microsoft.com/office/drawing/2014/main" id="{3165BE6B-1510-B4D1-2816-A2CB123226C7}"/>
              </a:ext>
            </a:extLst>
          </p:cNvPr>
          <p:cNvSpPr>
            <a:spLocks noGrp="1"/>
          </p:cNvSpPr>
          <p:nvPr>
            <p:ph idx="1"/>
          </p:nvPr>
        </p:nvSpPr>
        <p:spPr>
          <a:xfrm>
            <a:off x="2589212" y="2133600"/>
            <a:ext cx="9158840" cy="4100290"/>
          </a:xfrm>
        </p:spPr>
        <p:txBody>
          <a:bodyPr>
            <a:normAutofit fontScale="92500" lnSpcReduction="20000"/>
          </a:bodyPr>
          <a:lstStyle/>
          <a:p>
            <a:r>
              <a:rPr lang="en-US" altLang="zh-TW" dirty="0"/>
              <a:t>What makes ‘New</a:t>
            </a:r>
            <a:r>
              <a:rPr lang="zh-TW" altLang="en-US" dirty="0"/>
              <a:t> </a:t>
            </a:r>
            <a:r>
              <a:rPr lang="en-US" altLang="zh-TW" dirty="0" err="1"/>
              <a:t>p’ansori</a:t>
            </a:r>
            <a:r>
              <a:rPr lang="en-US" altLang="zh-TW" dirty="0"/>
              <a:t>’ new?</a:t>
            </a:r>
          </a:p>
          <a:p>
            <a:pPr lvl="1"/>
            <a:r>
              <a:rPr lang="en-US" altLang="zh-TW" sz="1800" dirty="0" err="1"/>
              <a:t>P’ansori</a:t>
            </a:r>
            <a:r>
              <a:rPr lang="zh-TW" altLang="en-US" sz="1800" dirty="0"/>
              <a:t> </a:t>
            </a:r>
            <a:r>
              <a:rPr lang="en-US" altLang="zh-TW" sz="1800" dirty="0"/>
              <a:t>created</a:t>
            </a:r>
            <a:r>
              <a:rPr lang="zh-TW" altLang="en-US" sz="1800" dirty="0"/>
              <a:t> </a:t>
            </a:r>
            <a:r>
              <a:rPr lang="en-US" altLang="zh-TW" sz="1800" dirty="0"/>
              <a:t>since</a:t>
            </a:r>
            <a:r>
              <a:rPr lang="zh-TW" altLang="en-US" sz="1800" dirty="0"/>
              <a:t> </a:t>
            </a:r>
            <a:r>
              <a:rPr lang="en-US" altLang="zh-TW" sz="1800" dirty="0"/>
              <a:t>early</a:t>
            </a:r>
            <a:r>
              <a:rPr lang="zh-TW" altLang="en-US" sz="1800" dirty="0"/>
              <a:t> </a:t>
            </a:r>
            <a:r>
              <a:rPr lang="en-US" altLang="zh-TW" sz="1800" dirty="0"/>
              <a:t>20</a:t>
            </a:r>
            <a:r>
              <a:rPr lang="en-US" altLang="zh-TW" sz="1800" baseline="30000" dirty="0"/>
              <a:t>th</a:t>
            </a:r>
            <a:r>
              <a:rPr lang="zh-TW" altLang="en-US" sz="1800" baseline="30000" dirty="0"/>
              <a:t> </a:t>
            </a:r>
            <a:r>
              <a:rPr lang="en-US" altLang="zh-TW" sz="1800" dirty="0"/>
              <a:t>cent.,</a:t>
            </a:r>
            <a:r>
              <a:rPr lang="zh-TW" altLang="en-US" sz="1800" dirty="0"/>
              <a:t> </a:t>
            </a:r>
            <a:r>
              <a:rPr lang="en-US" altLang="zh-TW" sz="1800" dirty="0"/>
              <a:t>not</a:t>
            </a:r>
            <a:r>
              <a:rPr lang="zh-TW" altLang="en-US" sz="1800" dirty="0"/>
              <a:t> </a:t>
            </a:r>
            <a:r>
              <a:rPr lang="en-US" altLang="zh-TW" sz="1800" dirty="0"/>
              <a:t>adapted</a:t>
            </a:r>
            <a:r>
              <a:rPr lang="zh-TW" altLang="en-US" sz="1800" dirty="0"/>
              <a:t> </a:t>
            </a:r>
            <a:r>
              <a:rPr lang="en-US" altLang="zh-TW" sz="1800" dirty="0"/>
              <a:t>from</a:t>
            </a:r>
            <a:r>
              <a:rPr lang="zh-TW" altLang="en-US" sz="1800" dirty="0"/>
              <a:t> </a:t>
            </a:r>
            <a:r>
              <a:rPr lang="en-US" altLang="zh-TW" sz="1800" dirty="0"/>
              <a:t>5</a:t>
            </a:r>
            <a:r>
              <a:rPr lang="zh-TW" altLang="en-US" sz="1800" dirty="0"/>
              <a:t> </a:t>
            </a:r>
            <a:r>
              <a:rPr lang="en-US" altLang="zh-TW" sz="1800" dirty="0"/>
              <a:t>‘official’</a:t>
            </a:r>
            <a:r>
              <a:rPr lang="zh-TW" altLang="en-US" sz="1800" dirty="0"/>
              <a:t> </a:t>
            </a:r>
            <a:r>
              <a:rPr lang="en-US" altLang="zh-TW" sz="1800" dirty="0"/>
              <a:t>pieces</a:t>
            </a:r>
          </a:p>
          <a:p>
            <a:pPr lvl="1"/>
            <a:r>
              <a:rPr lang="en-US" altLang="zh-TW" sz="1800" dirty="0"/>
              <a:t>Written</a:t>
            </a:r>
            <a:r>
              <a:rPr lang="zh-TW" altLang="en-US" sz="1800" dirty="0"/>
              <a:t> </a:t>
            </a:r>
            <a:r>
              <a:rPr lang="en-US" altLang="zh-TW" sz="1800" dirty="0"/>
              <a:t>in</a:t>
            </a:r>
            <a:r>
              <a:rPr lang="zh-TW" altLang="en-US" sz="1800" dirty="0"/>
              <a:t> </a:t>
            </a:r>
            <a:r>
              <a:rPr lang="en-US" altLang="zh-TW" sz="1800" dirty="0"/>
              <a:t>response</a:t>
            </a:r>
            <a:r>
              <a:rPr lang="zh-TW" altLang="en-US" sz="1800" dirty="0"/>
              <a:t> </a:t>
            </a:r>
            <a:r>
              <a:rPr lang="en-US" altLang="zh-TW" sz="1800" dirty="0"/>
              <a:t>to</a:t>
            </a:r>
            <a:r>
              <a:rPr lang="zh-TW" altLang="en-US" sz="1800" dirty="0"/>
              <a:t> </a:t>
            </a:r>
            <a:r>
              <a:rPr lang="en-US" altLang="zh-TW" sz="1800" dirty="0"/>
              <a:t>current</a:t>
            </a:r>
            <a:r>
              <a:rPr lang="zh-TW" altLang="en-US" sz="1800" dirty="0"/>
              <a:t> </a:t>
            </a:r>
            <a:r>
              <a:rPr lang="en-US" altLang="zh-TW" sz="1800" dirty="0"/>
              <a:t>events,</a:t>
            </a:r>
            <a:r>
              <a:rPr lang="zh-TW" altLang="en-US" sz="1800" dirty="0"/>
              <a:t> </a:t>
            </a:r>
            <a:r>
              <a:rPr lang="en-US" altLang="zh-TW" sz="1800" dirty="0"/>
              <a:t>feelings,</a:t>
            </a:r>
            <a:r>
              <a:rPr lang="zh-TW" altLang="en-US" sz="1800" dirty="0"/>
              <a:t> </a:t>
            </a:r>
            <a:r>
              <a:rPr lang="en-US" altLang="zh-TW" sz="1800" dirty="0"/>
              <a:t>experiences</a:t>
            </a:r>
          </a:p>
          <a:p>
            <a:pPr lvl="1"/>
            <a:r>
              <a:rPr lang="en-US" altLang="zh-TW" sz="1800" dirty="0"/>
              <a:t>Often</a:t>
            </a:r>
            <a:r>
              <a:rPr lang="zh-TW" altLang="en-US" sz="1800" dirty="0"/>
              <a:t> </a:t>
            </a:r>
            <a:r>
              <a:rPr lang="en-US" altLang="zh-TW" sz="1800" dirty="0"/>
              <a:t>adapted</a:t>
            </a:r>
            <a:r>
              <a:rPr lang="zh-TW" altLang="en-US" sz="1800" dirty="0"/>
              <a:t> </a:t>
            </a:r>
            <a:r>
              <a:rPr lang="en-US" altLang="zh-TW" sz="1800" dirty="0"/>
              <a:t>from</a:t>
            </a:r>
            <a:r>
              <a:rPr lang="zh-TW" altLang="en-US" sz="1800" dirty="0"/>
              <a:t> </a:t>
            </a:r>
            <a:r>
              <a:rPr lang="en-US" altLang="zh-TW" sz="1800" dirty="0"/>
              <a:t>other</a:t>
            </a:r>
            <a:r>
              <a:rPr lang="zh-TW" altLang="en-US" sz="1800" dirty="0"/>
              <a:t> </a:t>
            </a:r>
            <a:r>
              <a:rPr lang="en-US" altLang="zh-TW" sz="1800" dirty="0"/>
              <a:t>sources:</a:t>
            </a:r>
            <a:r>
              <a:rPr lang="zh-TW" altLang="en-US" sz="1800" dirty="0"/>
              <a:t> </a:t>
            </a:r>
            <a:r>
              <a:rPr lang="en-US" altLang="zh-TW" sz="1800" dirty="0"/>
              <a:t>Poetry,</a:t>
            </a:r>
            <a:r>
              <a:rPr lang="zh-TW" altLang="en-US" sz="1800" dirty="0"/>
              <a:t> </a:t>
            </a:r>
            <a:r>
              <a:rPr lang="en-US" altLang="zh-TW" sz="1800" dirty="0"/>
              <a:t>biography,</a:t>
            </a:r>
            <a:r>
              <a:rPr lang="zh-TW" altLang="en-US" sz="1800" dirty="0"/>
              <a:t> </a:t>
            </a:r>
            <a:r>
              <a:rPr lang="en-US" altLang="zh-TW" sz="1800" dirty="0"/>
              <a:t>scripture....</a:t>
            </a:r>
          </a:p>
          <a:p>
            <a:r>
              <a:rPr lang="en-US" altLang="zh-TW" sz="2000" dirty="0"/>
              <a:t>What</a:t>
            </a:r>
            <a:r>
              <a:rPr lang="zh-TW" altLang="en-US" sz="2000" dirty="0"/>
              <a:t> </a:t>
            </a:r>
            <a:r>
              <a:rPr lang="en-US" altLang="zh-TW" sz="2000" dirty="0"/>
              <a:t>were</a:t>
            </a:r>
            <a:r>
              <a:rPr lang="zh-TW" altLang="en-US" sz="2000" dirty="0"/>
              <a:t> </a:t>
            </a:r>
            <a:r>
              <a:rPr lang="en-US" altLang="zh-TW" sz="2000" dirty="0"/>
              <a:t>new</a:t>
            </a:r>
            <a:r>
              <a:rPr lang="zh-TW" altLang="en-US" sz="2000" dirty="0"/>
              <a:t> </a:t>
            </a:r>
            <a:r>
              <a:rPr lang="en-US" altLang="zh-TW" sz="2000" dirty="0" err="1"/>
              <a:t>p’ansori</a:t>
            </a:r>
            <a:r>
              <a:rPr lang="zh-TW" altLang="en-US" sz="2000" dirty="0"/>
              <a:t> </a:t>
            </a:r>
            <a:r>
              <a:rPr lang="en-US" altLang="zh-TW" sz="2000" dirty="0"/>
              <a:t>about?</a:t>
            </a:r>
          </a:p>
          <a:p>
            <a:pPr lvl="1"/>
            <a:r>
              <a:rPr lang="en-US" altLang="zh-TW" sz="1800" dirty="0"/>
              <a:t>Patriotic</a:t>
            </a:r>
            <a:r>
              <a:rPr lang="zh-TW" altLang="en-US" sz="1800" dirty="0"/>
              <a:t> </a:t>
            </a:r>
            <a:r>
              <a:rPr lang="en-US" altLang="zh-TW" sz="1800" dirty="0"/>
              <a:t>(Anti-colonial,</a:t>
            </a:r>
            <a:r>
              <a:rPr lang="zh-TW" altLang="en-US" sz="1800" dirty="0"/>
              <a:t> </a:t>
            </a:r>
            <a:r>
              <a:rPr lang="en-US" altLang="zh-TW" sz="1800" dirty="0"/>
              <a:t>nationalist,</a:t>
            </a:r>
            <a:r>
              <a:rPr lang="zh-TW" altLang="en-US" sz="1800" dirty="0"/>
              <a:t> </a:t>
            </a:r>
            <a:r>
              <a:rPr lang="en-US" altLang="zh-TW" sz="1800" dirty="0"/>
              <a:t>etc.</a:t>
            </a:r>
            <a:r>
              <a:rPr lang="zh-TW" altLang="en-US" sz="1800" dirty="0"/>
              <a:t> </a:t>
            </a:r>
            <a:r>
              <a:rPr lang="en-US" altLang="zh-TW" sz="1800" dirty="0"/>
              <a:t>What</a:t>
            </a:r>
            <a:r>
              <a:rPr lang="zh-TW" altLang="en-US" sz="1800" dirty="0"/>
              <a:t> </a:t>
            </a:r>
            <a:r>
              <a:rPr lang="en-US" altLang="zh-TW" sz="1800" dirty="0"/>
              <a:t>is</a:t>
            </a:r>
            <a:r>
              <a:rPr lang="zh-TW" altLang="en-US" sz="1800" dirty="0"/>
              <a:t> </a:t>
            </a:r>
            <a:r>
              <a:rPr lang="en-US" altLang="zh-TW" sz="1800" dirty="0"/>
              <a:t>‘patriotic’</a:t>
            </a:r>
            <a:r>
              <a:rPr lang="zh-TW" altLang="en-US" sz="1800" dirty="0"/>
              <a:t> </a:t>
            </a:r>
            <a:r>
              <a:rPr lang="en-US" altLang="zh-TW" sz="1800" dirty="0"/>
              <a:t>in</a:t>
            </a:r>
            <a:r>
              <a:rPr lang="zh-TW" altLang="en-US" sz="1800" dirty="0"/>
              <a:t> </a:t>
            </a:r>
            <a:r>
              <a:rPr lang="en-US" altLang="zh-TW" sz="1800" dirty="0"/>
              <a:t>wake</a:t>
            </a:r>
            <a:r>
              <a:rPr lang="zh-TW" altLang="en-US" sz="1800" dirty="0"/>
              <a:t> </a:t>
            </a:r>
            <a:r>
              <a:rPr lang="en-US" altLang="zh-TW" sz="1800" dirty="0"/>
              <a:t>of</a:t>
            </a:r>
            <a:r>
              <a:rPr lang="zh-TW" altLang="en-US" sz="1800" dirty="0"/>
              <a:t> </a:t>
            </a:r>
            <a:r>
              <a:rPr lang="en-US" altLang="zh-TW" sz="1800" dirty="0"/>
              <a:t>N/S</a:t>
            </a:r>
            <a:r>
              <a:rPr lang="zh-TW" altLang="en-US" sz="1800" dirty="0"/>
              <a:t> </a:t>
            </a:r>
            <a:r>
              <a:rPr lang="en-US" altLang="zh-TW" sz="1800" dirty="0"/>
              <a:t>partition?)</a:t>
            </a:r>
          </a:p>
          <a:p>
            <a:pPr lvl="1"/>
            <a:r>
              <a:rPr lang="en-US" altLang="zh-TW" sz="1800" dirty="0"/>
              <a:t>Religious</a:t>
            </a:r>
            <a:r>
              <a:rPr lang="zh-TW" altLang="en-US" sz="1800" dirty="0"/>
              <a:t> </a:t>
            </a:r>
            <a:r>
              <a:rPr lang="en-US" altLang="zh-TW" sz="1800" dirty="0"/>
              <a:t>(Christian</a:t>
            </a:r>
            <a:r>
              <a:rPr lang="zh-TW" altLang="en-US" sz="1800" dirty="0"/>
              <a:t> </a:t>
            </a:r>
            <a:r>
              <a:rPr lang="en-US" altLang="zh-TW" sz="1800" dirty="0"/>
              <a:t>&amp;</a:t>
            </a:r>
            <a:r>
              <a:rPr lang="zh-TW" altLang="en-US" sz="1800" dirty="0"/>
              <a:t> </a:t>
            </a:r>
            <a:r>
              <a:rPr lang="en-US" altLang="zh-TW" sz="1800" dirty="0"/>
              <a:t>Buddhist,</a:t>
            </a:r>
            <a:r>
              <a:rPr lang="zh-TW" altLang="en-US" sz="1800" dirty="0"/>
              <a:t> </a:t>
            </a:r>
            <a:r>
              <a:rPr lang="en-US" altLang="zh-TW" sz="1800" dirty="0"/>
              <a:t>focus</a:t>
            </a:r>
            <a:r>
              <a:rPr lang="zh-TW" altLang="en-US" sz="1800" dirty="0"/>
              <a:t> </a:t>
            </a:r>
            <a:r>
              <a:rPr lang="en-US" altLang="zh-TW" sz="1800" dirty="0"/>
              <a:t>on</a:t>
            </a:r>
            <a:r>
              <a:rPr lang="zh-TW" altLang="en-US" sz="1800" dirty="0"/>
              <a:t> </a:t>
            </a:r>
            <a:r>
              <a:rPr lang="en-US" altLang="zh-TW" sz="1800" dirty="0"/>
              <a:t>recent</a:t>
            </a:r>
            <a:r>
              <a:rPr lang="zh-TW" altLang="en-US" sz="1800" dirty="0"/>
              <a:t> </a:t>
            </a:r>
            <a:r>
              <a:rPr lang="en-US" altLang="zh-TW" sz="1800" dirty="0"/>
              <a:t>figures</a:t>
            </a:r>
            <a:r>
              <a:rPr lang="zh-TW" altLang="en-US" sz="1800" dirty="0"/>
              <a:t> </a:t>
            </a:r>
            <a:r>
              <a:rPr lang="en-US" altLang="zh-TW" sz="1800" dirty="0"/>
              <a:t>&amp;</a:t>
            </a:r>
            <a:r>
              <a:rPr lang="zh-TW" altLang="en-US" sz="1800" dirty="0"/>
              <a:t> </a:t>
            </a:r>
            <a:r>
              <a:rPr lang="en-US" altLang="zh-TW" sz="1800" dirty="0"/>
              <a:t>movements)</a:t>
            </a:r>
          </a:p>
          <a:p>
            <a:pPr lvl="1"/>
            <a:r>
              <a:rPr lang="en-US" altLang="zh-TW" sz="1800" dirty="0"/>
              <a:t>Sociopolitical</a:t>
            </a:r>
            <a:r>
              <a:rPr lang="zh-TW" altLang="en-US" sz="1800" dirty="0"/>
              <a:t> </a:t>
            </a:r>
            <a:r>
              <a:rPr lang="en-US" altLang="zh-TW" sz="1800" dirty="0"/>
              <a:t>(Critique</a:t>
            </a:r>
            <a:r>
              <a:rPr lang="zh-TW" altLang="en-US" sz="1800" dirty="0"/>
              <a:t> </a:t>
            </a:r>
            <a:r>
              <a:rPr lang="en-US" altLang="zh-TW" sz="1800" dirty="0"/>
              <a:t>of</a:t>
            </a:r>
            <a:r>
              <a:rPr lang="zh-TW" altLang="en-US" sz="1800" dirty="0"/>
              <a:t> </a:t>
            </a:r>
            <a:r>
              <a:rPr lang="en-US" altLang="zh-TW" sz="1800" dirty="0"/>
              <a:t>gov.,</a:t>
            </a:r>
            <a:r>
              <a:rPr lang="zh-TW" altLang="en-US" sz="1800" dirty="0"/>
              <a:t> </a:t>
            </a:r>
            <a:r>
              <a:rPr lang="en-US" altLang="zh-TW" sz="1800" dirty="0"/>
              <a:t>support</a:t>
            </a:r>
            <a:r>
              <a:rPr lang="zh-TW" altLang="en-US" sz="1800" dirty="0"/>
              <a:t> </a:t>
            </a:r>
            <a:r>
              <a:rPr lang="en-US" altLang="zh-TW" sz="1800" dirty="0"/>
              <a:t>of</a:t>
            </a:r>
            <a:r>
              <a:rPr lang="zh-TW" altLang="en-US" sz="1800" dirty="0"/>
              <a:t> </a:t>
            </a:r>
            <a:r>
              <a:rPr lang="en-US" altLang="zh-TW" sz="1800" dirty="0"/>
              <a:t>national</a:t>
            </a:r>
            <a:r>
              <a:rPr lang="zh-TW" altLang="en-US" sz="1800" dirty="0"/>
              <a:t> </a:t>
            </a:r>
            <a:r>
              <a:rPr lang="en-US" altLang="zh-TW" sz="1800" dirty="0"/>
              <a:t>activist</a:t>
            </a:r>
            <a:r>
              <a:rPr lang="zh-TW" altLang="en-US" sz="1800" dirty="0"/>
              <a:t> </a:t>
            </a:r>
            <a:r>
              <a:rPr lang="en-US" altLang="zh-TW" sz="1800" dirty="0"/>
              <a:t>movements)</a:t>
            </a:r>
          </a:p>
          <a:p>
            <a:r>
              <a:rPr lang="en-US" altLang="zh-TW" sz="2000" dirty="0"/>
              <a:t>Consider:</a:t>
            </a:r>
            <a:r>
              <a:rPr lang="zh-TW" altLang="en-US" sz="2000" dirty="0"/>
              <a:t> </a:t>
            </a:r>
            <a:endParaRPr lang="en-US" altLang="zh-TW" sz="2000" dirty="0"/>
          </a:p>
          <a:p>
            <a:pPr lvl="1"/>
            <a:r>
              <a:rPr lang="en-US" altLang="zh-TW" sz="1800" dirty="0"/>
              <a:t>Why</a:t>
            </a:r>
            <a:r>
              <a:rPr lang="zh-TW" altLang="en-US" sz="1800" dirty="0"/>
              <a:t> </a:t>
            </a:r>
            <a:r>
              <a:rPr lang="en-US" altLang="zh-TW" sz="1800" dirty="0"/>
              <a:t>does</a:t>
            </a:r>
            <a:r>
              <a:rPr lang="zh-TW" altLang="en-US" sz="1800" dirty="0"/>
              <a:t> </a:t>
            </a:r>
            <a:r>
              <a:rPr lang="en-US" altLang="zh-TW" sz="1800" dirty="0"/>
              <a:t>Um</a:t>
            </a:r>
            <a:r>
              <a:rPr lang="zh-TW" altLang="en-US" sz="1800" dirty="0"/>
              <a:t> </a:t>
            </a:r>
            <a:r>
              <a:rPr lang="en-US" altLang="zh-TW" sz="1800" dirty="0"/>
              <a:t>argue</a:t>
            </a:r>
            <a:r>
              <a:rPr lang="zh-TW" altLang="en-US" sz="1800" dirty="0"/>
              <a:t> </a:t>
            </a:r>
            <a:r>
              <a:rPr lang="en-US" altLang="zh-TW" sz="1800" u="sng" dirty="0"/>
              <a:t>all</a:t>
            </a:r>
            <a:r>
              <a:rPr lang="zh-TW" altLang="en-US" sz="1800" dirty="0"/>
              <a:t> </a:t>
            </a:r>
            <a:r>
              <a:rPr lang="en-US" altLang="zh-TW" sz="1800" dirty="0"/>
              <a:t>reflect</a:t>
            </a:r>
            <a:r>
              <a:rPr lang="zh-TW" altLang="en-US" sz="1800" dirty="0"/>
              <a:t> </a:t>
            </a:r>
            <a:r>
              <a:rPr lang="en-US" altLang="zh-TW" sz="1800" dirty="0"/>
              <a:t>a</a:t>
            </a:r>
            <a:r>
              <a:rPr lang="zh-TW" altLang="en-US" sz="1800" dirty="0"/>
              <a:t> </a:t>
            </a:r>
            <a:r>
              <a:rPr lang="en-US" altLang="zh-TW" sz="1800" dirty="0"/>
              <a:t>nationalist</a:t>
            </a:r>
            <a:r>
              <a:rPr lang="zh-TW" altLang="en-US" sz="1800" dirty="0"/>
              <a:t> </a:t>
            </a:r>
            <a:r>
              <a:rPr lang="en-US" altLang="zh-TW" sz="1800" dirty="0"/>
              <a:t>perspective?</a:t>
            </a:r>
          </a:p>
          <a:p>
            <a:pPr lvl="2"/>
            <a:r>
              <a:rPr lang="en-US" altLang="zh-TW" sz="1600" dirty="0"/>
              <a:t>Perhaps:</a:t>
            </a:r>
            <a:r>
              <a:rPr lang="zh-TW" altLang="en-US" sz="1600" dirty="0"/>
              <a:t> </a:t>
            </a:r>
            <a:r>
              <a:rPr lang="en-US" altLang="zh-TW" sz="1600" dirty="0"/>
              <a:t>Appeal</a:t>
            </a:r>
            <a:r>
              <a:rPr lang="zh-TW" altLang="en-US" sz="1600" dirty="0"/>
              <a:t> </a:t>
            </a:r>
            <a:r>
              <a:rPr lang="en-US" altLang="zh-TW" sz="1600" dirty="0"/>
              <a:t>to</a:t>
            </a:r>
            <a:r>
              <a:rPr lang="zh-TW" altLang="en-US" sz="1600" dirty="0"/>
              <a:t> </a:t>
            </a:r>
            <a:r>
              <a:rPr lang="en-US" altLang="zh-TW" sz="1600" dirty="0"/>
              <a:t>shared</a:t>
            </a:r>
            <a:r>
              <a:rPr lang="zh-TW" altLang="en-US" sz="1600" dirty="0"/>
              <a:t> </a:t>
            </a:r>
            <a:r>
              <a:rPr lang="en-US" altLang="zh-TW" sz="1600" dirty="0"/>
              <a:t>identity,</a:t>
            </a:r>
            <a:r>
              <a:rPr lang="zh-TW" altLang="en-US" sz="1600" dirty="0"/>
              <a:t> </a:t>
            </a:r>
            <a:r>
              <a:rPr lang="en-US" altLang="zh-TW" sz="1600" dirty="0"/>
              <a:t>w/connection</a:t>
            </a:r>
            <a:r>
              <a:rPr lang="zh-TW" altLang="en-US" sz="1600" dirty="0"/>
              <a:t> </a:t>
            </a:r>
            <a:r>
              <a:rPr lang="en-US" altLang="zh-TW" sz="1600" dirty="0"/>
              <a:t>to</a:t>
            </a:r>
            <a:r>
              <a:rPr lang="zh-TW" altLang="en-US" sz="1600" dirty="0"/>
              <a:t> </a:t>
            </a:r>
            <a:r>
              <a:rPr lang="en-US" altLang="zh-TW" sz="1600" dirty="0"/>
              <a:t>‘traditional’</a:t>
            </a:r>
            <a:r>
              <a:rPr lang="zh-TW" altLang="en-US" sz="1600" dirty="0"/>
              <a:t> </a:t>
            </a:r>
            <a:r>
              <a:rPr lang="en-US" altLang="zh-TW" sz="1600" dirty="0"/>
              <a:t>cultural</a:t>
            </a:r>
            <a:r>
              <a:rPr lang="zh-TW" altLang="en-US" sz="1600" dirty="0"/>
              <a:t> </a:t>
            </a:r>
            <a:r>
              <a:rPr lang="en-US" altLang="zh-TW" sz="1600" dirty="0"/>
              <a:t>form.</a:t>
            </a:r>
          </a:p>
          <a:p>
            <a:pPr lvl="1"/>
            <a:r>
              <a:rPr lang="en-US" altLang="zh-TW" sz="1800" dirty="0"/>
              <a:t>What</a:t>
            </a:r>
            <a:r>
              <a:rPr lang="zh-TW" altLang="en-US" sz="1800" dirty="0"/>
              <a:t> </a:t>
            </a:r>
            <a:r>
              <a:rPr lang="en-US" altLang="zh-TW" sz="1800" dirty="0"/>
              <a:t>makes</a:t>
            </a:r>
            <a:r>
              <a:rPr lang="zh-TW" altLang="en-US" sz="1800" dirty="0"/>
              <a:t> </a:t>
            </a:r>
            <a:r>
              <a:rPr lang="en-US" altLang="zh-TW" sz="1800" dirty="0"/>
              <a:t>these</a:t>
            </a:r>
            <a:r>
              <a:rPr lang="zh-TW" altLang="en-US" sz="1800" dirty="0"/>
              <a:t> </a:t>
            </a:r>
            <a:r>
              <a:rPr lang="en-US" altLang="zh-TW" sz="1800" dirty="0"/>
              <a:t>new</a:t>
            </a:r>
            <a:r>
              <a:rPr lang="zh-TW" altLang="en-US" sz="1800" dirty="0"/>
              <a:t> </a:t>
            </a:r>
            <a:r>
              <a:rPr lang="en-US" altLang="zh-TW" sz="1800" dirty="0"/>
              <a:t>performances</a:t>
            </a:r>
            <a:r>
              <a:rPr lang="zh-TW" altLang="en-US" sz="1800" dirty="0"/>
              <a:t> </a:t>
            </a:r>
            <a:r>
              <a:rPr lang="en-US" altLang="zh-TW" sz="1800" dirty="0"/>
              <a:t>‘</a:t>
            </a:r>
            <a:r>
              <a:rPr lang="en-US" altLang="zh-TW" sz="1800" dirty="0" err="1"/>
              <a:t>p’ansori</a:t>
            </a:r>
            <a:r>
              <a:rPr lang="en-US" altLang="zh-TW" sz="1800" dirty="0"/>
              <a:t>’?</a:t>
            </a:r>
            <a:r>
              <a:rPr lang="zh-TW" altLang="en-US" sz="1800" dirty="0"/>
              <a:t> </a:t>
            </a:r>
            <a:endParaRPr lang="en-US" altLang="zh-TW" sz="1800" dirty="0"/>
          </a:p>
        </p:txBody>
      </p:sp>
      <p:sp>
        <p:nvSpPr>
          <p:cNvPr id="4" name="Slide Number Placeholder 3">
            <a:extLst>
              <a:ext uri="{FF2B5EF4-FFF2-40B4-BE49-F238E27FC236}">
                <a16:creationId xmlns:a16="http://schemas.microsoft.com/office/drawing/2014/main" id="{B422D7BC-B6C5-74FB-7E08-25707C9B1702}"/>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25396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96D7D-8C93-87D6-A2B6-ADE6B75E76CB}"/>
              </a:ext>
            </a:extLst>
          </p:cNvPr>
          <p:cNvSpPr>
            <a:spLocks noGrp="1"/>
          </p:cNvSpPr>
          <p:nvPr>
            <p:ph type="title"/>
          </p:nvPr>
        </p:nvSpPr>
        <p:spPr>
          <a:xfrm>
            <a:off x="2592925" y="624110"/>
            <a:ext cx="8911687" cy="767368"/>
          </a:xfrm>
        </p:spPr>
        <p:txBody>
          <a:bodyPr/>
          <a:lstStyle/>
          <a:p>
            <a:r>
              <a:rPr lang="en-US" altLang="zh-TW" dirty="0"/>
              <a:t>What</a:t>
            </a:r>
            <a:r>
              <a:rPr lang="zh-TW" altLang="en-US" dirty="0"/>
              <a:t> </a:t>
            </a:r>
            <a:r>
              <a:rPr lang="en-US" altLang="zh-TW" dirty="0"/>
              <a:t>makes</a:t>
            </a:r>
            <a:r>
              <a:rPr lang="zh-TW" altLang="en-US" dirty="0"/>
              <a:t> </a:t>
            </a:r>
            <a:r>
              <a:rPr lang="en-US" altLang="zh-TW" dirty="0"/>
              <a:t>‘New</a:t>
            </a:r>
            <a:r>
              <a:rPr lang="zh-TW" altLang="en-US" dirty="0"/>
              <a:t> </a:t>
            </a:r>
            <a:r>
              <a:rPr lang="en-US" altLang="zh-TW" dirty="0" err="1"/>
              <a:t>p’ansori</a:t>
            </a:r>
            <a:r>
              <a:rPr lang="en-US" altLang="zh-TW" dirty="0"/>
              <a:t>’</a:t>
            </a:r>
            <a:r>
              <a:rPr lang="zh-TW" altLang="en-US" dirty="0"/>
              <a:t> </a:t>
            </a:r>
            <a:r>
              <a:rPr lang="en-US" altLang="zh-TW" dirty="0" err="1"/>
              <a:t>p’ansori</a:t>
            </a:r>
            <a:r>
              <a:rPr lang="en-US" altLang="zh-TW" dirty="0"/>
              <a:t>?</a:t>
            </a:r>
            <a:endParaRPr lang="en-CA" dirty="0"/>
          </a:p>
        </p:txBody>
      </p:sp>
      <p:sp>
        <p:nvSpPr>
          <p:cNvPr id="3" name="Content Placeholder 2">
            <a:extLst>
              <a:ext uri="{FF2B5EF4-FFF2-40B4-BE49-F238E27FC236}">
                <a16:creationId xmlns:a16="http://schemas.microsoft.com/office/drawing/2014/main" id="{E28A0E23-199C-D330-F0EE-F4BC41E7D655}"/>
              </a:ext>
            </a:extLst>
          </p:cNvPr>
          <p:cNvSpPr>
            <a:spLocks noGrp="1"/>
          </p:cNvSpPr>
          <p:nvPr>
            <p:ph idx="1"/>
          </p:nvPr>
        </p:nvSpPr>
        <p:spPr>
          <a:xfrm>
            <a:off x="2589212" y="1688394"/>
            <a:ext cx="8915400" cy="4545496"/>
          </a:xfrm>
        </p:spPr>
        <p:txBody>
          <a:bodyPr>
            <a:normAutofit lnSpcReduction="10000"/>
          </a:bodyPr>
          <a:lstStyle/>
          <a:p>
            <a:r>
              <a:rPr lang="en-US" altLang="zh-TW" dirty="0"/>
              <a:t>Performance</a:t>
            </a:r>
            <a:r>
              <a:rPr lang="zh-TW" altLang="en-US" dirty="0"/>
              <a:t> </a:t>
            </a:r>
            <a:r>
              <a:rPr lang="en-US" altLang="zh-TW" dirty="0"/>
              <a:t>conventions:</a:t>
            </a:r>
          </a:p>
          <a:p>
            <a:pPr lvl="1"/>
            <a:r>
              <a:rPr lang="en-US" altLang="zh-TW" dirty="0"/>
              <a:t>2</a:t>
            </a:r>
            <a:r>
              <a:rPr lang="zh-TW" altLang="en-US" dirty="0"/>
              <a:t> </a:t>
            </a:r>
            <a:r>
              <a:rPr lang="en-US" altLang="zh-TW" dirty="0"/>
              <a:t>performers:</a:t>
            </a:r>
            <a:r>
              <a:rPr lang="zh-TW" altLang="en-US" dirty="0"/>
              <a:t> </a:t>
            </a:r>
            <a:r>
              <a:rPr lang="en-US" altLang="zh-TW" dirty="0"/>
              <a:t>1</a:t>
            </a:r>
            <a:r>
              <a:rPr lang="zh-TW" altLang="en-US" dirty="0"/>
              <a:t> </a:t>
            </a:r>
            <a:r>
              <a:rPr lang="en-US" altLang="zh-TW" dirty="0"/>
              <a:t>singer,</a:t>
            </a:r>
            <a:r>
              <a:rPr lang="zh-TW" altLang="en-US" dirty="0"/>
              <a:t> </a:t>
            </a:r>
            <a:r>
              <a:rPr lang="en-US" altLang="zh-TW" dirty="0"/>
              <a:t>1</a:t>
            </a:r>
            <a:r>
              <a:rPr lang="zh-TW" altLang="en-US" dirty="0"/>
              <a:t> </a:t>
            </a:r>
            <a:r>
              <a:rPr lang="en-US" altLang="zh-TW" dirty="0"/>
              <a:t>drummer</a:t>
            </a:r>
            <a:r>
              <a:rPr lang="zh-TW" altLang="en-US" dirty="0"/>
              <a:t> </a:t>
            </a:r>
            <a:endParaRPr lang="en-US" altLang="zh-TW" dirty="0"/>
          </a:p>
          <a:p>
            <a:pPr lvl="1"/>
            <a:r>
              <a:rPr lang="en-US" altLang="zh-TW" dirty="0"/>
              <a:t>Limited</a:t>
            </a:r>
            <a:r>
              <a:rPr lang="zh-TW" altLang="en-US" dirty="0"/>
              <a:t> </a:t>
            </a:r>
            <a:r>
              <a:rPr lang="en-US" altLang="zh-TW" dirty="0"/>
              <a:t>props,</a:t>
            </a:r>
            <a:r>
              <a:rPr lang="zh-TW" altLang="en-US" dirty="0"/>
              <a:t> </a:t>
            </a:r>
            <a:r>
              <a:rPr lang="en-US" altLang="zh-TW" dirty="0"/>
              <a:t>backdrops,</a:t>
            </a:r>
            <a:r>
              <a:rPr lang="zh-TW" altLang="en-US" dirty="0"/>
              <a:t> </a:t>
            </a:r>
            <a:r>
              <a:rPr lang="en-US" altLang="zh-TW" dirty="0" err="1"/>
              <a:t>etc</a:t>
            </a:r>
            <a:r>
              <a:rPr lang="zh-TW" altLang="en-US" dirty="0"/>
              <a:t> </a:t>
            </a:r>
            <a:r>
              <a:rPr lang="en-US" altLang="zh-TW" dirty="0"/>
              <a:t>(but</a:t>
            </a:r>
            <a:r>
              <a:rPr lang="zh-TW" altLang="en-US" dirty="0"/>
              <a:t> </a:t>
            </a:r>
            <a:r>
              <a:rPr lang="en-US" altLang="zh-TW" dirty="0"/>
              <a:t>with</a:t>
            </a:r>
            <a:r>
              <a:rPr lang="zh-TW" altLang="en-US" dirty="0"/>
              <a:t> </a:t>
            </a:r>
            <a:r>
              <a:rPr lang="en-US" altLang="zh-TW" dirty="0"/>
              <a:t>new</a:t>
            </a:r>
            <a:r>
              <a:rPr lang="zh-TW" altLang="en-US" dirty="0"/>
              <a:t> </a:t>
            </a:r>
            <a:r>
              <a:rPr lang="en-US" altLang="zh-TW" dirty="0"/>
              <a:t>flexibility?)</a:t>
            </a:r>
          </a:p>
          <a:p>
            <a:r>
              <a:rPr lang="en-US" altLang="zh-TW" dirty="0"/>
              <a:t>Musical</a:t>
            </a:r>
            <a:r>
              <a:rPr lang="zh-TW" altLang="en-US" dirty="0"/>
              <a:t> </a:t>
            </a:r>
            <a:r>
              <a:rPr lang="en-US" altLang="zh-TW" dirty="0"/>
              <a:t>features</a:t>
            </a:r>
          </a:p>
          <a:p>
            <a:pPr lvl="1"/>
            <a:r>
              <a:rPr lang="en-US" altLang="zh-TW" dirty="0"/>
              <a:t>Vocal</a:t>
            </a:r>
            <a:r>
              <a:rPr lang="zh-TW" altLang="en-US" dirty="0"/>
              <a:t> </a:t>
            </a:r>
            <a:r>
              <a:rPr lang="en-US" altLang="zh-TW" dirty="0"/>
              <a:t>techniques,</a:t>
            </a:r>
            <a:r>
              <a:rPr lang="zh-TW" altLang="en-US" dirty="0"/>
              <a:t> </a:t>
            </a:r>
            <a:r>
              <a:rPr lang="en-US" altLang="zh-TW" dirty="0"/>
              <a:t>rhythms</a:t>
            </a:r>
            <a:r>
              <a:rPr lang="zh-TW" altLang="en-US" dirty="0"/>
              <a:t> </a:t>
            </a:r>
            <a:r>
              <a:rPr lang="en-US" altLang="zh-TW" dirty="0"/>
              <a:t>(</a:t>
            </a:r>
            <a:r>
              <a:rPr lang="en-US" altLang="zh-TW" i="1" dirty="0"/>
              <a:t>chang-dan</a:t>
            </a:r>
            <a:r>
              <a:rPr lang="en-US" altLang="zh-TW" dirty="0"/>
              <a:t>),</a:t>
            </a:r>
            <a:r>
              <a:rPr lang="zh-TW" altLang="en-US" dirty="0"/>
              <a:t> </a:t>
            </a:r>
            <a:r>
              <a:rPr lang="en-US" altLang="zh-TW" dirty="0"/>
              <a:t>modes</a:t>
            </a:r>
            <a:r>
              <a:rPr lang="zh-TW" altLang="en-US" dirty="0"/>
              <a:t> </a:t>
            </a:r>
            <a:r>
              <a:rPr lang="en-US" altLang="zh-TW" dirty="0"/>
              <a:t>(</a:t>
            </a:r>
            <a:r>
              <a:rPr lang="en-US" altLang="zh-TW" i="1" dirty="0" err="1"/>
              <a:t>cho</a:t>
            </a:r>
            <a:r>
              <a:rPr lang="en-US" altLang="zh-TW" dirty="0"/>
              <a:t>),</a:t>
            </a:r>
            <a:r>
              <a:rPr lang="zh-TW" altLang="en-US" dirty="0"/>
              <a:t> </a:t>
            </a:r>
            <a:r>
              <a:rPr lang="en-US" altLang="zh-TW" dirty="0"/>
              <a:t>alternating</a:t>
            </a:r>
            <a:r>
              <a:rPr lang="zh-TW" altLang="en-US" dirty="0"/>
              <a:t> </a:t>
            </a:r>
            <a:r>
              <a:rPr lang="en-US" altLang="zh-TW" dirty="0"/>
              <a:t>narration/singing</a:t>
            </a:r>
          </a:p>
          <a:p>
            <a:r>
              <a:rPr lang="en-US" altLang="zh-TW" dirty="0"/>
              <a:t>Themes</a:t>
            </a:r>
            <a:r>
              <a:rPr lang="zh-TW" altLang="en-US" dirty="0"/>
              <a:t> </a:t>
            </a:r>
            <a:r>
              <a:rPr lang="en-US" altLang="zh-TW" dirty="0"/>
              <a:t>&amp;</a:t>
            </a:r>
            <a:r>
              <a:rPr lang="zh-TW" altLang="en-US" dirty="0"/>
              <a:t> </a:t>
            </a:r>
            <a:r>
              <a:rPr lang="en-US" altLang="zh-TW" dirty="0"/>
              <a:t>tone</a:t>
            </a:r>
          </a:p>
          <a:p>
            <a:pPr lvl="1"/>
            <a:r>
              <a:rPr lang="en-US" altLang="zh-TW" dirty="0"/>
              <a:t>Strong</a:t>
            </a:r>
            <a:r>
              <a:rPr lang="zh-TW" altLang="en-US" dirty="0"/>
              <a:t> </a:t>
            </a:r>
            <a:r>
              <a:rPr lang="en-US" altLang="zh-TW" dirty="0"/>
              <a:t>emotions,</a:t>
            </a:r>
            <a:r>
              <a:rPr lang="zh-TW" altLang="en-US" dirty="0"/>
              <a:t> </a:t>
            </a:r>
            <a:r>
              <a:rPr lang="en-US" altLang="zh-TW" dirty="0"/>
              <a:t>hardship,</a:t>
            </a:r>
            <a:r>
              <a:rPr lang="zh-TW" altLang="en-US" dirty="0"/>
              <a:t> </a:t>
            </a:r>
            <a:r>
              <a:rPr lang="en-US" altLang="zh-TW" dirty="0"/>
              <a:t>tragedy</a:t>
            </a:r>
            <a:r>
              <a:rPr lang="zh-TW" altLang="en-US" dirty="0"/>
              <a:t> </a:t>
            </a:r>
            <a:r>
              <a:rPr lang="en-US" altLang="zh-TW" dirty="0"/>
              <a:t>mixed</a:t>
            </a:r>
            <a:r>
              <a:rPr lang="zh-TW" altLang="en-US" dirty="0"/>
              <a:t> </a:t>
            </a:r>
            <a:r>
              <a:rPr lang="en-US" altLang="zh-TW" dirty="0"/>
              <a:t>with</a:t>
            </a:r>
            <a:r>
              <a:rPr lang="zh-TW" altLang="en-US" dirty="0"/>
              <a:t> </a:t>
            </a:r>
            <a:r>
              <a:rPr lang="en-US" altLang="zh-TW" dirty="0"/>
              <a:t>humor</a:t>
            </a:r>
          </a:p>
          <a:p>
            <a:r>
              <a:rPr lang="en-US" altLang="zh-TW" dirty="0"/>
              <a:t>Rhetoric</a:t>
            </a:r>
          </a:p>
          <a:p>
            <a:pPr lvl="1"/>
            <a:r>
              <a:rPr lang="en-US" altLang="zh-TW" dirty="0"/>
              <a:t>Language</a:t>
            </a:r>
            <a:r>
              <a:rPr lang="zh-TW" altLang="en-US" dirty="0"/>
              <a:t> </a:t>
            </a:r>
            <a:r>
              <a:rPr lang="en-US" altLang="zh-TW" dirty="0"/>
              <a:t>use</a:t>
            </a:r>
            <a:r>
              <a:rPr lang="zh-TW" altLang="en-US" dirty="0"/>
              <a:t> </a:t>
            </a:r>
            <a:r>
              <a:rPr lang="en-US" altLang="zh-TW" dirty="0"/>
              <a:t>and</a:t>
            </a:r>
            <a:r>
              <a:rPr lang="zh-TW" altLang="en-US" dirty="0"/>
              <a:t> </a:t>
            </a:r>
            <a:r>
              <a:rPr lang="en-US" altLang="zh-TW" dirty="0"/>
              <a:t>literary</a:t>
            </a:r>
            <a:r>
              <a:rPr lang="zh-TW" altLang="en-US" dirty="0"/>
              <a:t> </a:t>
            </a:r>
            <a:r>
              <a:rPr lang="en-US" altLang="zh-TW" dirty="0"/>
              <a:t>devices</a:t>
            </a:r>
            <a:r>
              <a:rPr lang="zh-TW" altLang="en-US" dirty="0"/>
              <a:t> </a:t>
            </a:r>
            <a:r>
              <a:rPr lang="en-US" altLang="zh-TW" dirty="0"/>
              <a:t>(rhyme,</a:t>
            </a:r>
            <a:r>
              <a:rPr lang="zh-TW" altLang="en-US" dirty="0"/>
              <a:t> </a:t>
            </a:r>
            <a:r>
              <a:rPr lang="en-US" altLang="zh-TW" dirty="0"/>
              <a:t>repetition,</a:t>
            </a:r>
            <a:r>
              <a:rPr lang="zh-TW" altLang="en-US" dirty="0"/>
              <a:t> </a:t>
            </a:r>
            <a:r>
              <a:rPr lang="en-US" altLang="zh-TW" dirty="0"/>
              <a:t>stylistic</a:t>
            </a:r>
            <a:r>
              <a:rPr lang="zh-TW" altLang="en-US" dirty="0"/>
              <a:t> </a:t>
            </a:r>
            <a:r>
              <a:rPr lang="en-US" altLang="zh-TW" dirty="0"/>
              <a:t>omissions,</a:t>
            </a:r>
            <a:r>
              <a:rPr lang="zh-TW" altLang="en-US" dirty="0"/>
              <a:t> </a:t>
            </a:r>
            <a:r>
              <a:rPr lang="en-US" altLang="zh-TW" dirty="0"/>
              <a:t>etc.)</a:t>
            </a:r>
          </a:p>
          <a:p>
            <a:pPr lvl="1"/>
            <a:r>
              <a:rPr lang="en-US" altLang="zh-TW" dirty="0"/>
              <a:t>Archaic</a:t>
            </a:r>
            <a:r>
              <a:rPr lang="zh-TW" altLang="en-US" dirty="0"/>
              <a:t> </a:t>
            </a:r>
            <a:r>
              <a:rPr lang="en-US" altLang="zh-TW" dirty="0"/>
              <a:t>dialect,</a:t>
            </a:r>
            <a:r>
              <a:rPr lang="zh-TW" altLang="en-US" dirty="0"/>
              <a:t> </a:t>
            </a:r>
            <a:r>
              <a:rPr lang="en-US" altLang="zh-TW" dirty="0"/>
              <a:t>expressions</a:t>
            </a:r>
            <a:r>
              <a:rPr lang="zh-TW" altLang="en-US" dirty="0"/>
              <a:t> </a:t>
            </a:r>
            <a:r>
              <a:rPr lang="en-US" altLang="zh-TW" dirty="0"/>
              <a:t>of</a:t>
            </a:r>
            <a:r>
              <a:rPr lang="zh-TW" altLang="en-US" dirty="0"/>
              <a:t> </a:t>
            </a:r>
            <a:r>
              <a:rPr lang="en-US" altLang="zh-TW" dirty="0"/>
              <a:t>‘traditional’</a:t>
            </a:r>
            <a:r>
              <a:rPr lang="zh-TW" altLang="en-US" dirty="0"/>
              <a:t> </a:t>
            </a:r>
            <a:r>
              <a:rPr lang="en-US" altLang="zh-TW" dirty="0" err="1"/>
              <a:t>p’ansori</a:t>
            </a:r>
            <a:r>
              <a:rPr lang="zh-TW" altLang="en-US" dirty="0"/>
              <a:t> </a:t>
            </a:r>
            <a:r>
              <a:rPr lang="en-US" altLang="zh-TW" dirty="0"/>
              <a:t>available</a:t>
            </a:r>
            <a:r>
              <a:rPr lang="zh-TW" altLang="en-US" dirty="0"/>
              <a:t> </a:t>
            </a:r>
            <a:r>
              <a:rPr lang="en-US" altLang="zh-TW" dirty="0"/>
              <a:t>to</a:t>
            </a:r>
            <a:r>
              <a:rPr lang="zh-TW" altLang="en-US" dirty="0"/>
              <a:t> </a:t>
            </a:r>
            <a:r>
              <a:rPr lang="en-US" altLang="zh-TW" dirty="0"/>
              <a:t>performers</a:t>
            </a:r>
          </a:p>
          <a:p>
            <a:pPr lvl="1"/>
            <a:r>
              <a:rPr lang="en-US" altLang="zh-TW" dirty="0"/>
              <a:t>But</a:t>
            </a:r>
            <a:r>
              <a:rPr lang="zh-TW" altLang="en-US" dirty="0"/>
              <a:t> </a:t>
            </a:r>
            <a:r>
              <a:rPr lang="en-US" altLang="zh-TW" dirty="0"/>
              <a:t>so</a:t>
            </a:r>
            <a:r>
              <a:rPr lang="zh-TW" altLang="en-US" dirty="0"/>
              <a:t> </a:t>
            </a:r>
            <a:r>
              <a:rPr lang="en-US" altLang="zh-TW" dirty="0"/>
              <a:t>is</a:t>
            </a:r>
            <a:r>
              <a:rPr lang="zh-TW" altLang="en-US" dirty="0"/>
              <a:t> </a:t>
            </a:r>
            <a:r>
              <a:rPr lang="en-US" altLang="zh-TW" dirty="0"/>
              <a:t>contemporary</a:t>
            </a:r>
            <a:r>
              <a:rPr lang="zh-TW" altLang="en-US" dirty="0"/>
              <a:t> </a:t>
            </a:r>
            <a:r>
              <a:rPr lang="en-US" altLang="zh-TW" dirty="0"/>
              <a:t>language,</a:t>
            </a:r>
            <a:r>
              <a:rPr lang="zh-TW" altLang="en-US" dirty="0"/>
              <a:t> </a:t>
            </a:r>
            <a:r>
              <a:rPr lang="en-US" altLang="zh-TW" dirty="0"/>
              <a:t>slang,</a:t>
            </a:r>
            <a:r>
              <a:rPr lang="zh-TW" altLang="en-US" dirty="0"/>
              <a:t> </a:t>
            </a:r>
            <a:r>
              <a:rPr lang="en-US" altLang="zh-TW" dirty="0"/>
              <a:t>etc.</a:t>
            </a:r>
          </a:p>
          <a:p>
            <a:r>
              <a:rPr lang="en-US" altLang="zh-TW" dirty="0"/>
              <a:t>Consider: How do these features impact adaptations of other media to </a:t>
            </a:r>
            <a:r>
              <a:rPr lang="en-US" altLang="zh-TW" dirty="0" err="1"/>
              <a:t>p’ansori</a:t>
            </a:r>
            <a:r>
              <a:rPr lang="en-US" altLang="zh-TW" dirty="0"/>
              <a:t>?</a:t>
            </a:r>
          </a:p>
          <a:p>
            <a:pPr lvl="1"/>
            <a:endParaRPr lang="en-CA" dirty="0"/>
          </a:p>
        </p:txBody>
      </p:sp>
      <p:sp>
        <p:nvSpPr>
          <p:cNvPr id="4" name="Slide Number Placeholder 3">
            <a:extLst>
              <a:ext uri="{FF2B5EF4-FFF2-40B4-BE49-F238E27FC236}">
                <a16:creationId xmlns:a16="http://schemas.microsoft.com/office/drawing/2014/main" id="{472DEFCB-3146-B2C1-C09C-261F433C1A47}"/>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2951498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80672-0AF7-AAEA-94C0-1DA701E8BBDF}"/>
              </a:ext>
            </a:extLst>
          </p:cNvPr>
          <p:cNvSpPr>
            <a:spLocks noGrp="1"/>
          </p:cNvSpPr>
          <p:nvPr>
            <p:ph type="title"/>
          </p:nvPr>
        </p:nvSpPr>
        <p:spPr/>
        <p:txBody>
          <a:bodyPr/>
          <a:lstStyle/>
          <a:p>
            <a:r>
              <a:rPr lang="en-CA" dirty="0"/>
              <a:t>‘New </a:t>
            </a:r>
            <a:r>
              <a:rPr lang="en-CA" dirty="0" err="1"/>
              <a:t>P’ansori</a:t>
            </a:r>
            <a:r>
              <a:rPr lang="en-CA" dirty="0"/>
              <a:t>’ in the 21</a:t>
            </a:r>
            <a:r>
              <a:rPr lang="en-CA" baseline="30000" dirty="0"/>
              <a:t>st</a:t>
            </a:r>
            <a:r>
              <a:rPr lang="en-CA" dirty="0"/>
              <a:t> century</a:t>
            </a:r>
          </a:p>
        </p:txBody>
      </p:sp>
      <p:sp>
        <p:nvSpPr>
          <p:cNvPr id="3" name="Content Placeholder 2">
            <a:extLst>
              <a:ext uri="{FF2B5EF4-FFF2-40B4-BE49-F238E27FC236}">
                <a16:creationId xmlns:a16="http://schemas.microsoft.com/office/drawing/2014/main" id="{61AE7D10-A829-0A57-A775-1411C4C6F903}"/>
              </a:ext>
            </a:extLst>
          </p:cNvPr>
          <p:cNvSpPr>
            <a:spLocks noGrp="1"/>
          </p:cNvSpPr>
          <p:nvPr>
            <p:ph idx="1"/>
          </p:nvPr>
        </p:nvSpPr>
        <p:spPr>
          <a:xfrm>
            <a:off x="2053293" y="1905000"/>
            <a:ext cx="8085414" cy="4078357"/>
          </a:xfrm>
        </p:spPr>
        <p:txBody>
          <a:bodyPr>
            <a:normAutofit fontScale="92500"/>
          </a:bodyPr>
          <a:lstStyle/>
          <a:p>
            <a:r>
              <a:rPr lang="en-CA" dirty="0" err="1"/>
              <a:t>P’ansori</a:t>
            </a:r>
            <a:r>
              <a:rPr lang="en-CA" dirty="0"/>
              <a:t> written today are also ‘new </a:t>
            </a:r>
            <a:r>
              <a:rPr lang="en-CA" dirty="0" err="1"/>
              <a:t>p’ansori</a:t>
            </a:r>
            <a:r>
              <a:rPr lang="en-CA" dirty="0"/>
              <a:t>’ (of course)</a:t>
            </a:r>
          </a:p>
          <a:p>
            <a:r>
              <a:rPr lang="en-CA" dirty="0"/>
              <a:t>But can be distinguished from those of 20</a:t>
            </a:r>
            <a:r>
              <a:rPr lang="en-CA" baseline="30000" dirty="0"/>
              <a:t>th</a:t>
            </a:r>
            <a:r>
              <a:rPr lang="en-CA" dirty="0"/>
              <a:t> century</a:t>
            </a:r>
          </a:p>
          <a:p>
            <a:r>
              <a:rPr lang="en-CA" dirty="0"/>
              <a:t>Topics / source material</a:t>
            </a:r>
          </a:p>
          <a:p>
            <a:pPr lvl="1"/>
            <a:r>
              <a:rPr lang="en-CA" dirty="0"/>
              <a:t>A broader range of potential subjects for new </a:t>
            </a:r>
            <a:r>
              <a:rPr lang="en-CA" dirty="0" err="1"/>
              <a:t>p’ansori</a:t>
            </a:r>
            <a:r>
              <a:rPr lang="en-CA" dirty="0"/>
              <a:t>, incl. pop culture, daily life, etc.</a:t>
            </a:r>
          </a:p>
          <a:p>
            <a:r>
              <a:rPr lang="en-CA" dirty="0"/>
              <a:t>Themes and tone</a:t>
            </a:r>
          </a:p>
          <a:p>
            <a:pPr lvl="1"/>
            <a:r>
              <a:rPr lang="en-CA" dirty="0"/>
              <a:t>Tragedy &amp; humor always part of </a:t>
            </a:r>
            <a:r>
              <a:rPr lang="en-CA" dirty="0" err="1"/>
              <a:t>p’ansori</a:t>
            </a:r>
            <a:r>
              <a:rPr lang="en-CA" dirty="0"/>
              <a:t>...</a:t>
            </a:r>
          </a:p>
          <a:p>
            <a:pPr lvl="1"/>
            <a:r>
              <a:rPr lang="en-CA" dirty="0"/>
              <a:t>Is greater emphasis on humor too irreverent, or </a:t>
            </a:r>
            <a:r>
              <a:rPr lang="en-CA" dirty="0" err="1"/>
              <a:t>parodizing</a:t>
            </a:r>
            <a:r>
              <a:rPr lang="en-CA" dirty="0"/>
              <a:t> </a:t>
            </a:r>
            <a:r>
              <a:rPr lang="en-CA" dirty="0" err="1"/>
              <a:t>p’ansori</a:t>
            </a:r>
            <a:r>
              <a:rPr lang="en-CA" dirty="0"/>
              <a:t> itself?</a:t>
            </a:r>
          </a:p>
          <a:p>
            <a:r>
              <a:rPr lang="en-CA" dirty="0"/>
              <a:t>Audiences</a:t>
            </a:r>
          </a:p>
          <a:p>
            <a:pPr lvl="1"/>
            <a:r>
              <a:rPr lang="en-CA" dirty="0" err="1"/>
              <a:t>P’ansori</a:t>
            </a:r>
            <a:r>
              <a:rPr lang="en-CA" dirty="0"/>
              <a:t> for children: Novel sources for adaptation, but also an effect of ‘heritagization’?</a:t>
            </a:r>
          </a:p>
          <a:p>
            <a:r>
              <a:rPr lang="en-CA" dirty="0"/>
              <a:t>Conventions &amp; staging</a:t>
            </a:r>
          </a:p>
          <a:p>
            <a:pPr lvl="1"/>
            <a:r>
              <a:rPr lang="en-CA" dirty="0"/>
              <a:t>Costumes, sets, music, etc.</a:t>
            </a:r>
          </a:p>
          <a:p>
            <a:pPr lvl="1"/>
            <a:endParaRPr lang="en-CA" dirty="0"/>
          </a:p>
        </p:txBody>
      </p:sp>
      <p:sp>
        <p:nvSpPr>
          <p:cNvPr id="4" name="Slide Number Placeholder 3">
            <a:extLst>
              <a:ext uri="{FF2B5EF4-FFF2-40B4-BE49-F238E27FC236}">
                <a16:creationId xmlns:a16="http://schemas.microsoft.com/office/drawing/2014/main" id="{F6C72428-1721-31CC-46FE-00881A58A553}"/>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3532375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4A081-E035-AAAF-C6EE-B976074E8FDB}"/>
              </a:ext>
            </a:extLst>
          </p:cNvPr>
          <p:cNvSpPr>
            <a:spLocks noGrp="1"/>
          </p:cNvSpPr>
          <p:nvPr>
            <p:ph type="title"/>
          </p:nvPr>
        </p:nvSpPr>
        <p:spPr/>
        <p:txBody>
          <a:bodyPr/>
          <a:lstStyle/>
          <a:p>
            <a:r>
              <a:rPr lang="en-US" altLang="zh-TW" dirty="0"/>
              <a:t>Insiders</a:t>
            </a:r>
            <a:r>
              <a:rPr lang="zh-TW" altLang="en-US" dirty="0"/>
              <a:t> </a:t>
            </a:r>
            <a:r>
              <a:rPr lang="en-US" altLang="zh-TW" dirty="0"/>
              <a:t>&amp;</a:t>
            </a:r>
            <a:r>
              <a:rPr lang="zh-TW" altLang="en-US" dirty="0"/>
              <a:t> </a:t>
            </a:r>
            <a:r>
              <a:rPr lang="en-US" altLang="zh-TW" dirty="0"/>
              <a:t>Outsiders</a:t>
            </a:r>
            <a:endParaRPr lang="en-CA" dirty="0"/>
          </a:p>
        </p:txBody>
      </p:sp>
      <p:sp>
        <p:nvSpPr>
          <p:cNvPr id="3" name="Content Placeholder 2">
            <a:extLst>
              <a:ext uri="{FF2B5EF4-FFF2-40B4-BE49-F238E27FC236}">
                <a16:creationId xmlns:a16="http://schemas.microsoft.com/office/drawing/2014/main" id="{9257A5DD-235D-C2C2-3B03-41E626C17DF6}"/>
              </a:ext>
            </a:extLst>
          </p:cNvPr>
          <p:cNvSpPr>
            <a:spLocks noGrp="1"/>
          </p:cNvSpPr>
          <p:nvPr>
            <p:ph idx="1"/>
          </p:nvPr>
        </p:nvSpPr>
        <p:spPr>
          <a:xfrm>
            <a:off x="2589212" y="1696278"/>
            <a:ext cx="8915400" cy="3777622"/>
          </a:xfrm>
        </p:spPr>
        <p:txBody>
          <a:bodyPr>
            <a:normAutofit lnSpcReduction="10000"/>
          </a:bodyPr>
          <a:lstStyle/>
          <a:p>
            <a:r>
              <a:rPr lang="en-US" altLang="zh-TW" dirty="0"/>
              <a:t>Um</a:t>
            </a:r>
            <a:r>
              <a:rPr lang="zh-TW" altLang="en-US" dirty="0"/>
              <a:t> </a:t>
            </a:r>
            <a:r>
              <a:rPr lang="en-US" altLang="zh-TW" dirty="0"/>
              <a:t>also</a:t>
            </a:r>
            <a:r>
              <a:rPr lang="zh-TW" altLang="en-US" dirty="0"/>
              <a:t> </a:t>
            </a:r>
            <a:r>
              <a:rPr lang="en-US" altLang="zh-TW" dirty="0"/>
              <a:t>notes</a:t>
            </a:r>
            <a:r>
              <a:rPr lang="zh-TW" altLang="en-US" dirty="0"/>
              <a:t> </a:t>
            </a:r>
            <a:r>
              <a:rPr lang="en-US" altLang="zh-TW" dirty="0"/>
              <a:t>another</a:t>
            </a:r>
            <a:r>
              <a:rPr lang="zh-TW" altLang="en-US" dirty="0"/>
              <a:t> </a:t>
            </a:r>
            <a:r>
              <a:rPr lang="en-US" altLang="zh-TW" dirty="0"/>
              <a:t>trend</a:t>
            </a:r>
            <a:r>
              <a:rPr lang="zh-TW" altLang="en-US" dirty="0"/>
              <a:t> </a:t>
            </a:r>
            <a:r>
              <a:rPr lang="en-US" altLang="zh-TW" dirty="0"/>
              <a:t>in</a:t>
            </a:r>
            <a:r>
              <a:rPr lang="zh-TW" altLang="en-US" dirty="0"/>
              <a:t> </a:t>
            </a:r>
            <a:r>
              <a:rPr lang="en-US" altLang="zh-TW" dirty="0"/>
              <a:t>late</a:t>
            </a:r>
            <a:r>
              <a:rPr lang="zh-TW" altLang="en-US" dirty="0"/>
              <a:t> </a:t>
            </a:r>
            <a:r>
              <a:rPr lang="en-US" altLang="zh-TW" dirty="0"/>
              <a:t>20</a:t>
            </a:r>
            <a:r>
              <a:rPr lang="en-US" altLang="zh-TW" baseline="30000" dirty="0"/>
              <a:t>th</a:t>
            </a:r>
            <a:r>
              <a:rPr lang="en-US" altLang="zh-TW" dirty="0"/>
              <a:t>/21</a:t>
            </a:r>
            <a:r>
              <a:rPr lang="en-US" altLang="zh-TW" baseline="30000" dirty="0"/>
              <a:t>st</a:t>
            </a:r>
            <a:r>
              <a:rPr lang="zh-TW" altLang="en-US" dirty="0"/>
              <a:t> </a:t>
            </a:r>
            <a:r>
              <a:rPr lang="en-US" altLang="zh-TW" dirty="0"/>
              <a:t>cent.</a:t>
            </a:r>
            <a:r>
              <a:rPr lang="zh-TW" altLang="en-US" dirty="0"/>
              <a:t> </a:t>
            </a:r>
            <a:r>
              <a:rPr lang="en-US" altLang="zh-TW" dirty="0"/>
              <a:t>“new</a:t>
            </a:r>
            <a:r>
              <a:rPr lang="zh-TW" altLang="en-US" dirty="0"/>
              <a:t> </a:t>
            </a:r>
            <a:r>
              <a:rPr lang="en-US" altLang="zh-TW" dirty="0" err="1"/>
              <a:t>p’ansori</a:t>
            </a:r>
            <a:r>
              <a:rPr lang="en-US" altLang="zh-TW" dirty="0"/>
              <a:t>”</a:t>
            </a:r>
          </a:p>
          <a:p>
            <a:r>
              <a:rPr lang="en-US" i="1" dirty="0" err="1"/>
              <a:t>ttorang</a:t>
            </a:r>
            <a:r>
              <a:rPr lang="en-US" i="1" dirty="0"/>
              <a:t> </a:t>
            </a:r>
            <a:r>
              <a:rPr lang="en-US" i="1" dirty="0" err="1"/>
              <a:t>kwangdae</a:t>
            </a:r>
            <a:r>
              <a:rPr lang="en-US" altLang="zh-TW" i="1" dirty="0"/>
              <a:t>,</a:t>
            </a:r>
            <a:r>
              <a:rPr lang="zh-TW" altLang="en-US" i="1" dirty="0"/>
              <a:t> </a:t>
            </a:r>
            <a:r>
              <a:rPr lang="en-US" altLang="zh-TW" dirty="0"/>
              <a:t>‘marginal’,</a:t>
            </a:r>
            <a:r>
              <a:rPr lang="zh-TW" altLang="en-US" dirty="0"/>
              <a:t> </a:t>
            </a:r>
            <a:r>
              <a:rPr lang="en-US" altLang="zh-TW" dirty="0"/>
              <a:t>‘small-time’</a:t>
            </a:r>
            <a:r>
              <a:rPr lang="zh-TW" altLang="en-US" dirty="0"/>
              <a:t> </a:t>
            </a:r>
            <a:r>
              <a:rPr lang="en-US" altLang="zh-TW" dirty="0"/>
              <a:t>performers</a:t>
            </a:r>
          </a:p>
          <a:p>
            <a:r>
              <a:rPr lang="en-US" altLang="zh-TW" dirty="0"/>
              <a:t>In</a:t>
            </a:r>
            <a:r>
              <a:rPr lang="zh-TW" altLang="en-US" dirty="0"/>
              <a:t> </a:t>
            </a:r>
            <a:r>
              <a:rPr lang="en-US" altLang="zh-TW" dirty="0"/>
              <a:t>the</a:t>
            </a:r>
            <a:r>
              <a:rPr lang="zh-TW" altLang="en-US" dirty="0"/>
              <a:t> </a:t>
            </a:r>
            <a:r>
              <a:rPr lang="en-US" altLang="zh-TW" dirty="0"/>
              <a:t>past,</a:t>
            </a:r>
            <a:r>
              <a:rPr lang="zh-TW" altLang="en-US" dirty="0"/>
              <a:t> </a:t>
            </a:r>
            <a:r>
              <a:rPr lang="en-US" altLang="zh-TW" dirty="0"/>
              <a:t>a</a:t>
            </a:r>
            <a:r>
              <a:rPr lang="zh-TW" altLang="en-US" dirty="0"/>
              <a:t> </a:t>
            </a:r>
            <a:r>
              <a:rPr lang="en-US" altLang="zh-TW" dirty="0"/>
              <a:t>way</a:t>
            </a:r>
            <a:r>
              <a:rPr lang="zh-TW" altLang="en-US" dirty="0"/>
              <a:t> </a:t>
            </a:r>
            <a:r>
              <a:rPr lang="en-US" altLang="zh-TW" dirty="0"/>
              <a:t>to</a:t>
            </a:r>
            <a:r>
              <a:rPr lang="zh-TW" altLang="en-US" dirty="0"/>
              <a:t> </a:t>
            </a:r>
            <a:r>
              <a:rPr lang="en-US" altLang="zh-TW" dirty="0"/>
              <a:t>refer</a:t>
            </a:r>
            <a:r>
              <a:rPr lang="zh-TW" altLang="en-US" dirty="0"/>
              <a:t> </a:t>
            </a:r>
            <a:r>
              <a:rPr lang="en-US" altLang="zh-TW" dirty="0"/>
              <a:t>to</a:t>
            </a:r>
            <a:r>
              <a:rPr lang="zh-TW" altLang="en-US" dirty="0"/>
              <a:t> </a:t>
            </a:r>
            <a:r>
              <a:rPr lang="en-US" altLang="zh-TW" dirty="0"/>
              <a:t>‘outsiders’,</a:t>
            </a:r>
            <a:r>
              <a:rPr lang="zh-TW" altLang="en-US" dirty="0"/>
              <a:t> </a:t>
            </a:r>
            <a:r>
              <a:rPr lang="en-US" altLang="zh-TW" dirty="0"/>
              <a:t>who</a:t>
            </a:r>
            <a:r>
              <a:rPr lang="zh-TW" altLang="en-US" dirty="0"/>
              <a:t> </a:t>
            </a:r>
            <a:r>
              <a:rPr lang="en-US" altLang="zh-TW" dirty="0"/>
              <a:t>do</a:t>
            </a:r>
            <a:r>
              <a:rPr lang="zh-TW" altLang="en-US" dirty="0"/>
              <a:t> </a:t>
            </a:r>
            <a:r>
              <a:rPr lang="en-US" altLang="zh-TW" dirty="0"/>
              <a:t>not</a:t>
            </a:r>
            <a:r>
              <a:rPr lang="zh-TW" altLang="en-US" dirty="0"/>
              <a:t> </a:t>
            </a:r>
            <a:r>
              <a:rPr lang="en-US" altLang="zh-TW" dirty="0"/>
              <a:t>belong</a:t>
            </a:r>
            <a:r>
              <a:rPr lang="zh-TW" altLang="en-US" dirty="0"/>
              <a:t> </a:t>
            </a:r>
            <a:r>
              <a:rPr lang="en-US" altLang="zh-TW" dirty="0"/>
              <a:t>to</a:t>
            </a:r>
            <a:r>
              <a:rPr lang="zh-TW" altLang="en-US" dirty="0"/>
              <a:t> </a:t>
            </a:r>
            <a:r>
              <a:rPr lang="en-US" altLang="zh-TW" dirty="0"/>
              <a:t>a</a:t>
            </a:r>
            <a:r>
              <a:rPr lang="zh-TW" altLang="en-US" dirty="0"/>
              <a:t> </a:t>
            </a:r>
            <a:r>
              <a:rPr lang="en-US" altLang="zh-TW" dirty="0"/>
              <a:t>school/lineage</a:t>
            </a:r>
          </a:p>
          <a:p>
            <a:pPr lvl="1"/>
            <a:r>
              <a:rPr lang="en-US" altLang="zh-TW" dirty="0"/>
              <a:t>C/w</a:t>
            </a:r>
            <a:r>
              <a:rPr lang="zh-TW" altLang="en-US" dirty="0"/>
              <a:t> </a:t>
            </a:r>
            <a:r>
              <a:rPr lang="en-US" altLang="zh-TW" i="1" dirty="0" err="1"/>
              <a:t>pigabi</a:t>
            </a:r>
            <a:r>
              <a:rPr lang="zh-TW" altLang="en-US" i="1" dirty="0"/>
              <a:t> </a:t>
            </a:r>
            <a:r>
              <a:rPr lang="en-US" altLang="zh-TW" i="1" dirty="0" err="1"/>
              <a:t>kwangdae</a:t>
            </a:r>
            <a:r>
              <a:rPr lang="en-US" altLang="zh-TW" dirty="0"/>
              <a:t>,</a:t>
            </a:r>
            <a:r>
              <a:rPr lang="zh-TW" altLang="en-US" dirty="0"/>
              <a:t> </a:t>
            </a:r>
            <a:r>
              <a:rPr lang="en-US" altLang="zh-TW" dirty="0"/>
              <a:t>a</a:t>
            </a:r>
            <a:r>
              <a:rPr lang="zh-TW" altLang="en-US" dirty="0"/>
              <a:t> </a:t>
            </a:r>
            <a:r>
              <a:rPr lang="en-US" altLang="zh-TW" dirty="0"/>
              <a:t>performer</a:t>
            </a:r>
            <a:r>
              <a:rPr lang="zh-TW" altLang="en-US" dirty="0"/>
              <a:t> </a:t>
            </a:r>
            <a:r>
              <a:rPr lang="en-US" altLang="zh-TW" dirty="0"/>
              <a:t>not</a:t>
            </a:r>
            <a:r>
              <a:rPr lang="zh-TW" altLang="en-US" dirty="0"/>
              <a:t> </a:t>
            </a:r>
            <a:r>
              <a:rPr lang="en-US" altLang="zh-TW" dirty="0"/>
              <a:t>from</a:t>
            </a:r>
            <a:r>
              <a:rPr lang="zh-TW" altLang="en-US" dirty="0"/>
              <a:t> </a:t>
            </a:r>
            <a:r>
              <a:rPr lang="en-US" altLang="zh-TW" dirty="0"/>
              <a:t>hereditary</a:t>
            </a:r>
            <a:r>
              <a:rPr lang="zh-TW" altLang="en-US" dirty="0"/>
              <a:t> </a:t>
            </a:r>
            <a:r>
              <a:rPr lang="en-US" altLang="zh-TW" dirty="0"/>
              <a:t>class</a:t>
            </a:r>
            <a:r>
              <a:rPr lang="zh-TW" altLang="en-US" dirty="0"/>
              <a:t> </a:t>
            </a:r>
            <a:r>
              <a:rPr lang="en-US" altLang="zh-TW" dirty="0"/>
              <a:t>of</a:t>
            </a:r>
            <a:r>
              <a:rPr lang="zh-TW" altLang="en-US" dirty="0"/>
              <a:t> </a:t>
            </a:r>
            <a:r>
              <a:rPr lang="en-US" altLang="zh-TW" dirty="0"/>
              <a:t>most</a:t>
            </a:r>
            <a:r>
              <a:rPr lang="zh-TW" altLang="en-US" dirty="0"/>
              <a:t> </a:t>
            </a:r>
            <a:r>
              <a:rPr lang="en-US" altLang="zh-TW" dirty="0" err="1"/>
              <a:t>kwangdae</a:t>
            </a:r>
            <a:endParaRPr lang="en-US" altLang="zh-TW" dirty="0"/>
          </a:p>
          <a:p>
            <a:r>
              <a:rPr lang="en-US" altLang="zh-TW" dirty="0"/>
              <a:t>Insularity</a:t>
            </a:r>
            <a:r>
              <a:rPr lang="zh-TW" altLang="en-US" dirty="0"/>
              <a:t> </a:t>
            </a:r>
            <a:r>
              <a:rPr lang="en-US" altLang="zh-TW" dirty="0"/>
              <a:t>of</a:t>
            </a:r>
            <a:r>
              <a:rPr lang="zh-TW" altLang="en-US" dirty="0"/>
              <a:t> </a:t>
            </a:r>
            <a:r>
              <a:rPr lang="en-US" altLang="zh-TW" dirty="0"/>
              <a:t>tradition</a:t>
            </a:r>
            <a:r>
              <a:rPr lang="zh-TW" altLang="en-US" dirty="0"/>
              <a:t> </a:t>
            </a:r>
            <a:r>
              <a:rPr lang="en-US" altLang="zh-TW" dirty="0"/>
              <a:t>/</a:t>
            </a:r>
            <a:r>
              <a:rPr lang="zh-TW" altLang="en-US" dirty="0"/>
              <a:t> </a:t>
            </a:r>
            <a:r>
              <a:rPr lang="en-US" altLang="zh-TW" dirty="0"/>
              <a:t>expanding</a:t>
            </a:r>
            <a:r>
              <a:rPr lang="zh-TW" altLang="en-US" dirty="0"/>
              <a:t> </a:t>
            </a:r>
            <a:r>
              <a:rPr lang="en-US" altLang="zh-TW" dirty="0"/>
              <a:t>appeal</a:t>
            </a:r>
            <a:r>
              <a:rPr lang="zh-TW" altLang="en-US" dirty="0"/>
              <a:t> </a:t>
            </a:r>
            <a:r>
              <a:rPr lang="en-US" altLang="zh-TW" dirty="0"/>
              <a:t>to</a:t>
            </a:r>
            <a:r>
              <a:rPr lang="zh-TW" altLang="en-US" dirty="0"/>
              <a:t> </a:t>
            </a:r>
            <a:r>
              <a:rPr lang="en-US" altLang="zh-TW" dirty="0"/>
              <a:t>new</a:t>
            </a:r>
            <a:r>
              <a:rPr lang="zh-TW" altLang="en-US" dirty="0"/>
              <a:t> </a:t>
            </a:r>
            <a:r>
              <a:rPr lang="en-US" altLang="zh-TW" dirty="0"/>
              <a:t>demographics</a:t>
            </a:r>
          </a:p>
          <a:p>
            <a:r>
              <a:rPr lang="en-US" altLang="zh-TW" dirty="0"/>
              <a:t>Why</a:t>
            </a:r>
            <a:r>
              <a:rPr lang="zh-TW" altLang="en-US" dirty="0"/>
              <a:t> </a:t>
            </a:r>
            <a:r>
              <a:rPr lang="en-US" altLang="zh-TW" dirty="0"/>
              <a:t>embrace</a:t>
            </a:r>
            <a:r>
              <a:rPr lang="zh-TW" altLang="en-US" dirty="0"/>
              <a:t> </a:t>
            </a:r>
            <a:r>
              <a:rPr lang="en-US" altLang="zh-TW" dirty="0"/>
              <a:t>this</a:t>
            </a:r>
            <a:r>
              <a:rPr lang="zh-TW" altLang="en-US" dirty="0"/>
              <a:t> </a:t>
            </a:r>
            <a:r>
              <a:rPr lang="en-US" altLang="zh-TW" dirty="0"/>
              <a:t>label</a:t>
            </a:r>
            <a:r>
              <a:rPr lang="zh-TW" altLang="en-US" dirty="0"/>
              <a:t> </a:t>
            </a:r>
            <a:r>
              <a:rPr lang="en-US" altLang="zh-TW" dirty="0"/>
              <a:t>for</a:t>
            </a:r>
            <a:r>
              <a:rPr lang="zh-TW" altLang="en-US" dirty="0"/>
              <a:t> </a:t>
            </a:r>
            <a:r>
              <a:rPr lang="en-US" altLang="zh-TW" dirty="0"/>
              <a:t>oneself?</a:t>
            </a:r>
            <a:r>
              <a:rPr lang="zh-TW" altLang="en-US" dirty="0"/>
              <a:t> </a:t>
            </a:r>
            <a:r>
              <a:rPr lang="en-US" altLang="zh-TW" dirty="0"/>
              <a:t>What</a:t>
            </a:r>
            <a:r>
              <a:rPr lang="zh-TW" altLang="en-US" dirty="0"/>
              <a:t> </a:t>
            </a:r>
            <a:r>
              <a:rPr lang="en-US" altLang="zh-TW" dirty="0"/>
              <a:t>is</a:t>
            </a:r>
            <a:r>
              <a:rPr lang="zh-TW" altLang="en-US" dirty="0"/>
              <a:t> </a:t>
            </a:r>
            <a:r>
              <a:rPr lang="en-US" altLang="zh-TW" dirty="0"/>
              <a:t>the</a:t>
            </a:r>
            <a:r>
              <a:rPr lang="zh-TW" altLang="en-US" dirty="0"/>
              <a:t> </a:t>
            </a:r>
            <a:r>
              <a:rPr lang="en-US" altLang="zh-TW" dirty="0"/>
              <a:t>significance?</a:t>
            </a:r>
            <a:endParaRPr lang="en-US" dirty="0"/>
          </a:p>
          <a:p>
            <a:pPr lvl="1"/>
            <a:r>
              <a:rPr lang="en-US" altLang="zh-TW" dirty="0"/>
              <a:t>A</a:t>
            </a:r>
            <a:r>
              <a:rPr lang="zh-TW" altLang="en-US" dirty="0"/>
              <a:t> </a:t>
            </a:r>
            <a:r>
              <a:rPr lang="en-US" altLang="zh-TW" dirty="0"/>
              <a:t>reaction</a:t>
            </a:r>
            <a:r>
              <a:rPr lang="zh-TW" altLang="en-US" dirty="0"/>
              <a:t> </a:t>
            </a:r>
            <a:r>
              <a:rPr lang="en-US" altLang="zh-TW" dirty="0"/>
              <a:t>to</a:t>
            </a:r>
            <a:r>
              <a:rPr lang="zh-TW" altLang="en-US" dirty="0"/>
              <a:t> </a:t>
            </a:r>
            <a:r>
              <a:rPr lang="en-US" altLang="zh-TW" dirty="0"/>
              <a:t>restrictive</a:t>
            </a:r>
            <a:r>
              <a:rPr lang="zh-TW" altLang="en-US" dirty="0"/>
              <a:t> </a:t>
            </a:r>
            <a:r>
              <a:rPr lang="en-US" altLang="zh-TW" dirty="0"/>
              <a:t>traditional</a:t>
            </a:r>
            <a:r>
              <a:rPr lang="zh-TW" altLang="en-US" dirty="0"/>
              <a:t> </a:t>
            </a:r>
            <a:r>
              <a:rPr lang="en-US" altLang="zh-TW" dirty="0"/>
              <a:t>paths</a:t>
            </a:r>
            <a:r>
              <a:rPr lang="zh-TW" altLang="en-US" dirty="0"/>
              <a:t> </a:t>
            </a:r>
            <a:r>
              <a:rPr lang="en-US" altLang="zh-TW" dirty="0"/>
              <a:t>to</a:t>
            </a:r>
            <a:r>
              <a:rPr lang="zh-TW" altLang="en-US" dirty="0"/>
              <a:t> </a:t>
            </a:r>
            <a:r>
              <a:rPr lang="en-US" altLang="zh-TW" dirty="0"/>
              <a:t>expertise?</a:t>
            </a:r>
          </a:p>
          <a:p>
            <a:pPr lvl="1"/>
            <a:r>
              <a:rPr lang="en-US" altLang="zh-TW" dirty="0"/>
              <a:t>As</a:t>
            </a:r>
            <a:r>
              <a:rPr lang="zh-TW" altLang="en-US" dirty="0"/>
              <a:t> </a:t>
            </a:r>
            <a:r>
              <a:rPr lang="en-US" altLang="zh-TW" dirty="0"/>
              <a:t>a</a:t>
            </a:r>
            <a:r>
              <a:rPr lang="zh-TW" altLang="en-US" dirty="0"/>
              <a:t> </a:t>
            </a:r>
            <a:r>
              <a:rPr lang="en-US" altLang="zh-TW" dirty="0"/>
              <a:t>fresh</a:t>
            </a:r>
            <a:r>
              <a:rPr lang="zh-TW" altLang="en-US" dirty="0"/>
              <a:t> </a:t>
            </a:r>
            <a:r>
              <a:rPr lang="en-US" altLang="zh-TW" dirty="0"/>
              <a:t>alternative</a:t>
            </a:r>
            <a:r>
              <a:rPr lang="zh-TW" altLang="en-US" dirty="0"/>
              <a:t> </a:t>
            </a:r>
            <a:r>
              <a:rPr lang="en-US" altLang="zh-TW" dirty="0"/>
              <a:t>to</a:t>
            </a:r>
            <a:r>
              <a:rPr lang="zh-TW" altLang="en-US" dirty="0"/>
              <a:t> </a:t>
            </a:r>
            <a:r>
              <a:rPr lang="en-US" altLang="zh-TW" dirty="0"/>
              <a:t>‘fossilized’</a:t>
            </a:r>
            <a:r>
              <a:rPr lang="zh-TW" altLang="en-US" dirty="0"/>
              <a:t> </a:t>
            </a:r>
            <a:r>
              <a:rPr lang="en-US" altLang="zh-TW" dirty="0"/>
              <a:t>performing</a:t>
            </a:r>
            <a:r>
              <a:rPr lang="zh-TW" altLang="en-US" dirty="0"/>
              <a:t> </a:t>
            </a:r>
            <a:r>
              <a:rPr lang="en-US" altLang="zh-TW" dirty="0"/>
              <a:t>arts</a:t>
            </a:r>
            <a:r>
              <a:rPr lang="zh-TW" altLang="en-US" dirty="0"/>
              <a:t> </a:t>
            </a:r>
            <a:r>
              <a:rPr lang="en-US" altLang="zh-TW" dirty="0"/>
              <a:t>culture?</a:t>
            </a:r>
          </a:p>
          <a:p>
            <a:pPr lvl="1"/>
            <a:r>
              <a:rPr lang="en-US" altLang="zh-TW" dirty="0"/>
              <a:t>To</a:t>
            </a:r>
            <a:r>
              <a:rPr lang="zh-TW" altLang="en-US" dirty="0"/>
              <a:t> </a:t>
            </a:r>
            <a:r>
              <a:rPr lang="en-US" altLang="zh-TW" dirty="0"/>
              <a:t>influence</a:t>
            </a:r>
            <a:r>
              <a:rPr lang="zh-TW" altLang="en-US" dirty="0"/>
              <a:t> </a:t>
            </a:r>
            <a:r>
              <a:rPr lang="en-US" altLang="zh-TW" dirty="0"/>
              <a:t>audience expectations?</a:t>
            </a:r>
          </a:p>
          <a:p>
            <a:pPr lvl="1"/>
            <a:r>
              <a:rPr lang="en-US" altLang="zh-TW" dirty="0"/>
              <a:t>Other</a:t>
            </a:r>
            <a:r>
              <a:rPr lang="zh-TW" altLang="en-US" dirty="0"/>
              <a:t> </a:t>
            </a:r>
            <a:r>
              <a:rPr lang="en-US" altLang="zh-TW" dirty="0"/>
              <a:t>possibilities?</a:t>
            </a:r>
            <a:r>
              <a:rPr lang="zh-TW" altLang="en-US" dirty="0"/>
              <a:t> </a:t>
            </a:r>
            <a:endParaRPr lang="en-CA" dirty="0"/>
          </a:p>
        </p:txBody>
      </p:sp>
      <p:sp>
        <p:nvSpPr>
          <p:cNvPr id="4" name="Slide Number Placeholder 3">
            <a:extLst>
              <a:ext uri="{FF2B5EF4-FFF2-40B4-BE49-F238E27FC236}">
                <a16:creationId xmlns:a16="http://schemas.microsoft.com/office/drawing/2014/main" id="{B5E3BE5B-35B9-CCBC-471C-3C3B6D82B524}"/>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89282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C60FC-8771-2847-BF48-ADF99B3DC1CD}"/>
              </a:ext>
            </a:extLst>
          </p:cNvPr>
          <p:cNvSpPr>
            <a:spLocks noGrp="1"/>
          </p:cNvSpPr>
          <p:nvPr>
            <p:ph type="title"/>
          </p:nvPr>
        </p:nvSpPr>
        <p:spPr>
          <a:xfrm>
            <a:off x="1782817" y="512462"/>
            <a:ext cx="8911687" cy="1280890"/>
          </a:xfrm>
        </p:spPr>
        <p:txBody>
          <a:bodyPr/>
          <a:lstStyle/>
          <a:p>
            <a:pPr algn="ctr"/>
            <a:r>
              <a:rPr lang="en-CA" dirty="0"/>
              <a:t>The authenticity debate</a:t>
            </a:r>
          </a:p>
        </p:txBody>
      </p:sp>
      <p:pic>
        <p:nvPicPr>
          <p:cNvPr id="6" name="Content Placeholder 5" descr="Star Wars per- formed by Pak T’ae-o at the 2003 Chônju Sanjo Festival. (Photo: Courtesy of Ôlssigu Ttorang Kwangdae [Bravo Ttorang Kwangdae] web- site, http://cafe.daum.net/ NewAgePansori)&#10;From Um p. 35">
            <a:extLst>
              <a:ext uri="{FF2B5EF4-FFF2-40B4-BE49-F238E27FC236}">
                <a16:creationId xmlns:a16="http://schemas.microsoft.com/office/drawing/2014/main" id="{7FE463E7-54D3-1792-1DF1-28C3114415E9}"/>
              </a:ext>
            </a:extLst>
          </p:cNvPr>
          <p:cNvPicPr>
            <a:picLocks noGrp="1" noChangeAspect="1"/>
          </p:cNvPicPr>
          <p:nvPr>
            <p:ph idx="1"/>
          </p:nvPr>
        </p:nvPicPr>
        <p:blipFill>
          <a:blip r:embed="rId2"/>
          <a:stretch>
            <a:fillRect/>
          </a:stretch>
        </p:blipFill>
        <p:spPr>
          <a:xfrm>
            <a:off x="921695" y="1385443"/>
            <a:ext cx="3795309" cy="5472557"/>
          </a:xfrm>
        </p:spPr>
      </p:pic>
      <p:sp>
        <p:nvSpPr>
          <p:cNvPr id="4" name="Slide Number Placeholder 3">
            <a:extLst>
              <a:ext uri="{FF2B5EF4-FFF2-40B4-BE49-F238E27FC236}">
                <a16:creationId xmlns:a16="http://schemas.microsoft.com/office/drawing/2014/main" id="{F0162FFC-C201-14C2-252A-FE5AEFC602A0}"/>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8" name="TextBox 7">
            <a:extLst>
              <a:ext uri="{FF2B5EF4-FFF2-40B4-BE49-F238E27FC236}">
                <a16:creationId xmlns:a16="http://schemas.microsoft.com/office/drawing/2014/main" id="{5F14BF33-15DB-AED1-C40A-5FAE281D6E89}"/>
              </a:ext>
            </a:extLst>
          </p:cNvPr>
          <p:cNvSpPr txBox="1"/>
          <p:nvPr/>
        </p:nvSpPr>
        <p:spPr>
          <a:xfrm>
            <a:off x="4872142" y="1813397"/>
            <a:ext cx="5822362" cy="4078039"/>
          </a:xfrm>
          <a:prstGeom prst="rect">
            <a:avLst/>
          </a:prstGeom>
          <a:noFill/>
        </p:spPr>
        <p:txBody>
          <a:bodyPr wrap="square" rtlCol="0">
            <a:spAutoFit/>
          </a:bodyPr>
          <a:lstStyle/>
          <a:p>
            <a:r>
              <a:rPr lang="en-US" altLang="zh-TW" sz="2500" dirty="0"/>
              <a:t>“</a:t>
            </a:r>
            <a:r>
              <a:rPr lang="en-US" sz="2500" dirty="0"/>
              <a:t>The purpose of our league is to regain the spirit and life of </a:t>
            </a:r>
            <a:r>
              <a:rPr lang="en-US" sz="2500" i="1" dirty="0" err="1"/>
              <a:t>p’ansori</a:t>
            </a:r>
            <a:r>
              <a:rPr lang="en-US" sz="2500" dirty="0"/>
              <a:t> as a living art. . . . </a:t>
            </a:r>
            <a:r>
              <a:rPr lang="en-US" sz="2500" i="1" dirty="0" err="1"/>
              <a:t>P’ansori</a:t>
            </a:r>
            <a:r>
              <a:rPr lang="en-US" sz="2500" dirty="0"/>
              <a:t>, which used to speak for the masses, is now so detached from the life of the people it has become </a:t>
            </a:r>
            <a:r>
              <a:rPr lang="en-US" sz="2500" dirty="0" err="1"/>
              <a:t>fossilised</a:t>
            </a:r>
            <a:r>
              <a:rPr lang="en-US" sz="2500" dirty="0"/>
              <a:t>. . . . In order for </a:t>
            </a:r>
            <a:r>
              <a:rPr lang="en-US" sz="2500" i="1" dirty="0" err="1"/>
              <a:t>p’ansori</a:t>
            </a:r>
            <a:r>
              <a:rPr lang="en-US" sz="2500" dirty="0"/>
              <a:t> to be revived as a live and living art form, it is imperative that </a:t>
            </a:r>
            <a:r>
              <a:rPr lang="en-US" sz="2500" i="1" dirty="0" err="1"/>
              <a:t>p’ansori</a:t>
            </a:r>
            <a:r>
              <a:rPr lang="en-US" sz="2500" dirty="0"/>
              <a:t> speaks about our modern time and way of life. . . . </a:t>
            </a:r>
            <a:r>
              <a:rPr lang="en-US" altLang="zh-TW" sz="2500" dirty="0"/>
              <a:t>”</a:t>
            </a:r>
          </a:p>
          <a:p>
            <a:r>
              <a:rPr lang="en-US" altLang="zh-TW" sz="1600" dirty="0"/>
              <a:t>From</a:t>
            </a:r>
            <a:r>
              <a:rPr lang="zh-TW" altLang="en-US" sz="1600" dirty="0"/>
              <a:t> </a:t>
            </a:r>
            <a:r>
              <a:rPr lang="en-US" altLang="zh-TW" sz="1600" dirty="0"/>
              <a:t>the</a:t>
            </a:r>
            <a:r>
              <a:rPr lang="zh-TW" altLang="en-US" sz="1600" dirty="0"/>
              <a:t> </a:t>
            </a:r>
            <a:r>
              <a:rPr lang="en-US" altLang="zh-TW" sz="1600" dirty="0"/>
              <a:t>“</a:t>
            </a:r>
            <a:r>
              <a:rPr lang="en-US" sz="1600" dirty="0"/>
              <a:t>Declaration of </a:t>
            </a:r>
            <a:r>
              <a:rPr lang="en-US" sz="1600" dirty="0" err="1"/>
              <a:t>Ttorang</a:t>
            </a:r>
            <a:r>
              <a:rPr lang="en-US" sz="1600" dirty="0"/>
              <a:t> </a:t>
            </a:r>
            <a:r>
              <a:rPr lang="en-US" sz="1600" dirty="0" err="1"/>
              <a:t>Kwangdae</a:t>
            </a:r>
            <a:r>
              <a:rPr lang="en-US" altLang="zh-TW" sz="1600" dirty="0"/>
              <a:t>”,</a:t>
            </a:r>
            <a:r>
              <a:rPr lang="zh-TW" altLang="en-US" sz="1600" dirty="0"/>
              <a:t> </a:t>
            </a:r>
            <a:r>
              <a:rPr lang="en-US" altLang="zh-TW" sz="1600" dirty="0"/>
              <a:t>qtd</a:t>
            </a:r>
            <a:r>
              <a:rPr lang="zh-TW" altLang="en-US" sz="1600" dirty="0"/>
              <a:t> </a:t>
            </a:r>
            <a:r>
              <a:rPr lang="en-US" altLang="zh-TW" sz="1600" dirty="0"/>
              <a:t>in</a:t>
            </a:r>
            <a:r>
              <a:rPr lang="zh-TW" altLang="en-US" sz="1600" dirty="0"/>
              <a:t> </a:t>
            </a:r>
            <a:r>
              <a:rPr lang="en-US" altLang="zh-TW" sz="1600" dirty="0"/>
              <a:t>Um</a:t>
            </a:r>
            <a:r>
              <a:rPr lang="zh-TW" altLang="en-US" sz="1600" dirty="0"/>
              <a:t> </a:t>
            </a:r>
            <a:r>
              <a:rPr lang="en-US" altLang="zh-TW" sz="1600" dirty="0"/>
              <a:t>p.</a:t>
            </a:r>
            <a:r>
              <a:rPr lang="zh-TW" altLang="en-US" sz="1600" dirty="0"/>
              <a:t> </a:t>
            </a:r>
            <a:r>
              <a:rPr lang="en-US" altLang="zh-TW" sz="1600" dirty="0"/>
              <a:t>42–43.</a:t>
            </a:r>
            <a:endParaRPr lang="en-US" sz="1600" dirty="0"/>
          </a:p>
          <a:p>
            <a:endParaRPr lang="en-CA" dirty="0"/>
          </a:p>
        </p:txBody>
      </p:sp>
    </p:spTree>
    <p:extLst>
      <p:ext uri="{BB962C8B-B14F-4D97-AF65-F5344CB8AC3E}">
        <p14:creationId xmlns:p14="http://schemas.microsoft.com/office/powerpoint/2010/main" val="3339353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230A5-90D5-46FF-BB3A-F93F3A670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8B2D4-907C-2D70-BE42-6B8D028CBE6C}"/>
              </a:ext>
            </a:extLst>
          </p:cNvPr>
          <p:cNvSpPr>
            <a:spLocks noGrp="1"/>
          </p:cNvSpPr>
          <p:nvPr>
            <p:ph type="title"/>
          </p:nvPr>
        </p:nvSpPr>
        <p:spPr>
          <a:xfrm>
            <a:off x="1782817" y="512462"/>
            <a:ext cx="8911687" cy="1280890"/>
          </a:xfrm>
        </p:spPr>
        <p:txBody>
          <a:bodyPr/>
          <a:lstStyle/>
          <a:p>
            <a:pPr algn="ctr"/>
            <a:r>
              <a:rPr lang="en-CA" dirty="0"/>
              <a:t>The authenticity debate</a:t>
            </a:r>
          </a:p>
        </p:txBody>
      </p:sp>
      <p:pic>
        <p:nvPicPr>
          <p:cNvPr id="6" name="Content Placeholder 5" descr="Pak Song-hŭi (1927-2017), photo in a blog commemorating her passing by a scholar and fan of p'ansori and other Korean perfomring arts, which also discusses the challenges of transmitting traditional p'ansori styles to new performers.&#10;https://seoulstages.wordpress.com/2020/06/30/masters-living-and-dead-new-human-treasures-of-pansori/">
            <a:extLst>
              <a:ext uri="{FF2B5EF4-FFF2-40B4-BE49-F238E27FC236}">
                <a16:creationId xmlns:a16="http://schemas.microsoft.com/office/drawing/2014/main" id="{573C2F23-52DD-A716-E2B5-641A1D7E070B}"/>
              </a:ext>
            </a:extLst>
          </p:cNvPr>
          <p:cNvPicPr>
            <a:picLocks noGrp="1" noChangeAspect="1"/>
          </p:cNvPicPr>
          <p:nvPr>
            <p:ph idx="1"/>
          </p:nvPr>
        </p:nvPicPr>
        <p:blipFill>
          <a:blip r:embed="rId2"/>
          <a:srcRect/>
          <a:stretch/>
        </p:blipFill>
        <p:spPr>
          <a:xfrm>
            <a:off x="456117" y="1813397"/>
            <a:ext cx="2653399" cy="3826007"/>
          </a:xfrm>
        </p:spPr>
      </p:pic>
      <p:sp>
        <p:nvSpPr>
          <p:cNvPr id="4" name="Slide Number Placeholder 3">
            <a:extLst>
              <a:ext uri="{FF2B5EF4-FFF2-40B4-BE49-F238E27FC236}">
                <a16:creationId xmlns:a16="http://schemas.microsoft.com/office/drawing/2014/main" id="{4B6981A6-A410-E311-5493-AD5A602C3269}"/>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8" name="TextBox 7">
            <a:extLst>
              <a:ext uri="{FF2B5EF4-FFF2-40B4-BE49-F238E27FC236}">
                <a16:creationId xmlns:a16="http://schemas.microsoft.com/office/drawing/2014/main" id="{21AC0A0E-F017-6085-B64E-F56B79BBF7B9}"/>
              </a:ext>
            </a:extLst>
          </p:cNvPr>
          <p:cNvSpPr txBox="1"/>
          <p:nvPr/>
        </p:nvSpPr>
        <p:spPr>
          <a:xfrm>
            <a:off x="3438939" y="1542122"/>
            <a:ext cx="7951303" cy="4462760"/>
          </a:xfrm>
          <a:prstGeom prst="rect">
            <a:avLst/>
          </a:prstGeom>
          <a:noFill/>
        </p:spPr>
        <p:txBody>
          <a:bodyPr wrap="square" rtlCol="0">
            <a:spAutoFit/>
          </a:bodyPr>
          <a:lstStyle/>
          <a:p>
            <a:r>
              <a:rPr lang="en-US" sz="2500" dirty="0"/>
              <a:t>“It [new </a:t>
            </a:r>
            <a:r>
              <a:rPr lang="en-US" sz="2500" i="1" dirty="0" err="1"/>
              <a:t>p’ansori</a:t>
            </a:r>
            <a:r>
              <a:rPr lang="en-US" sz="2500" dirty="0"/>
              <a:t>] is an imitation not a proper </a:t>
            </a:r>
            <a:r>
              <a:rPr lang="en-US" sz="2500" i="1" dirty="0" err="1"/>
              <a:t>p’ansori</a:t>
            </a:r>
            <a:r>
              <a:rPr lang="en-US" sz="2500" dirty="0"/>
              <a:t>. Every </a:t>
            </a:r>
            <a:r>
              <a:rPr lang="en-US" sz="2500" i="1" dirty="0" err="1"/>
              <a:t>p’ansori</a:t>
            </a:r>
            <a:r>
              <a:rPr lang="en-US" sz="2500" dirty="0"/>
              <a:t> artist, even a </a:t>
            </a:r>
            <a:r>
              <a:rPr lang="en-US" sz="2500" i="1" dirty="0" err="1"/>
              <a:t>ttorang</a:t>
            </a:r>
            <a:r>
              <a:rPr lang="en-US" sz="2500" i="1" dirty="0"/>
              <a:t> </a:t>
            </a:r>
            <a:r>
              <a:rPr lang="en-US" sz="2500" i="1" dirty="0" err="1"/>
              <a:t>kwangdae</a:t>
            </a:r>
            <a:r>
              <a:rPr lang="en-US" sz="2500" dirty="0"/>
              <a:t>, should be able to sing well because singing is the most important element in this art form. It is not possible to expect everyone to love traditional </a:t>
            </a:r>
            <a:r>
              <a:rPr lang="en-US" sz="2500" i="1" dirty="0" err="1"/>
              <a:t>p’ansori</a:t>
            </a:r>
            <a:r>
              <a:rPr lang="en-US" sz="2500" dirty="0"/>
              <a:t>, particularly a performance of the entire story [</a:t>
            </a:r>
            <a:r>
              <a:rPr lang="en-US" sz="2500" i="1" dirty="0" err="1"/>
              <a:t>wanch’ang</a:t>
            </a:r>
            <a:r>
              <a:rPr lang="en-US" sz="2500" dirty="0"/>
              <a:t>] which takes so long. It is also understandable that some audiences nowadays like new </a:t>
            </a:r>
            <a:r>
              <a:rPr lang="en-US" sz="2500" i="1" dirty="0" err="1"/>
              <a:t>p’ansori</a:t>
            </a:r>
            <a:r>
              <a:rPr lang="en-US" sz="2500" i="1" dirty="0"/>
              <a:t> </a:t>
            </a:r>
            <a:r>
              <a:rPr lang="en-US" sz="2500" dirty="0"/>
              <a:t>because it is easy and entertaining. But it is just a ‘wannabe,’ not a real thing. So we should not be won over by it.” </a:t>
            </a:r>
          </a:p>
          <a:p>
            <a:r>
              <a:rPr lang="en-US" altLang="zh-TW" sz="1600" dirty="0"/>
              <a:t>Pak Song-</a:t>
            </a:r>
            <a:r>
              <a:rPr lang="en-US" altLang="zh-TW" sz="1600" dirty="0" err="1"/>
              <a:t>hŭi</a:t>
            </a:r>
            <a:r>
              <a:rPr lang="en-US" altLang="zh-TW" sz="1600" dirty="0"/>
              <a:t>, qtd</a:t>
            </a:r>
            <a:r>
              <a:rPr lang="zh-TW" altLang="en-US" sz="1600" dirty="0"/>
              <a:t> </a:t>
            </a:r>
            <a:r>
              <a:rPr lang="en-US" altLang="zh-TW" sz="1600" dirty="0"/>
              <a:t>in</a:t>
            </a:r>
            <a:r>
              <a:rPr lang="zh-TW" altLang="en-US" sz="1600" dirty="0"/>
              <a:t> </a:t>
            </a:r>
            <a:r>
              <a:rPr lang="en-US" altLang="zh-TW" sz="1600" dirty="0"/>
              <a:t>Um</a:t>
            </a:r>
            <a:r>
              <a:rPr lang="zh-TW" altLang="en-US" sz="1600" dirty="0"/>
              <a:t> </a:t>
            </a:r>
            <a:r>
              <a:rPr lang="en-US" altLang="zh-TW" sz="1600" dirty="0"/>
              <a:t>p.</a:t>
            </a:r>
            <a:r>
              <a:rPr lang="zh-TW" altLang="en-US" sz="1600" dirty="0"/>
              <a:t> </a:t>
            </a:r>
            <a:r>
              <a:rPr lang="en-US" altLang="zh-TW" sz="1600" dirty="0"/>
              <a:t>44.</a:t>
            </a:r>
            <a:endParaRPr lang="en-US" sz="1600" dirty="0"/>
          </a:p>
          <a:p>
            <a:endParaRPr lang="en-CA" dirty="0"/>
          </a:p>
        </p:txBody>
      </p:sp>
    </p:spTree>
    <p:extLst>
      <p:ext uri="{BB962C8B-B14F-4D97-AF65-F5344CB8AC3E}">
        <p14:creationId xmlns:p14="http://schemas.microsoft.com/office/powerpoint/2010/main" val="22234079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C4B2-72F3-FCCA-71C3-0943D19C35F6}"/>
              </a:ext>
            </a:extLst>
          </p:cNvPr>
          <p:cNvSpPr>
            <a:spLocks noGrp="1"/>
          </p:cNvSpPr>
          <p:nvPr>
            <p:ph type="title"/>
          </p:nvPr>
        </p:nvSpPr>
        <p:spPr/>
        <p:txBody>
          <a:bodyPr/>
          <a:lstStyle/>
          <a:p>
            <a:r>
              <a:rPr lang="en-CA" dirty="0"/>
              <a:t>The authenticity debate</a:t>
            </a:r>
          </a:p>
        </p:txBody>
      </p:sp>
      <p:sp>
        <p:nvSpPr>
          <p:cNvPr id="3" name="Content Placeholder 2">
            <a:extLst>
              <a:ext uri="{FF2B5EF4-FFF2-40B4-BE49-F238E27FC236}">
                <a16:creationId xmlns:a16="http://schemas.microsoft.com/office/drawing/2014/main" id="{65AC0FB0-9074-49C3-01D3-176C39262543}"/>
              </a:ext>
            </a:extLst>
          </p:cNvPr>
          <p:cNvSpPr>
            <a:spLocks noGrp="1"/>
          </p:cNvSpPr>
          <p:nvPr>
            <p:ph idx="1"/>
          </p:nvPr>
        </p:nvSpPr>
        <p:spPr>
          <a:xfrm>
            <a:off x="2132012" y="1716156"/>
            <a:ext cx="8502858" cy="4366592"/>
          </a:xfrm>
        </p:spPr>
        <p:txBody>
          <a:bodyPr>
            <a:normAutofit/>
          </a:bodyPr>
          <a:lstStyle/>
          <a:p>
            <a:r>
              <a:rPr lang="en-CA" dirty="0"/>
              <a:t>Is debate about value of ‘traditional’ </a:t>
            </a:r>
            <a:r>
              <a:rPr lang="en-CA" dirty="0" err="1"/>
              <a:t>p’ansori</a:t>
            </a:r>
            <a:r>
              <a:rPr lang="en-CA" dirty="0"/>
              <a:t>?</a:t>
            </a:r>
          </a:p>
          <a:p>
            <a:r>
              <a:rPr lang="en-CA" dirty="0"/>
              <a:t>Or is it differing ideas about which ‘traditions’ of </a:t>
            </a:r>
            <a:r>
              <a:rPr lang="en-CA" dirty="0" err="1"/>
              <a:t>p’ansori</a:t>
            </a:r>
            <a:r>
              <a:rPr lang="en-CA" dirty="0"/>
              <a:t> to preserve &amp; promote?</a:t>
            </a:r>
          </a:p>
          <a:p>
            <a:r>
              <a:rPr lang="en-CA" dirty="0"/>
              <a:t>Is </a:t>
            </a:r>
            <a:r>
              <a:rPr lang="en-CA" dirty="0" err="1"/>
              <a:t>p’ansori</a:t>
            </a:r>
            <a:r>
              <a:rPr lang="en-CA" dirty="0"/>
              <a:t>...</a:t>
            </a:r>
          </a:p>
          <a:p>
            <a:pPr lvl="1"/>
            <a:r>
              <a:rPr lang="en-CA" dirty="0"/>
              <a:t>Popular entertainment that ‘speaks to the masses,’  addresses contemporary issues?</a:t>
            </a:r>
          </a:p>
          <a:p>
            <a:pPr lvl="2"/>
            <a:r>
              <a:rPr lang="en-CA" i="1" dirty="0"/>
              <a:t>Pan</a:t>
            </a:r>
            <a:r>
              <a:rPr lang="en-CA" dirty="0"/>
              <a:t>, ‘gathering place,’ emphasizing community &amp; accessibility</a:t>
            </a:r>
          </a:p>
          <a:p>
            <a:pPr lvl="1"/>
            <a:r>
              <a:rPr lang="en-CA" dirty="0"/>
              <a:t>Sophisticated art by those trained in a lineage, appreciated by connoisseurs?</a:t>
            </a:r>
          </a:p>
          <a:p>
            <a:pPr lvl="2"/>
            <a:r>
              <a:rPr lang="en-CA" i="1" dirty="0"/>
              <a:t>Sori, </a:t>
            </a:r>
            <a:r>
              <a:rPr lang="en-CA" dirty="0"/>
              <a:t>‘singing,’ emphasizing technique &amp; artistry</a:t>
            </a:r>
          </a:p>
          <a:p>
            <a:r>
              <a:rPr lang="en-CA" dirty="0"/>
              <a:t>Can it be both? What is </a:t>
            </a:r>
            <a:r>
              <a:rPr lang="en-CA"/>
              <a:t>at stake?</a:t>
            </a:r>
            <a:endParaRPr lang="en-CA" dirty="0"/>
          </a:p>
          <a:p>
            <a:pPr lvl="1"/>
            <a:r>
              <a:rPr lang="en-CA" dirty="0"/>
              <a:t>Is ‘wannabe’ </a:t>
            </a:r>
            <a:r>
              <a:rPr lang="en-CA" dirty="0" err="1"/>
              <a:t>p’ansori</a:t>
            </a:r>
            <a:r>
              <a:rPr lang="en-CA" dirty="0"/>
              <a:t> a distraction? Does ‘fossilized’ </a:t>
            </a:r>
            <a:r>
              <a:rPr lang="en-CA" dirty="0" err="1"/>
              <a:t>p’ansori</a:t>
            </a:r>
            <a:r>
              <a:rPr lang="en-CA" dirty="0"/>
              <a:t> discourage engagement? </a:t>
            </a:r>
          </a:p>
          <a:p>
            <a:r>
              <a:rPr lang="en-CA" dirty="0"/>
              <a:t>Is there a ‘middle path’? A third position?</a:t>
            </a:r>
          </a:p>
          <a:p>
            <a:pPr lvl="1"/>
            <a:r>
              <a:rPr lang="en-CA" dirty="0"/>
              <a:t>Consider: Those who perform both styles, study history, promote to int’l audiences, etc.</a:t>
            </a:r>
          </a:p>
        </p:txBody>
      </p:sp>
      <p:sp>
        <p:nvSpPr>
          <p:cNvPr id="4" name="Slide Number Placeholder 3">
            <a:extLst>
              <a:ext uri="{FF2B5EF4-FFF2-40B4-BE49-F238E27FC236}">
                <a16:creationId xmlns:a16="http://schemas.microsoft.com/office/drawing/2014/main" id="{9355A1E7-4A2B-D50D-B7E5-E34817A6395B}"/>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738406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A267-B200-EE87-07B2-4B3147F9BD2A}"/>
              </a:ext>
            </a:extLst>
          </p:cNvPr>
          <p:cNvSpPr>
            <a:spLocks noGrp="1"/>
          </p:cNvSpPr>
          <p:nvPr>
            <p:ph type="title"/>
          </p:nvPr>
        </p:nvSpPr>
        <p:spPr/>
        <p:txBody>
          <a:bodyPr>
            <a:normAutofit fontScale="90000"/>
          </a:bodyPr>
          <a:lstStyle/>
          <a:p>
            <a:r>
              <a:rPr lang="en-CA" dirty="0"/>
              <a:t>Assignment details:</a:t>
            </a:r>
            <a:br>
              <a:rPr lang="en-CA" dirty="0"/>
            </a:br>
            <a:r>
              <a:rPr lang="en-US" sz="3100" dirty="0"/>
              <a:t>The “Authenticity debate” in </a:t>
            </a:r>
            <a:r>
              <a:rPr lang="en-US" sz="3100" dirty="0" err="1"/>
              <a:t>p’ansori</a:t>
            </a:r>
            <a:r>
              <a:rPr lang="en-US" sz="3100" dirty="0"/>
              <a:t> and beyond.</a:t>
            </a:r>
            <a:br>
              <a:rPr lang="en-US" sz="3100" dirty="0"/>
            </a:br>
            <a:br>
              <a:rPr lang="en-CA" dirty="0"/>
            </a:br>
            <a:endParaRPr lang="en-CA" dirty="0"/>
          </a:p>
        </p:txBody>
      </p:sp>
      <p:sp>
        <p:nvSpPr>
          <p:cNvPr id="3" name="Content Placeholder 2">
            <a:extLst>
              <a:ext uri="{FF2B5EF4-FFF2-40B4-BE49-F238E27FC236}">
                <a16:creationId xmlns:a16="http://schemas.microsoft.com/office/drawing/2014/main" id="{6CF0BE22-4A3D-A78E-D9CB-FEAEEAFBDE2D}"/>
              </a:ext>
            </a:extLst>
          </p:cNvPr>
          <p:cNvSpPr>
            <a:spLocks noGrp="1"/>
          </p:cNvSpPr>
          <p:nvPr>
            <p:ph idx="1"/>
          </p:nvPr>
        </p:nvSpPr>
        <p:spPr/>
        <p:txBody>
          <a:bodyPr/>
          <a:lstStyle/>
          <a:p>
            <a:r>
              <a:rPr lang="en-US" sz="2400" dirty="0"/>
              <a:t>Briefly describe the two sides of ‘authenticity debate’ as summarized by Um. What is the main point/position of each side of this debate? Try to express your understanding of points addressed in this lecture, but also return to the article itself to note additional details. Can you think of another style of traditional arts where a similar debate might occur? What are the main issues at stake in the ‘authenticity debate’ about this example? What might proponents of either side of both debates learn from one another?</a:t>
            </a:r>
          </a:p>
          <a:p>
            <a:endParaRPr lang="en-CA" dirty="0"/>
          </a:p>
        </p:txBody>
      </p:sp>
      <p:sp>
        <p:nvSpPr>
          <p:cNvPr id="4" name="Slide Number Placeholder 3">
            <a:extLst>
              <a:ext uri="{FF2B5EF4-FFF2-40B4-BE49-F238E27FC236}">
                <a16:creationId xmlns:a16="http://schemas.microsoft.com/office/drawing/2014/main" id="{8F296F0E-5ADC-5F83-13DD-59DD386C3090}"/>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3802255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1570A-97E7-7470-2BA4-4DE0C2C73CF7}"/>
              </a:ext>
            </a:extLst>
          </p:cNvPr>
          <p:cNvSpPr>
            <a:spLocks noGrp="1"/>
          </p:cNvSpPr>
          <p:nvPr>
            <p:ph type="title"/>
          </p:nvPr>
        </p:nvSpPr>
        <p:spPr/>
        <p:txBody>
          <a:bodyPr/>
          <a:lstStyle/>
          <a:p>
            <a:r>
              <a:rPr lang="en-CA" dirty="0"/>
              <a:t>Quiz details:</a:t>
            </a:r>
            <a:br>
              <a:rPr lang="en-CA" dirty="0"/>
            </a:br>
            <a:r>
              <a:rPr lang="en-CA" dirty="0"/>
              <a:t>Unit quiz &amp; Module review quiz</a:t>
            </a:r>
          </a:p>
        </p:txBody>
      </p:sp>
      <p:sp>
        <p:nvSpPr>
          <p:cNvPr id="3" name="Content Placeholder 2">
            <a:extLst>
              <a:ext uri="{FF2B5EF4-FFF2-40B4-BE49-F238E27FC236}">
                <a16:creationId xmlns:a16="http://schemas.microsoft.com/office/drawing/2014/main" id="{BD83E5C2-C325-9C93-43F8-929F8A398011}"/>
              </a:ext>
            </a:extLst>
          </p:cNvPr>
          <p:cNvSpPr>
            <a:spLocks noGrp="1"/>
          </p:cNvSpPr>
          <p:nvPr>
            <p:ph idx="1"/>
          </p:nvPr>
        </p:nvSpPr>
        <p:spPr/>
        <p:txBody>
          <a:bodyPr>
            <a:normAutofit/>
          </a:bodyPr>
          <a:lstStyle/>
          <a:p>
            <a:r>
              <a:rPr lang="en-CA" dirty="0"/>
              <a:t>Unit quiz:</a:t>
            </a:r>
          </a:p>
          <a:p>
            <a:pPr lvl="1"/>
            <a:r>
              <a:rPr lang="en-CA" dirty="0"/>
              <a:t>5 questions, ten minutes to complete. </a:t>
            </a:r>
          </a:p>
          <a:p>
            <a:pPr lvl="1"/>
            <a:r>
              <a:rPr lang="en-CA" dirty="0"/>
              <a:t>Focus on key ideas &amp; arguments in Um’s article. </a:t>
            </a:r>
          </a:p>
          <a:p>
            <a:pPr lvl="1"/>
            <a:endParaRPr lang="en-CA" dirty="0"/>
          </a:p>
          <a:p>
            <a:r>
              <a:rPr lang="en-CA" dirty="0"/>
              <a:t>Module quiz:</a:t>
            </a:r>
          </a:p>
          <a:p>
            <a:pPr lvl="1"/>
            <a:r>
              <a:rPr lang="en-US" altLang="zh-CN" dirty="0"/>
              <a:t>15</a:t>
            </a:r>
            <a:r>
              <a:rPr lang="zh-CN" altLang="en-US" dirty="0"/>
              <a:t> </a:t>
            </a:r>
            <a:r>
              <a:rPr lang="en-US" altLang="zh-CN" dirty="0"/>
              <a:t>questions,</a:t>
            </a:r>
            <a:r>
              <a:rPr lang="zh-CN" altLang="en-US" dirty="0"/>
              <a:t> </a:t>
            </a:r>
            <a:r>
              <a:rPr lang="en-US" altLang="zh-CN" dirty="0"/>
              <a:t>30</a:t>
            </a:r>
            <a:r>
              <a:rPr lang="zh-CN" altLang="en-US" dirty="0"/>
              <a:t> </a:t>
            </a:r>
            <a:r>
              <a:rPr lang="en-US" altLang="zh-CN" dirty="0"/>
              <a:t>minutes</a:t>
            </a:r>
          </a:p>
          <a:p>
            <a:pPr lvl="1"/>
            <a:r>
              <a:rPr lang="en-US" altLang="zh-CN" dirty="0"/>
              <a:t>Questions</a:t>
            </a:r>
            <a:r>
              <a:rPr lang="zh-CN" altLang="en-US" dirty="0"/>
              <a:t> </a:t>
            </a:r>
            <a:r>
              <a:rPr lang="en-US" altLang="zh-CN" dirty="0"/>
              <a:t>from</a:t>
            </a:r>
            <a:r>
              <a:rPr lang="zh-CN" altLang="en-US" dirty="0"/>
              <a:t> </a:t>
            </a:r>
            <a:r>
              <a:rPr lang="en-US" altLang="zh-CN" dirty="0"/>
              <a:t>all</a:t>
            </a:r>
            <a:r>
              <a:rPr lang="zh-CN" altLang="en-US" dirty="0"/>
              <a:t> </a:t>
            </a:r>
            <a:r>
              <a:rPr lang="en-US" altLang="zh-CN" dirty="0"/>
              <a:t>3</a:t>
            </a:r>
            <a:r>
              <a:rPr lang="zh-CN" altLang="en-US" dirty="0"/>
              <a:t> </a:t>
            </a:r>
            <a:r>
              <a:rPr lang="en-US" altLang="zh-CN" dirty="0"/>
              <a:t>units</a:t>
            </a:r>
            <a:r>
              <a:rPr lang="zh-CN" altLang="en-US" dirty="0"/>
              <a:t> </a:t>
            </a:r>
            <a:r>
              <a:rPr lang="en-US" altLang="zh-CN" dirty="0"/>
              <a:t>of</a:t>
            </a:r>
            <a:r>
              <a:rPr lang="zh-CN" altLang="en-US" dirty="0"/>
              <a:t> </a:t>
            </a:r>
            <a:r>
              <a:rPr lang="en-US" altLang="zh-CN" dirty="0"/>
              <a:t>Module</a:t>
            </a:r>
          </a:p>
          <a:p>
            <a:pPr lvl="1"/>
            <a:r>
              <a:rPr lang="en-US" altLang="zh-CN" dirty="0"/>
              <a:t>Some</a:t>
            </a:r>
            <a:r>
              <a:rPr lang="zh-CN" altLang="en-US" dirty="0"/>
              <a:t> </a:t>
            </a:r>
            <a:r>
              <a:rPr lang="en-US" altLang="zh-CN" dirty="0"/>
              <a:t>based</a:t>
            </a:r>
            <a:r>
              <a:rPr lang="zh-CN" altLang="en-US" dirty="0"/>
              <a:t> </a:t>
            </a:r>
            <a:r>
              <a:rPr lang="en-US" altLang="zh-CN" dirty="0"/>
              <a:t>on</a:t>
            </a:r>
            <a:r>
              <a:rPr lang="zh-CN" altLang="en-US" dirty="0"/>
              <a:t> </a:t>
            </a:r>
            <a:r>
              <a:rPr lang="en-US" altLang="zh-CN" dirty="0"/>
              <a:t>previous</a:t>
            </a:r>
            <a:r>
              <a:rPr lang="zh-CN" altLang="en-US" dirty="0"/>
              <a:t> </a:t>
            </a:r>
            <a:r>
              <a:rPr lang="en-US" altLang="zh-CN" dirty="0"/>
              <a:t>Unit</a:t>
            </a:r>
            <a:r>
              <a:rPr lang="zh-CN" altLang="en-US" dirty="0"/>
              <a:t> </a:t>
            </a:r>
            <a:r>
              <a:rPr lang="en-US" altLang="zh-CN" dirty="0"/>
              <a:t>Quizzes,</a:t>
            </a:r>
            <a:r>
              <a:rPr lang="zh-CN" altLang="en-US" dirty="0"/>
              <a:t> </a:t>
            </a:r>
            <a:r>
              <a:rPr lang="en-US" altLang="zh-CN" dirty="0"/>
              <a:t>others</a:t>
            </a:r>
            <a:r>
              <a:rPr lang="zh-CN" altLang="en-US" dirty="0"/>
              <a:t> </a:t>
            </a:r>
            <a:r>
              <a:rPr lang="en-US" altLang="zh-CN" dirty="0"/>
              <a:t>are</a:t>
            </a:r>
            <a:r>
              <a:rPr lang="zh-CN" altLang="en-US" dirty="0"/>
              <a:t> </a:t>
            </a:r>
            <a:r>
              <a:rPr lang="en-US" altLang="zh-CN" dirty="0"/>
              <a:t>new</a:t>
            </a:r>
          </a:p>
          <a:p>
            <a:pPr lvl="1"/>
            <a:r>
              <a:rPr lang="en-US" altLang="zh-CN" dirty="0"/>
              <a:t>Will</a:t>
            </a:r>
            <a:r>
              <a:rPr lang="zh-CN" altLang="en-US" dirty="0"/>
              <a:t> </a:t>
            </a:r>
            <a:r>
              <a:rPr lang="en-US" altLang="zh-CN" dirty="0"/>
              <a:t>include</a:t>
            </a:r>
            <a:r>
              <a:rPr lang="zh-CN" altLang="en-US" dirty="0"/>
              <a:t> </a:t>
            </a:r>
            <a:r>
              <a:rPr lang="en-US" altLang="zh-CN" dirty="0"/>
              <a:t>other</a:t>
            </a:r>
            <a:r>
              <a:rPr lang="zh-CN" altLang="en-US" dirty="0"/>
              <a:t> </a:t>
            </a:r>
            <a:r>
              <a:rPr lang="en-US" altLang="zh-CN" dirty="0"/>
              <a:t>question</a:t>
            </a:r>
            <a:r>
              <a:rPr lang="zh-CN" altLang="en-US" dirty="0"/>
              <a:t> </a:t>
            </a:r>
            <a:r>
              <a:rPr lang="en-US" altLang="zh-CN" dirty="0"/>
              <a:t>formats.</a:t>
            </a:r>
            <a:r>
              <a:rPr lang="zh-CN" altLang="en-US" dirty="0"/>
              <a:t> </a:t>
            </a:r>
            <a:r>
              <a:rPr lang="en-US" altLang="zh-CN" dirty="0"/>
              <a:t>(Matching,</a:t>
            </a:r>
            <a:r>
              <a:rPr lang="zh-CN" altLang="en-US" dirty="0"/>
              <a:t> </a:t>
            </a:r>
            <a:r>
              <a:rPr lang="en-US" altLang="zh-CN" dirty="0"/>
              <a:t>ordering,</a:t>
            </a:r>
            <a:r>
              <a:rPr lang="zh-CN" altLang="en-US" dirty="0"/>
              <a:t> </a:t>
            </a:r>
            <a:r>
              <a:rPr lang="en-US" altLang="zh-CN" dirty="0"/>
              <a:t>etc.)</a:t>
            </a:r>
          </a:p>
          <a:p>
            <a:pPr lvl="1"/>
            <a:r>
              <a:rPr lang="en-US" altLang="zh-CN" dirty="0"/>
              <a:t>Read</a:t>
            </a:r>
            <a:r>
              <a:rPr lang="zh-CN" altLang="en-US" dirty="0"/>
              <a:t> </a:t>
            </a:r>
            <a:r>
              <a:rPr lang="en-US" altLang="zh-CN" dirty="0"/>
              <a:t>question</a:t>
            </a:r>
            <a:r>
              <a:rPr lang="zh-CN" altLang="en-US" dirty="0"/>
              <a:t> </a:t>
            </a:r>
            <a:r>
              <a:rPr lang="en-US" altLang="zh-CN" dirty="0"/>
              <a:t>instructions</a:t>
            </a:r>
            <a:r>
              <a:rPr lang="zh-CN" altLang="en-US" dirty="0"/>
              <a:t> </a:t>
            </a:r>
            <a:r>
              <a:rPr lang="en-US" altLang="zh-CN" dirty="0"/>
              <a:t>carefully.</a:t>
            </a:r>
            <a:endParaRPr lang="en-CA" dirty="0"/>
          </a:p>
          <a:p>
            <a:endParaRPr lang="en-CA" dirty="0"/>
          </a:p>
        </p:txBody>
      </p:sp>
      <p:sp>
        <p:nvSpPr>
          <p:cNvPr id="4" name="Slide Number Placeholder 3">
            <a:extLst>
              <a:ext uri="{FF2B5EF4-FFF2-40B4-BE49-F238E27FC236}">
                <a16:creationId xmlns:a16="http://schemas.microsoft.com/office/drawing/2014/main" id="{2159B0AE-2D97-F152-FE0E-990E4806D94C}"/>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39006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C90AF-2E6E-069F-D03B-512B5689C82C}"/>
              </a:ext>
            </a:extLst>
          </p:cNvPr>
          <p:cNvSpPr>
            <a:spLocks noGrp="1"/>
          </p:cNvSpPr>
          <p:nvPr>
            <p:ph type="title"/>
          </p:nvPr>
        </p:nvSpPr>
        <p:spPr/>
        <p:txBody>
          <a:bodyPr/>
          <a:lstStyle/>
          <a:p>
            <a:r>
              <a:rPr lang="en-CA"/>
              <a:t>Additional Reading</a:t>
            </a:r>
          </a:p>
        </p:txBody>
      </p:sp>
      <p:sp>
        <p:nvSpPr>
          <p:cNvPr id="3" name="Content Placeholder 2">
            <a:extLst>
              <a:ext uri="{FF2B5EF4-FFF2-40B4-BE49-F238E27FC236}">
                <a16:creationId xmlns:a16="http://schemas.microsoft.com/office/drawing/2014/main" id="{CE54F314-5A6A-D4DB-BE82-A9B1B4790888}"/>
              </a:ext>
            </a:extLst>
          </p:cNvPr>
          <p:cNvSpPr>
            <a:spLocks noGrp="1"/>
          </p:cNvSpPr>
          <p:nvPr>
            <p:ph idx="1"/>
          </p:nvPr>
        </p:nvSpPr>
        <p:spPr/>
        <p:txBody>
          <a:bodyPr>
            <a:normAutofit/>
          </a:bodyPr>
          <a:lstStyle/>
          <a:p>
            <a:pPr marL="0" indent="0">
              <a:buNone/>
            </a:pPr>
            <a:r>
              <a:rPr lang="en-US" dirty="0"/>
              <a:t>Jang, </a:t>
            </a:r>
            <a:r>
              <a:rPr lang="en-US" dirty="0" err="1"/>
              <a:t>Yeonok</a:t>
            </a:r>
            <a:r>
              <a:rPr lang="en-US" dirty="0"/>
              <a:t> </a:t>
            </a:r>
            <a:r>
              <a:rPr lang="en-US" i="1" dirty="0"/>
              <a:t>Korean </a:t>
            </a:r>
            <a:r>
              <a:rPr lang="en-US" i="1" dirty="0" err="1"/>
              <a:t>P’ansori</a:t>
            </a:r>
            <a:r>
              <a:rPr lang="en-US" i="1" dirty="0"/>
              <a:t> Singing Tradition: Development, authenticity, and performance history</a:t>
            </a:r>
            <a:r>
              <a:rPr lang="en-US" dirty="0"/>
              <a:t>. Scarecrow Press, 2014. </a:t>
            </a:r>
          </a:p>
          <a:p>
            <a:pPr marL="0" indent="0">
              <a:buNone/>
            </a:pPr>
            <a:r>
              <a:rPr lang="en-US" dirty="0"/>
              <a:t>Park, Chan E. </a:t>
            </a:r>
            <a:r>
              <a:rPr lang="en-US" i="1" dirty="0"/>
              <a:t>Voices from the Straw Mat: Toward an Ethnography of Korean Story Singing</a:t>
            </a:r>
            <a:r>
              <a:rPr lang="en-US" dirty="0"/>
              <a:t>. Honolulu: University of Hawai‘i Press, 2003</a:t>
            </a:r>
          </a:p>
          <a:p>
            <a:pPr marL="0" indent="0">
              <a:buNone/>
            </a:pPr>
            <a:r>
              <a:rPr lang="en-US" dirty="0"/>
              <a:t>Um, </a:t>
            </a:r>
            <a:r>
              <a:rPr lang="en-US" dirty="0" err="1"/>
              <a:t>Haekyung</a:t>
            </a:r>
            <a:r>
              <a:rPr lang="en-US" dirty="0"/>
              <a:t>. </a:t>
            </a:r>
            <a:r>
              <a:rPr lang="en-US" i="1" dirty="0"/>
              <a:t>Korean Musica Drama: </a:t>
            </a:r>
            <a:r>
              <a:rPr lang="en-US" dirty="0" err="1"/>
              <a:t>P’ansori</a:t>
            </a:r>
            <a:r>
              <a:rPr lang="en-US" dirty="0"/>
              <a:t> </a:t>
            </a:r>
            <a:r>
              <a:rPr lang="en-US" i="1" dirty="0"/>
              <a:t>and the Making of Tradition in Modernity</a:t>
            </a:r>
            <a:r>
              <a:rPr lang="en-US" dirty="0"/>
              <a:t>. Ashgate, 2013. </a:t>
            </a:r>
          </a:p>
          <a:p>
            <a:r>
              <a:rPr lang="en-CA" dirty="0"/>
              <a:t>(Above are the same </a:t>
            </a:r>
            <a:r>
              <a:rPr lang="en-CA" dirty="0" err="1"/>
              <a:t>add’l</a:t>
            </a:r>
            <a:r>
              <a:rPr lang="en-CA" dirty="0"/>
              <a:t> sources recommended in Unit 1. All are multi-faceted studies of </a:t>
            </a:r>
            <a:r>
              <a:rPr lang="en-CA" dirty="0" err="1"/>
              <a:t>p’ansori</a:t>
            </a:r>
            <a:r>
              <a:rPr lang="en-CA" dirty="0"/>
              <a:t> performance, including overviews of early history but with primary focus on analyzing modern and contemporary </a:t>
            </a:r>
            <a:r>
              <a:rPr lang="en-CA" dirty="0" err="1"/>
              <a:t>p’ansori</a:t>
            </a:r>
            <a:r>
              <a:rPr lang="en-CA" dirty="0"/>
              <a:t>. The article assigned for today is revised slightly for inclusion in Um 2013.)</a:t>
            </a:r>
          </a:p>
          <a:p>
            <a:r>
              <a:rPr lang="en-CA" dirty="0"/>
              <a:t>Personal website of Seo Yoon Jang: https://</a:t>
            </a:r>
            <a:r>
              <a:rPr lang="en-CA" dirty="0" err="1"/>
              <a:t>www.jangseoyoon.com</a:t>
            </a:r>
            <a:r>
              <a:rPr lang="en-CA" dirty="0"/>
              <a:t>/</a:t>
            </a:r>
          </a:p>
        </p:txBody>
      </p:sp>
      <p:sp>
        <p:nvSpPr>
          <p:cNvPr id="4" name="Slide Number Placeholder 3">
            <a:extLst>
              <a:ext uri="{FF2B5EF4-FFF2-40B4-BE49-F238E27FC236}">
                <a16:creationId xmlns:a16="http://schemas.microsoft.com/office/drawing/2014/main" id="{1D0247AC-E70F-ABBB-2BD7-48570F888E88}"/>
              </a:ext>
            </a:extLst>
          </p:cNvPr>
          <p:cNvSpPr>
            <a:spLocks noGrp="1"/>
          </p:cNvSpPr>
          <p:nvPr>
            <p:ph type="sldNum" sz="quarter" idx="12"/>
          </p:nvPr>
        </p:nvSpPr>
        <p:spPr/>
        <p:txBody>
          <a:bodyPr/>
          <a:lstStyle/>
          <a:p>
            <a:r>
              <a:rPr lang="en-US" dirty="0"/>
              <a:t>FYI</a:t>
            </a:r>
          </a:p>
        </p:txBody>
      </p:sp>
    </p:spTree>
    <p:extLst>
      <p:ext uri="{BB962C8B-B14F-4D97-AF65-F5344CB8AC3E}">
        <p14:creationId xmlns:p14="http://schemas.microsoft.com/office/powerpoint/2010/main" val="60996426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Presentation1" id="{0C10566A-AF80-B04F-8BF7-096959236E1C}" vid="{8BB43BEA-0B2F-8B46-BA51-E61B05F7EC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2723</TotalTime>
  <Words>1662</Words>
  <Application>Microsoft Macintosh PowerPoint</Application>
  <PresentationFormat>Widescreen</PresentationFormat>
  <Paragraphs>146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Wingdings 3</vt:lpstr>
      <vt:lpstr>Wingdings</vt:lpstr>
      <vt:lpstr>Candara</vt:lpstr>
      <vt:lpstr>Wisp</vt:lpstr>
      <vt:lpstr>P’ansori Today:  Contemporary Preservation and Innovation</vt:lpstr>
      <vt:lpstr>Today’s lecture</vt:lpstr>
      <vt:lpstr>Resources overview:  P’ansori in Contemporary Korea</vt:lpstr>
      <vt:lpstr>New P’ansori in Twenty-first-century Korea: Creative Dialectics of Tradition and Modernity</vt:lpstr>
      <vt:lpstr>Reverse outline Another strategy to create ‘active reading’ questions  </vt:lpstr>
      <vt:lpstr>‘New P’ansori’ in the 20th century</vt:lpstr>
      <vt:lpstr>What makes ‘New p’ansori’ p’ansori?</vt:lpstr>
      <vt:lpstr>‘New P’ansori’ in the 21st century</vt:lpstr>
      <vt:lpstr>Insiders &amp; Outsiders</vt:lpstr>
      <vt:lpstr>The authenticity debate</vt:lpstr>
      <vt:lpstr>The authenticity debate</vt:lpstr>
      <vt:lpstr>The authenticity debate</vt:lpstr>
      <vt:lpstr>Assignment details: The “Authenticity debate” in p’ansori and beyond.  </vt:lpstr>
      <vt:lpstr>Quiz details: Unit quiz &amp; Module review quiz</vt:lpstr>
      <vt:lpstr>Additional Reading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Evan Nicoll-Johnson</dc:creator>
  <cp:lastModifiedBy>Evan Nicoll-Johnson</cp:lastModifiedBy>
  <cp:revision>28</cp:revision>
  <dcterms:created xsi:type="dcterms:W3CDTF">2025-07-30T19:40:50Z</dcterms:created>
  <dcterms:modified xsi:type="dcterms:W3CDTF">2025-08-01T17:04:21Z</dcterms:modified>
</cp:coreProperties>
</file>