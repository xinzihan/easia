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0" r:id="rId4"/>
    <p:sldId id="271" r:id="rId5"/>
    <p:sldId id="259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65" r:id="rId15"/>
    <p:sldId id="272" r:id="rId16"/>
    <p:sldId id="273" r:id="rId17"/>
    <p:sldId id="274" r:id="rId18"/>
    <p:sldId id="276" r:id="rId19"/>
    <p:sldId id="275" r:id="rId20"/>
    <p:sldId id="258" r:id="rId21"/>
  </p:sldIdLst>
  <p:sldSz cx="12192000" cy="6858000"/>
  <p:notesSz cx="6858000" cy="9144000"/>
  <p:embeddedFontLst>
    <p:embeddedFont>
      <p:font typeface="Candara" panose="020E0502030303020204" pitchFamily="34" charset="0"/>
      <p:regular r:id="rId23"/>
      <p:bold r:id="rId24"/>
      <p:italic r:id="rId25"/>
      <p:boldItalic r:id="rId26"/>
    </p:embeddedFont>
    <p:embeddedFont>
      <p:font typeface="Wingdings 3" pitchFamily="2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37"/>
  </p:normalViewPr>
  <p:slideViewPr>
    <p:cSldViewPr snapToGrid="0">
      <p:cViewPr>
        <p:scale>
          <a:sx n="80" d="100"/>
          <a:sy n="80" d="100"/>
        </p:scale>
        <p:origin x="-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092D-7F75-F344-9196-B63EC0A6AD85}" type="datetimeFigureOut">
              <a:rPr lang="en-CA" smtClean="0"/>
              <a:t>2025-07-28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9EF16-783C-1D41-9480-F474792927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400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C1774-F7F7-494F-993A-105AEFD08DCC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EEA5-DDD8-4345-A8BE-9352A991F65A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8E628-A11A-DA45-9CC1-32A6495D58FB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97C3-F293-8A49-B75F-827EFF988220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824-9231-0B45-86E6-DFAC4372F375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94147-B230-CC40-AB7B-33F9DE2CD951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3A88D-6E59-B141-8118-055B266FFB5B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B1764-FE95-014A-8F9D-8197623892C7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D6AD7-6881-374D-AEBE-10B6D892F375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25C88-D03B-4E4A-A593-2830BF36A0AD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AAEBB-A3D0-CA4E-B888-DA8CB6323983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E7589-32EB-DA40-B48A-58CC81064CAE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7125-3BA2-124D-AE7E-ED1AC962DD56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EEDFD-2BE7-6F41-B07F-0E98264CACAF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CCC7-F605-904D-BDBE-C5404CC82A02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1B48-2619-4945-B1BD-A96235845754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r>
              <a:rPr lang="zh-TW" altLang="en-US" dirty="0"/>
              <a:t> 中文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47642-1967-D94C-A4D1-DCD18F6F65D6}" type="datetime1">
              <a:rPr lang="en-US" smtClean="0"/>
              <a:t>7/28/25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FDA4D-8222-2592-9297-3146DA53F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000" dirty="0" err="1"/>
              <a:t>P’ansori</a:t>
            </a:r>
            <a:r>
              <a:rPr lang="en-CA" sz="4000" dirty="0"/>
              <a:t> History</a:t>
            </a:r>
            <a:r>
              <a:rPr lang="en-CA" sz="3000" dirty="0"/>
              <a:t>:</a:t>
            </a:r>
            <a:br>
              <a:rPr lang="en-CA" sz="3000" dirty="0"/>
            </a:br>
            <a:r>
              <a:rPr lang="en-CA" sz="3000" dirty="0"/>
              <a:t>Shamanism, Popular Entertainment, and Elite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40358-D9B1-A478-413A-A12313F6B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Reinventing</a:t>
            </a:r>
            <a:r>
              <a:rPr lang="zh-TW" altLang="en-US" dirty="0"/>
              <a:t> </a:t>
            </a:r>
            <a:r>
              <a:rPr lang="en-US" altLang="zh-TW" dirty="0"/>
              <a:t>Culture</a:t>
            </a:r>
            <a:r>
              <a:rPr lang="zh-TW" altLang="en-US" dirty="0"/>
              <a:t> </a:t>
            </a:r>
            <a:r>
              <a:rPr lang="en-US" altLang="zh-TW" dirty="0"/>
              <a:t>in</a:t>
            </a:r>
            <a:r>
              <a:rPr lang="zh-TW" altLang="en-US" dirty="0"/>
              <a:t> </a:t>
            </a:r>
            <a:r>
              <a:rPr lang="en-US" altLang="zh-TW" dirty="0"/>
              <a:t>East</a:t>
            </a:r>
            <a:r>
              <a:rPr lang="zh-TW" altLang="en-US" dirty="0"/>
              <a:t> </a:t>
            </a:r>
            <a:r>
              <a:rPr lang="en-US" altLang="zh-TW" dirty="0"/>
              <a:t>Asia</a:t>
            </a:r>
          </a:p>
          <a:p>
            <a:r>
              <a:rPr lang="en-US" altLang="zh-TW" dirty="0"/>
              <a:t>EASIA</a:t>
            </a:r>
            <a:r>
              <a:rPr lang="zh-TW" altLang="en-US" dirty="0"/>
              <a:t> </a:t>
            </a:r>
            <a:r>
              <a:rPr lang="en-US" altLang="zh-TW" dirty="0"/>
              <a:t>237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579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13EE-F21C-D4B9-9026-E8DA8E7E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Today’s lecture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CEB5A-56C2-B6A7-174E-C9ECDE2F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500" dirty="0"/>
              <a:t>Reading Preview (2-3)</a:t>
            </a:r>
          </a:p>
          <a:p>
            <a:r>
              <a:rPr lang="en-CA" sz="2500" dirty="0"/>
              <a:t>Studying ‘origins’ (4-7)</a:t>
            </a:r>
          </a:p>
          <a:p>
            <a:r>
              <a:rPr lang="en-CA" sz="2500" dirty="0"/>
              <a:t>Where did </a:t>
            </a:r>
            <a:r>
              <a:rPr lang="en-CA" sz="2500" dirty="0" err="1"/>
              <a:t>P’ansori</a:t>
            </a:r>
            <a:r>
              <a:rPr lang="en-CA" sz="2500" dirty="0"/>
              <a:t> come from? (8-12)</a:t>
            </a:r>
          </a:p>
          <a:p>
            <a:r>
              <a:rPr lang="en-CA" sz="2500" dirty="0" err="1"/>
              <a:t>P’ansori</a:t>
            </a:r>
            <a:r>
              <a:rPr lang="en-CA" sz="2500" dirty="0"/>
              <a:t> in the 19</a:t>
            </a:r>
            <a:r>
              <a:rPr lang="en-CA" sz="2500" baseline="30000" dirty="0"/>
              <a:t>th</a:t>
            </a:r>
            <a:r>
              <a:rPr lang="en-CA" sz="2500" dirty="0"/>
              <a:t>–20</a:t>
            </a:r>
            <a:r>
              <a:rPr lang="en-CA" sz="2500" baseline="30000" dirty="0"/>
              <a:t>th</a:t>
            </a:r>
            <a:r>
              <a:rPr lang="en-CA" sz="2500" dirty="0"/>
              <a:t> Century (13-16)</a:t>
            </a:r>
          </a:p>
          <a:p>
            <a:r>
              <a:rPr lang="en-CA" sz="2500" dirty="0"/>
              <a:t>Conclusion, Quiz and Assignment Details (17-18)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CA522-087E-8A63-7D39-2EE8F42B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0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DC78-ADEC-6AF9-7D59-37C22F5F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Reading: Pihl, M. </a:t>
            </a:r>
            <a:r>
              <a:rPr lang="en-CA" i="1" dirty="0"/>
              <a:t>The Korean Singer of Tales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F200C-5311-F93E-F241-BE010C99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Academic ‘monograph’: Book-length study of a single topic.</a:t>
            </a:r>
          </a:p>
          <a:p>
            <a:r>
              <a:rPr lang="en-CA" dirty="0"/>
              <a:t>Topic: </a:t>
            </a:r>
            <a:r>
              <a:rPr lang="en-CA" dirty="0" err="1"/>
              <a:t>P’ansori</a:t>
            </a:r>
            <a:r>
              <a:rPr lang="en-CA" dirty="0"/>
              <a:t> in Korean Culture &amp; History</a:t>
            </a:r>
          </a:p>
          <a:p>
            <a:r>
              <a:rPr lang="en-CA" dirty="0"/>
              <a:t>Also includes full, annotated translation of “Song of Shim </a:t>
            </a:r>
            <a:r>
              <a:rPr lang="en-CA" dirty="0" err="1"/>
              <a:t>Ch’ŏng</a:t>
            </a:r>
            <a:r>
              <a:rPr lang="en-CA" dirty="0"/>
              <a:t>” (unit 1)</a:t>
            </a:r>
          </a:p>
          <a:p>
            <a:r>
              <a:rPr lang="en-CA" dirty="0"/>
              <a:t>Ch1: “</a:t>
            </a:r>
            <a:r>
              <a:rPr lang="en-US" dirty="0"/>
              <a:t>Where did the </a:t>
            </a:r>
            <a:r>
              <a:rPr lang="en-US" dirty="0" err="1"/>
              <a:t>Kwangdae</a:t>
            </a:r>
            <a:r>
              <a:rPr lang="en-US" dirty="0"/>
              <a:t> Come From” </a:t>
            </a:r>
          </a:p>
          <a:p>
            <a:pPr lvl="1"/>
            <a:r>
              <a:rPr lang="en-US" dirty="0"/>
              <a:t>Earliest possible antecedents, entertainment &amp; politics in premodern Korea</a:t>
            </a:r>
          </a:p>
          <a:p>
            <a:r>
              <a:rPr lang="en-CA" dirty="0"/>
              <a:t>Ch2: “</a:t>
            </a:r>
            <a:r>
              <a:rPr lang="en-US" dirty="0"/>
              <a:t>The </a:t>
            </a:r>
            <a:r>
              <a:rPr lang="en-US" dirty="0" err="1"/>
              <a:t>Kwangdae’s</a:t>
            </a:r>
            <a:r>
              <a:rPr lang="en-US" dirty="0"/>
              <a:t> Nineteenth Century Heyday”</a:t>
            </a:r>
          </a:p>
          <a:p>
            <a:pPr lvl="1"/>
            <a:r>
              <a:rPr lang="en-US" dirty="0"/>
              <a:t>Lineages of </a:t>
            </a:r>
            <a:r>
              <a:rPr lang="en-US" dirty="0" err="1"/>
              <a:t>p’ansori</a:t>
            </a:r>
            <a:r>
              <a:rPr lang="en-US" dirty="0"/>
              <a:t> performance in 18</a:t>
            </a:r>
            <a:r>
              <a:rPr lang="en-US" baseline="30000" dirty="0"/>
              <a:t>th</a:t>
            </a:r>
            <a:r>
              <a:rPr lang="en-US" dirty="0"/>
              <a:t>-19</a:t>
            </a:r>
            <a:r>
              <a:rPr lang="en-US" baseline="30000" dirty="0"/>
              <a:t>th</a:t>
            </a:r>
            <a:r>
              <a:rPr lang="en-US" dirty="0"/>
              <a:t> century Korea </a:t>
            </a: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56392-0EC8-9E64-88D5-86D386C3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6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4304-2928-63DE-E77D-4FE0134D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49A8-D83A-72FD-65C2-8B2AE7B7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Reading: Pihl, M. </a:t>
            </a:r>
            <a:r>
              <a:rPr lang="en-CA" i="1" dirty="0"/>
              <a:t>The Korean Singer of Tales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3E4C6-8288-EB45-1193-A1AFA2648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Things to consider...</a:t>
            </a:r>
          </a:p>
          <a:p>
            <a:r>
              <a:rPr lang="en-CA" dirty="0"/>
              <a:t>Many proper nouns, broad overview of Korean history</a:t>
            </a:r>
          </a:p>
          <a:p>
            <a:pPr lvl="1"/>
            <a:r>
              <a:rPr lang="en-CA" dirty="0"/>
              <a:t>Stay focused on ‘narrative’: What matters most?</a:t>
            </a:r>
          </a:p>
          <a:p>
            <a:pPr lvl="1"/>
            <a:r>
              <a:rPr lang="en-CA" dirty="0"/>
              <a:t>Most important terms will be reviewed in lecture</a:t>
            </a:r>
          </a:p>
          <a:p>
            <a:r>
              <a:rPr lang="en-CA" dirty="0"/>
              <a:t>Sources of evidence</a:t>
            </a:r>
          </a:p>
          <a:p>
            <a:pPr lvl="1"/>
            <a:r>
              <a:rPr lang="en-CA" dirty="0"/>
              <a:t>What primary sources does Pihl refer to in these chapters? What else is cited?</a:t>
            </a:r>
          </a:p>
          <a:p>
            <a:pPr lvl="1"/>
            <a:r>
              <a:rPr lang="en-CA" dirty="0"/>
              <a:t>Note differences between </a:t>
            </a:r>
            <a:r>
              <a:rPr lang="en-CA" dirty="0" err="1"/>
              <a:t>ch.</a:t>
            </a:r>
            <a:r>
              <a:rPr lang="en-CA" dirty="0"/>
              <a:t> 1 &amp; 2. What kinds of evidence are available for later history? What is </a:t>
            </a:r>
            <a:r>
              <a:rPr lang="en-CA" i="1" dirty="0"/>
              <a:t>not </a:t>
            </a:r>
            <a:r>
              <a:rPr lang="en-CA" dirty="0"/>
              <a:t>available for earlier history?</a:t>
            </a:r>
          </a:p>
          <a:p>
            <a:pPr lvl="1"/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EF5F8-F733-28A3-250D-C54C1F27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69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4DDD-195B-5E9B-D774-36AEE33E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Studying origins: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688E2-8506-D49A-D452-03C48409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1ECFDD-F9E5-B57C-D0C1-298F06D5AD00}"/>
              </a:ext>
            </a:extLst>
          </p:cNvPr>
          <p:cNvCxnSpPr>
            <a:cxnSpLocks/>
          </p:cNvCxnSpPr>
          <p:nvPr/>
        </p:nvCxnSpPr>
        <p:spPr>
          <a:xfrm>
            <a:off x="2925547" y="3886560"/>
            <a:ext cx="7308642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B66B53-ECF5-21F4-4F87-B837B78BD68E}"/>
              </a:ext>
            </a:extLst>
          </p:cNvPr>
          <p:cNvSpPr txBox="1"/>
          <p:nvPr/>
        </p:nvSpPr>
        <p:spPr>
          <a:xfrm>
            <a:off x="2592925" y="1258669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/>
              <a:t>Assumptions...</a:t>
            </a:r>
          </a:p>
        </p:txBody>
      </p:sp>
    </p:spTree>
    <p:extLst>
      <p:ext uri="{BB962C8B-B14F-4D97-AF65-F5344CB8AC3E}">
        <p14:creationId xmlns:p14="http://schemas.microsoft.com/office/powerpoint/2010/main" val="301260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68EB2-6500-2DB2-B5BC-E41779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8CE7-5DD9-8726-A03D-AAE39BA8A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Studying origins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F4CA0-89B8-74D7-DBC4-EBB3AA69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AF9E7E-4063-74E3-2648-966794BA8B22}"/>
              </a:ext>
            </a:extLst>
          </p:cNvPr>
          <p:cNvCxnSpPr>
            <a:cxnSpLocks/>
          </p:cNvCxnSpPr>
          <p:nvPr/>
        </p:nvCxnSpPr>
        <p:spPr>
          <a:xfrm>
            <a:off x="2925547" y="3886560"/>
            <a:ext cx="1373737" cy="0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F6A9DF-D841-D026-3F93-B89F6D9F0A8C}"/>
              </a:ext>
            </a:extLst>
          </p:cNvPr>
          <p:cNvCxnSpPr>
            <a:cxnSpLocks/>
          </p:cNvCxnSpPr>
          <p:nvPr/>
        </p:nvCxnSpPr>
        <p:spPr>
          <a:xfrm>
            <a:off x="4299284" y="3898952"/>
            <a:ext cx="1379621" cy="0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98DB8F-2872-1FC3-4153-FD7FAD18EA17}"/>
              </a:ext>
            </a:extLst>
          </p:cNvPr>
          <p:cNvCxnSpPr>
            <a:cxnSpLocks/>
          </p:cNvCxnSpPr>
          <p:nvPr/>
        </p:nvCxnSpPr>
        <p:spPr>
          <a:xfrm>
            <a:off x="5678905" y="3898952"/>
            <a:ext cx="1379621" cy="0"/>
          </a:xfrm>
          <a:prstGeom prst="straightConnector1">
            <a:avLst/>
          </a:prstGeom>
          <a:ln w="920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F51607-4CA0-A596-B1E6-F48F29A22084}"/>
              </a:ext>
            </a:extLst>
          </p:cNvPr>
          <p:cNvCxnSpPr>
            <a:cxnSpLocks/>
          </p:cNvCxnSpPr>
          <p:nvPr/>
        </p:nvCxnSpPr>
        <p:spPr>
          <a:xfrm>
            <a:off x="7058526" y="3898952"/>
            <a:ext cx="1379621" cy="0"/>
          </a:xfrm>
          <a:prstGeom prst="straightConnector1">
            <a:avLst/>
          </a:prstGeom>
          <a:ln w="920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C8D726-9944-D1B5-7DDA-4B9115061DCF}"/>
              </a:ext>
            </a:extLst>
          </p:cNvPr>
          <p:cNvCxnSpPr>
            <a:cxnSpLocks/>
          </p:cNvCxnSpPr>
          <p:nvPr/>
        </p:nvCxnSpPr>
        <p:spPr>
          <a:xfrm>
            <a:off x="8438147" y="3886560"/>
            <a:ext cx="1796042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3374D9-6988-1C90-C93B-854D6DC3DDEE}"/>
              </a:ext>
            </a:extLst>
          </p:cNvPr>
          <p:cNvSpPr txBox="1"/>
          <p:nvPr/>
        </p:nvSpPr>
        <p:spPr>
          <a:xfrm>
            <a:off x="2592925" y="1258669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/>
              <a:t>Limited sources of evidence</a:t>
            </a:r>
          </a:p>
        </p:txBody>
      </p:sp>
    </p:spTree>
    <p:extLst>
      <p:ext uri="{BB962C8B-B14F-4D97-AF65-F5344CB8AC3E}">
        <p14:creationId xmlns:p14="http://schemas.microsoft.com/office/powerpoint/2010/main" val="130440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AB2A-32E3-8F19-407B-6159D71BB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82F9-B685-5032-D417-38EEF646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Studying origins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C607E-4EAC-BE2D-B0CF-6094C6C9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74434F-3F71-491F-FE28-D5BCEB28BD57}"/>
              </a:ext>
            </a:extLst>
          </p:cNvPr>
          <p:cNvCxnSpPr>
            <a:cxnSpLocks/>
          </p:cNvCxnSpPr>
          <p:nvPr/>
        </p:nvCxnSpPr>
        <p:spPr>
          <a:xfrm>
            <a:off x="2925547" y="3886560"/>
            <a:ext cx="1373737" cy="0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333B0B9-447E-94AB-7453-12E29BECDA7B}"/>
              </a:ext>
            </a:extLst>
          </p:cNvPr>
          <p:cNvCxnSpPr>
            <a:cxnSpLocks/>
          </p:cNvCxnSpPr>
          <p:nvPr/>
        </p:nvCxnSpPr>
        <p:spPr>
          <a:xfrm>
            <a:off x="4299284" y="3898952"/>
            <a:ext cx="1379621" cy="0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844B8A-19EC-FEBA-6BAF-F4CC1BE21705}"/>
              </a:ext>
            </a:extLst>
          </p:cNvPr>
          <p:cNvCxnSpPr>
            <a:cxnSpLocks/>
          </p:cNvCxnSpPr>
          <p:nvPr/>
        </p:nvCxnSpPr>
        <p:spPr>
          <a:xfrm>
            <a:off x="5678905" y="3898952"/>
            <a:ext cx="1379621" cy="0"/>
          </a:xfrm>
          <a:prstGeom prst="straightConnector1">
            <a:avLst/>
          </a:prstGeom>
          <a:ln w="920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025EBD-9202-0B9B-F9F8-273F201A69FB}"/>
              </a:ext>
            </a:extLst>
          </p:cNvPr>
          <p:cNvCxnSpPr>
            <a:cxnSpLocks/>
          </p:cNvCxnSpPr>
          <p:nvPr/>
        </p:nvCxnSpPr>
        <p:spPr>
          <a:xfrm>
            <a:off x="7058526" y="3898952"/>
            <a:ext cx="1379621" cy="0"/>
          </a:xfrm>
          <a:prstGeom prst="straightConnector1">
            <a:avLst/>
          </a:prstGeom>
          <a:ln w="920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A8D402-A330-FFEF-8BB0-8084124CBB4D}"/>
              </a:ext>
            </a:extLst>
          </p:cNvPr>
          <p:cNvCxnSpPr>
            <a:cxnSpLocks/>
          </p:cNvCxnSpPr>
          <p:nvPr/>
        </p:nvCxnSpPr>
        <p:spPr>
          <a:xfrm>
            <a:off x="8438147" y="3886560"/>
            <a:ext cx="1796042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CEA450-A140-B908-FAC0-3BBCA1CA2071}"/>
              </a:ext>
            </a:extLst>
          </p:cNvPr>
          <p:cNvSpPr txBox="1"/>
          <p:nvPr/>
        </p:nvSpPr>
        <p:spPr>
          <a:xfrm>
            <a:off x="2592925" y="1258669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/>
              <a:t>Intersecting influences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B6591EB-C18C-CDF2-44D9-9C0B743958BB}"/>
              </a:ext>
            </a:extLst>
          </p:cNvPr>
          <p:cNvCxnSpPr>
            <a:cxnSpLocks/>
          </p:cNvCxnSpPr>
          <p:nvPr/>
        </p:nvCxnSpPr>
        <p:spPr>
          <a:xfrm>
            <a:off x="2592925" y="2835802"/>
            <a:ext cx="1930949" cy="1050758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41C0A8-BE35-1650-B86A-FA721338A853}"/>
              </a:ext>
            </a:extLst>
          </p:cNvPr>
          <p:cNvCxnSpPr>
            <a:cxnSpLocks/>
          </p:cNvCxnSpPr>
          <p:nvPr/>
        </p:nvCxnSpPr>
        <p:spPr>
          <a:xfrm flipV="1">
            <a:off x="2406316" y="4035393"/>
            <a:ext cx="1369462" cy="781969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63F821-EBE9-5C86-0D70-263930F66E2C}"/>
              </a:ext>
            </a:extLst>
          </p:cNvPr>
          <p:cNvCxnSpPr>
            <a:cxnSpLocks/>
          </p:cNvCxnSpPr>
          <p:nvPr/>
        </p:nvCxnSpPr>
        <p:spPr>
          <a:xfrm>
            <a:off x="3272589" y="2539559"/>
            <a:ext cx="783932" cy="1334609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0A065C-AC5C-364E-D82C-0AE07CBC3D91}"/>
              </a:ext>
            </a:extLst>
          </p:cNvPr>
          <p:cNvCxnSpPr>
            <a:cxnSpLocks/>
          </p:cNvCxnSpPr>
          <p:nvPr/>
        </p:nvCxnSpPr>
        <p:spPr>
          <a:xfrm flipV="1">
            <a:off x="4056521" y="4055746"/>
            <a:ext cx="634729" cy="761616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6BC32E-86B5-3D2E-BCE9-9B747C38C132}"/>
              </a:ext>
            </a:extLst>
          </p:cNvPr>
          <p:cNvCxnSpPr>
            <a:cxnSpLocks/>
          </p:cNvCxnSpPr>
          <p:nvPr/>
        </p:nvCxnSpPr>
        <p:spPr>
          <a:xfrm>
            <a:off x="4131908" y="2403118"/>
            <a:ext cx="783932" cy="1334609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92B222-D8C3-DA5E-8D49-1A8554C7992B}"/>
              </a:ext>
            </a:extLst>
          </p:cNvPr>
          <p:cNvCxnSpPr>
            <a:cxnSpLocks/>
          </p:cNvCxnSpPr>
          <p:nvPr/>
        </p:nvCxnSpPr>
        <p:spPr>
          <a:xfrm flipV="1">
            <a:off x="3272589" y="4023000"/>
            <a:ext cx="3096126" cy="1463400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59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8227-1734-7A25-B9A4-735C864F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EEE9-54CD-11A5-1F34-A9DE9F55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Studying origins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E99A2-16B6-B012-4C8A-D3C7230B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274445-6EC6-8E86-C811-7615ACE56C3C}"/>
              </a:ext>
            </a:extLst>
          </p:cNvPr>
          <p:cNvCxnSpPr>
            <a:cxnSpLocks/>
          </p:cNvCxnSpPr>
          <p:nvPr/>
        </p:nvCxnSpPr>
        <p:spPr>
          <a:xfrm>
            <a:off x="2925547" y="3886560"/>
            <a:ext cx="1373737" cy="0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192673-FD0B-5607-D29F-961AC6A4E76D}"/>
              </a:ext>
            </a:extLst>
          </p:cNvPr>
          <p:cNvCxnSpPr>
            <a:cxnSpLocks/>
          </p:cNvCxnSpPr>
          <p:nvPr/>
        </p:nvCxnSpPr>
        <p:spPr>
          <a:xfrm>
            <a:off x="4299284" y="3898952"/>
            <a:ext cx="1379621" cy="0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3DA8107-3918-B5CF-4C5B-A254D268B16D}"/>
              </a:ext>
            </a:extLst>
          </p:cNvPr>
          <p:cNvCxnSpPr>
            <a:cxnSpLocks/>
          </p:cNvCxnSpPr>
          <p:nvPr/>
        </p:nvCxnSpPr>
        <p:spPr>
          <a:xfrm>
            <a:off x="5678905" y="3898952"/>
            <a:ext cx="1379621" cy="0"/>
          </a:xfrm>
          <a:prstGeom prst="straightConnector1">
            <a:avLst/>
          </a:prstGeom>
          <a:ln w="920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89C811-A65D-EACA-F717-DE97A065AC4F}"/>
              </a:ext>
            </a:extLst>
          </p:cNvPr>
          <p:cNvCxnSpPr>
            <a:cxnSpLocks/>
          </p:cNvCxnSpPr>
          <p:nvPr/>
        </p:nvCxnSpPr>
        <p:spPr>
          <a:xfrm>
            <a:off x="7058526" y="3898952"/>
            <a:ext cx="1379621" cy="0"/>
          </a:xfrm>
          <a:prstGeom prst="straightConnector1">
            <a:avLst/>
          </a:prstGeom>
          <a:ln w="92075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3ECF5E-8BA1-A1D8-C0E2-43B4C909D8C5}"/>
              </a:ext>
            </a:extLst>
          </p:cNvPr>
          <p:cNvCxnSpPr>
            <a:cxnSpLocks/>
          </p:cNvCxnSpPr>
          <p:nvPr/>
        </p:nvCxnSpPr>
        <p:spPr>
          <a:xfrm>
            <a:off x="8438147" y="3886560"/>
            <a:ext cx="1796042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704BE7-3648-1112-95D3-D5174B641E4A}"/>
              </a:ext>
            </a:extLst>
          </p:cNvPr>
          <p:cNvSpPr txBox="1"/>
          <p:nvPr/>
        </p:nvSpPr>
        <p:spPr>
          <a:xfrm>
            <a:off x="2592925" y="1258669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/>
              <a:t>New developments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C17B68-63CB-5013-69A2-F30255CE7871}"/>
              </a:ext>
            </a:extLst>
          </p:cNvPr>
          <p:cNvCxnSpPr>
            <a:cxnSpLocks/>
          </p:cNvCxnSpPr>
          <p:nvPr/>
        </p:nvCxnSpPr>
        <p:spPr>
          <a:xfrm>
            <a:off x="2592925" y="2835802"/>
            <a:ext cx="1930949" cy="1050758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DBD521-500E-7225-1401-B8DA5E4D1A0F}"/>
              </a:ext>
            </a:extLst>
          </p:cNvPr>
          <p:cNvCxnSpPr>
            <a:cxnSpLocks/>
          </p:cNvCxnSpPr>
          <p:nvPr/>
        </p:nvCxnSpPr>
        <p:spPr>
          <a:xfrm flipV="1">
            <a:off x="2406316" y="4035393"/>
            <a:ext cx="1369462" cy="781969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43E282-0817-C8D1-B737-AC4DBB160870}"/>
              </a:ext>
            </a:extLst>
          </p:cNvPr>
          <p:cNvCxnSpPr>
            <a:cxnSpLocks/>
          </p:cNvCxnSpPr>
          <p:nvPr/>
        </p:nvCxnSpPr>
        <p:spPr>
          <a:xfrm>
            <a:off x="3272589" y="2539559"/>
            <a:ext cx="783932" cy="1334609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2625C1-27CA-F922-4127-10E6CCE27EE0}"/>
              </a:ext>
            </a:extLst>
          </p:cNvPr>
          <p:cNvCxnSpPr>
            <a:cxnSpLocks/>
          </p:cNvCxnSpPr>
          <p:nvPr/>
        </p:nvCxnSpPr>
        <p:spPr>
          <a:xfrm flipV="1">
            <a:off x="4056521" y="4055746"/>
            <a:ext cx="634729" cy="761616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A8BA49-AB3D-6BC0-7990-39F45D68F81C}"/>
              </a:ext>
            </a:extLst>
          </p:cNvPr>
          <p:cNvCxnSpPr>
            <a:cxnSpLocks/>
          </p:cNvCxnSpPr>
          <p:nvPr/>
        </p:nvCxnSpPr>
        <p:spPr>
          <a:xfrm>
            <a:off x="4131908" y="2403118"/>
            <a:ext cx="783932" cy="1334609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606A12-AF77-CAAA-9809-EC44922DD39E}"/>
              </a:ext>
            </a:extLst>
          </p:cNvPr>
          <p:cNvCxnSpPr>
            <a:cxnSpLocks/>
          </p:cNvCxnSpPr>
          <p:nvPr/>
        </p:nvCxnSpPr>
        <p:spPr>
          <a:xfrm flipV="1">
            <a:off x="3272589" y="4023000"/>
            <a:ext cx="3096126" cy="1463400"/>
          </a:xfrm>
          <a:prstGeom prst="straightConnector1">
            <a:avLst/>
          </a:prstGeom>
          <a:ln w="920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0FFA16-6B5E-C59D-1AA6-7A3F4FE283FB}"/>
              </a:ext>
            </a:extLst>
          </p:cNvPr>
          <p:cNvCxnSpPr>
            <a:cxnSpLocks/>
          </p:cNvCxnSpPr>
          <p:nvPr/>
        </p:nvCxnSpPr>
        <p:spPr>
          <a:xfrm flipV="1">
            <a:off x="6825915" y="2029047"/>
            <a:ext cx="1371601" cy="1701379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75FDF5-63AC-1EF3-4B97-6B689E6854C4}"/>
              </a:ext>
            </a:extLst>
          </p:cNvPr>
          <p:cNvCxnSpPr>
            <a:cxnSpLocks/>
          </p:cNvCxnSpPr>
          <p:nvPr/>
        </p:nvCxnSpPr>
        <p:spPr>
          <a:xfrm flipV="1">
            <a:off x="6825915" y="2594675"/>
            <a:ext cx="2366211" cy="1180230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AF69B2-657F-8045-852D-2F38A39F18A5}"/>
              </a:ext>
            </a:extLst>
          </p:cNvPr>
          <p:cNvCxnSpPr>
            <a:cxnSpLocks/>
          </p:cNvCxnSpPr>
          <p:nvPr/>
        </p:nvCxnSpPr>
        <p:spPr>
          <a:xfrm flipV="1">
            <a:off x="6918690" y="3070422"/>
            <a:ext cx="3227940" cy="744267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1B665-FD2E-72B4-DB59-564800C8F1A4}"/>
              </a:ext>
            </a:extLst>
          </p:cNvPr>
          <p:cNvCxnSpPr>
            <a:cxnSpLocks/>
          </p:cNvCxnSpPr>
          <p:nvPr/>
        </p:nvCxnSpPr>
        <p:spPr>
          <a:xfrm>
            <a:off x="5159804" y="4685571"/>
            <a:ext cx="1898722" cy="509511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FCD386-D829-6019-54F3-A16270EA316C}"/>
              </a:ext>
            </a:extLst>
          </p:cNvPr>
          <p:cNvCxnSpPr>
            <a:cxnSpLocks/>
          </p:cNvCxnSpPr>
          <p:nvPr/>
        </p:nvCxnSpPr>
        <p:spPr>
          <a:xfrm>
            <a:off x="5089280" y="4685571"/>
            <a:ext cx="1401417" cy="1207334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AA09C7-B36D-39C8-EFBE-C9E4977F1257}"/>
              </a:ext>
            </a:extLst>
          </p:cNvPr>
          <p:cNvCxnSpPr>
            <a:cxnSpLocks/>
          </p:cNvCxnSpPr>
          <p:nvPr/>
        </p:nvCxnSpPr>
        <p:spPr>
          <a:xfrm flipV="1">
            <a:off x="5112511" y="2946375"/>
            <a:ext cx="983489" cy="1668481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2E232F-2AAC-FB0C-33CE-A7AB15E4005E}"/>
              </a:ext>
            </a:extLst>
          </p:cNvPr>
          <p:cNvCxnSpPr>
            <a:cxnSpLocks/>
          </p:cNvCxnSpPr>
          <p:nvPr/>
        </p:nvCxnSpPr>
        <p:spPr>
          <a:xfrm flipV="1">
            <a:off x="6129447" y="2073526"/>
            <a:ext cx="2113447" cy="893064"/>
          </a:xfrm>
          <a:prstGeom prst="straightConnector1">
            <a:avLst/>
          </a:prstGeom>
          <a:ln w="920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EA1B67-13BB-A769-712D-6C2739A6102F}"/>
              </a:ext>
            </a:extLst>
          </p:cNvPr>
          <p:cNvCxnSpPr>
            <a:cxnSpLocks/>
          </p:cNvCxnSpPr>
          <p:nvPr/>
        </p:nvCxnSpPr>
        <p:spPr>
          <a:xfrm>
            <a:off x="8242894" y="2073526"/>
            <a:ext cx="1991295" cy="0"/>
          </a:xfrm>
          <a:prstGeom prst="straightConnector1">
            <a:avLst/>
          </a:prstGeom>
          <a:ln w="920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621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C19C-1137-E113-9466-426FC884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did </a:t>
            </a:r>
            <a:r>
              <a:rPr lang="en-CA" dirty="0" err="1"/>
              <a:t>P’ansori</a:t>
            </a:r>
            <a:r>
              <a:rPr lang="en-CA" dirty="0"/>
              <a:t>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3FB4-478A-8463-858B-8D914DF9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000" dirty="0"/>
              <a:t>Shamanism</a:t>
            </a:r>
          </a:p>
          <a:p>
            <a:r>
              <a:rPr lang="en-CA" sz="2000" dirty="0"/>
              <a:t>Court &amp; palace culture</a:t>
            </a:r>
          </a:p>
          <a:p>
            <a:r>
              <a:rPr lang="en-CA" sz="2000" dirty="0"/>
              <a:t>Popular entertainment</a:t>
            </a:r>
          </a:p>
          <a:p>
            <a:endParaRPr lang="en-CA" dirty="0"/>
          </a:p>
          <a:p>
            <a:r>
              <a:rPr lang="en-CA" sz="2000" dirty="0"/>
              <a:t>Can we consider any one of these as the ‘single’ origin of </a:t>
            </a:r>
            <a:r>
              <a:rPr lang="en-CA" sz="2000" dirty="0" err="1"/>
              <a:t>p’ansori</a:t>
            </a:r>
            <a:r>
              <a:rPr lang="en-CA" sz="2000" dirty="0"/>
              <a:t>?</a:t>
            </a:r>
          </a:p>
          <a:p>
            <a:r>
              <a:rPr lang="en-CA" sz="2000" dirty="0"/>
              <a:t>Effect of emphasizing one over the others?</a:t>
            </a:r>
          </a:p>
          <a:p>
            <a:r>
              <a:rPr lang="en-CA" sz="2000" dirty="0"/>
              <a:t>Other issues:</a:t>
            </a:r>
          </a:p>
          <a:p>
            <a:pPr lvl="1"/>
            <a:r>
              <a:rPr lang="en-CA" sz="1800" dirty="0"/>
              <a:t>Few texts exist; popular, orally transmitted practices lack written documentation</a:t>
            </a:r>
          </a:p>
          <a:p>
            <a:pPr lvl="1"/>
            <a:r>
              <a:rPr lang="en-CA" sz="1800" dirty="0"/>
              <a:t>Texts tend to emphasize elite courtly culture, palace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DE024-FBCA-D3DD-5B1B-57DE72B3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5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A6EB-B31E-CBB0-2564-A1B90DEB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Shamanism</a:t>
            </a:r>
            <a:endParaRPr lang="en-CA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21D6-DDE3-5E33-1FB8-393C86B1E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67200"/>
          </a:xfrm>
        </p:spPr>
        <p:txBody>
          <a:bodyPr>
            <a:noAutofit/>
          </a:bodyPr>
          <a:lstStyle/>
          <a:p>
            <a:r>
              <a:rPr lang="en-CA" dirty="0" err="1"/>
              <a:t>Hwarang</a:t>
            </a:r>
            <a:r>
              <a:rPr lang="en-CA" dirty="0"/>
              <a:t>: </a:t>
            </a:r>
          </a:p>
          <a:p>
            <a:pPr lvl="1"/>
            <a:r>
              <a:rPr lang="en-CA" sz="1800" dirty="0"/>
              <a:t>Young men from elite families, Military training, w/ roles in ritual &amp; performance</a:t>
            </a:r>
          </a:p>
          <a:p>
            <a:pPr lvl="1"/>
            <a:r>
              <a:rPr lang="en-CA" sz="1800" dirty="0"/>
              <a:t>Would become generals or civil officials in adulthood</a:t>
            </a:r>
          </a:p>
          <a:p>
            <a:pPr lvl="1"/>
            <a:r>
              <a:rPr lang="en-CA" sz="1800" dirty="0"/>
              <a:t> Competition from new paths to mil./civil service, Decline and sporadic revival.</a:t>
            </a:r>
          </a:p>
          <a:p>
            <a:pPr lvl="1"/>
            <a:r>
              <a:rPr lang="en-CA" sz="1800" dirty="0"/>
              <a:t>Did descendants continue outside of court, becoming shamans, entertainers, etc.?</a:t>
            </a:r>
          </a:p>
          <a:p>
            <a:r>
              <a:rPr lang="en-CA" dirty="0"/>
              <a:t>‘Shamanism’ (Mudang)</a:t>
            </a:r>
          </a:p>
          <a:p>
            <a:pPr lvl="1"/>
            <a:r>
              <a:rPr lang="en-CA" sz="1800" dirty="0"/>
              <a:t>Ritual performance, to interact with deities on behalf of others</a:t>
            </a:r>
          </a:p>
          <a:p>
            <a:pPr lvl="1"/>
            <a:r>
              <a:rPr lang="en-CA" sz="1800" dirty="0"/>
              <a:t>In some regions, a hereditary profession (</a:t>
            </a:r>
            <a:r>
              <a:rPr lang="en-CA" sz="1800" dirty="0" err="1"/>
              <a:t>Tan’gol</a:t>
            </a:r>
            <a:r>
              <a:rPr lang="en-CA" sz="1800" dirty="0"/>
              <a:t>)</a:t>
            </a:r>
          </a:p>
          <a:p>
            <a:pPr lvl="1"/>
            <a:r>
              <a:rPr lang="en-CA" sz="1800" dirty="0"/>
              <a:t>Women, with accompaniment by men</a:t>
            </a:r>
          </a:p>
          <a:p>
            <a:pPr lvl="1"/>
            <a:r>
              <a:rPr lang="en-CA" sz="1800" dirty="0"/>
              <a:t>Rhythmic, vocal performance, also appreciated as entertainment or spectacle</a:t>
            </a:r>
          </a:p>
          <a:p>
            <a:pPr lvl="1"/>
            <a:r>
              <a:rPr lang="en-CA" sz="1800" dirty="0"/>
              <a:t>Scholars have found musical similarity between </a:t>
            </a:r>
            <a:r>
              <a:rPr lang="en-CA" sz="1800" dirty="0" err="1"/>
              <a:t>p’ansori</a:t>
            </a:r>
            <a:r>
              <a:rPr lang="en-CA" sz="1800" dirty="0"/>
              <a:t> &amp; shaman songs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E2413-EC5F-DB42-02F6-C8805739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09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A6FE-3E69-2690-50C5-89027126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Court &amp; palace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8C6F-3B2D-C0CF-0FE7-E85817917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After </a:t>
            </a:r>
            <a:r>
              <a:rPr lang="en-CA" dirty="0" err="1"/>
              <a:t>Hwarang</a:t>
            </a:r>
            <a:r>
              <a:rPr lang="en-CA" dirty="0"/>
              <a:t>, performances in court continued, with mixed reception.</a:t>
            </a:r>
          </a:p>
          <a:p>
            <a:r>
              <a:rPr lang="en-CA" dirty="0"/>
              <a:t>“Stage plays” (</a:t>
            </a:r>
            <a:r>
              <a:rPr lang="en-CA" dirty="0" err="1"/>
              <a:t>Sandaehŭi</a:t>
            </a:r>
            <a:r>
              <a:rPr lang="en-CA" dirty="0"/>
              <a:t>)</a:t>
            </a:r>
          </a:p>
          <a:p>
            <a:pPr lvl="1"/>
            <a:r>
              <a:rPr lang="en-CA" sz="1800" dirty="0"/>
              <a:t>‘Variety’ performance that included acrobatics, music, oral performance</a:t>
            </a:r>
          </a:p>
          <a:p>
            <a:r>
              <a:rPr lang="en-CA" dirty="0"/>
              <a:t>Ceremony/ritual? Entertainment for palace residents? ‘Voice of the people’?</a:t>
            </a:r>
          </a:p>
          <a:p>
            <a:r>
              <a:rPr lang="en-CA" dirty="0"/>
              <a:t>Popular among palace residents</a:t>
            </a:r>
          </a:p>
          <a:p>
            <a:r>
              <a:rPr lang="en-CA" dirty="0"/>
              <a:t>Occasionally valued by officials/rulers for providing insight into needs of populace</a:t>
            </a:r>
          </a:p>
          <a:p>
            <a:r>
              <a:rPr lang="en-CA" dirty="0"/>
              <a:t>But also critiqued as frivolous, wasteful, or distracting.</a:t>
            </a:r>
          </a:p>
          <a:p>
            <a:r>
              <a:rPr lang="en-CA" dirty="0"/>
              <a:t>‘</a:t>
            </a:r>
            <a:r>
              <a:rPr lang="en-CA" dirty="0" err="1"/>
              <a:t>Kwangdae</a:t>
            </a:r>
            <a:r>
              <a:rPr lang="en-CA" dirty="0"/>
              <a:t>’ performers came from same hereditary class as shamans, their partners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7CBBD-F84B-49F3-9F90-2E6C6CF4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02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E768-5C89-2E34-1CD0-EBBCDD1A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Popular entertainment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E5475-1A1C-A37A-CC44-1DE3DB8DA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rmAutofit/>
          </a:bodyPr>
          <a:lstStyle/>
          <a:p>
            <a:r>
              <a:rPr lang="en-CA" dirty="0"/>
              <a:t>Court performers likely also entertained audiences elsewhere, </a:t>
            </a:r>
          </a:p>
          <a:p>
            <a:r>
              <a:rPr lang="en-CA" dirty="0"/>
              <a:t>Incl. after their presence was no longer wanted in the palace.</a:t>
            </a:r>
          </a:p>
          <a:p>
            <a:r>
              <a:rPr lang="en-CA" dirty="0"/>
              <a:t>Much less is known about popular entertainment outside of the palace in early history.</a:t>
            </a:r>
          </a:p>
          <a:p>
            <a:r>
              <a:rPr lang="en-CA" dirty="0"/>
              <a:t>Entertainers for elite and commoners likely developed styles that appealed to both </a:t>
            </a:r>
          </a:p>
          <a:p>
            <a:r>
              <a:rPr lang="en-CA" dirty="0"/>
              <a:t>Major changes from 17</a:t>
            </a:r>
            <a:r>
              <a:rPr lang="en-CA" baseline="30000" dirty="0"/>
              <a:t>th</a:t>
            </a:r>
            <a:r>
              <a:rPr lang="en-CA" dirty="0"/>
              <a:t>-19</a:t>
            </a:r>
            <a:r>
              <a:rPr lang="en-CA" baseline="30000" dirty="0"/>
              <a:t>th</a:t>
            </a:r>
            <a:r>
              <a:rPr lang="en-CA" dirty="0"/>
              <a:t> centuries &amp; popular entertainment:</a:t>
            </a:r>
          </a:p>
          <a:p>
            <a:pPr lvl="1"/>
            <a:r>
              <a:rPr lang="en-CA" sz="1800" dirty="0"/>
              <a:t>Urbanization -&gt; New locations, audiences for public performances</a:t>
            </a:r>
          </a:p>
          <a:p>
            <a:pPr lvl="1"/>
            <a:r>
              <a:rPr lang="en-CA" sz="1800" dirty="0"/>
              <a:t>Wealth in non-aristocratic families -&gt; New group of patrons to hire entertainers</a:t>
            </a:r>
          </a:p>
          <a:p>
            <a:pPr lvl="1"/>
            <a:r>
              <a:rPr lang="en-CA" sz="1800" dirty="0"/>
              <a:t>More writing produced, preserved -&gt; New texts about daily life, incl. performance</a:t>
            </a:r>
          </a:p>
          <a:p>
            <a:r>
              <a:rPr lang="en-CA" dirty="0"/>
              <a:t>Result: By 19</a:t>
            </a:r>
            <a:r>
              <a:rPr lang="en-CA" baseline="30000" dirty="0"/>
              <a:t>th</a:t>
            </a:r>
            <a:r>
              <a:rPr lang="en-CA" dirty="0"/>
              <a:t> cent, </a:t>
            </a:r>
            <a:r>
              <a:rPr lang="en-CA" dirty="0" err="1"/>
              <a:t>p’ansori</a:t>
            </a:r>
            <a:r>
              <a:rPr lang="en-CA" dirty="0"/>
              <a:t>-style performance well attested in several 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B9A7-DEAF-125F-8B0A-198607B3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1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2D4A-32B2-1196-DDF4-7144ADA2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Early research &amp; debate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BF2E-2F2B-772A-1C6D-A6D85007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100290"/>
          </a:xfrm>
        </p:spPr>
        <p:txBody>
          <a:bodyPr>
            <a:noAutofit/>
          </a:bodyPr>
          <a:lstStyle/>
          <a:p>
            <a:r>
              <a:rPr lang="en-CA" sz="1600" dirty="0"/>
              <a:t>Current theories: </a:t>
            </a:r>
          </a:p>
          <a:p>
            <a:pPr lvl="1"/>
            <a:r>
              <a:rPr lang="en-CA" dirty="0" err="1"/>
              <a:t>P’ansori</a:t>
            </a:r>
            <a:r>
              <a:rPr lang="en-CA" dirty="0"/>
              <a:t> music, rhythms are very similar to shaman songs, esp. of </a:t>
            </a:r>
            <a:r>
              <a:rPr lang="en-CA" dirty="0" err="1"/>
              <a:t>Chŏlla</a:t>
            </a:r>
            <a:r>
              <a:rPr lang="en-CA" dirty="0"/>
              <a:t> (</a:t>
            </a:r>
            <a:r>
              <a:rPr lang="en-CA" dirty="0" err="1"/>
              <a:t>Jeolla</a:t>
            </a:r>
            <a:r>
              <a:rPr lang="en-CA" dirty="0"/>
              <a:t>) region.</a:t>
            </a:r>
          </a:p>
          <a:p>
            <a:pPr lvl="1"/>
            <a:r>
              <a:rPr lang="en-CA" dirty="0"/>
              <a:t>Men performed alongside female shamans, and as entertainers</a:t>
            </a:r>
          </a:p>
          <a:p>
            <a:pPr lvl="1"/>
            <a:r>
              <a:rPr lang="en-CA" dirty="0"/>
              <a:t>Entertainers moved between palace, villages, cities, performing to elite &amp; commoners</a:t>
            </a:r>
          </a:p>
          <a:p>
            <a:r>
              <a:rPr lang="en-CA" sz="1600" dirty="0"/>
              <a:t>Origins among shamans of </a:t>
            </a:r>
            <a:r>
              <a:rPr lang="en-CA" sz="1600" dirty="0" err="1"/>
              <a:t>Chŏlla</a:t>
            </a:r>
            <a:r>
              <a:rPr lang="en-CA" sz="1600" dirty="0"/>
              <a:t> region first posited in 1940s</a:t>
            </a:r>
          </a:p>
          <a:p>
            <a:r>
              <a:rPr lang="en-CA" sz="1600" dirty="0"/>
              <a:t>Before and since, other theories have been made:</a:t>
            </a:r>
          </a:p>
          <a:p>
            <a:pPr lvl="1"/>
            <a:r>
              <a:rPr lang="en-CA" dirty="0"/>
              <a:t>Did ‘</a:t>
            </a:r>
            <a:r>
              <a:rPr lang="en-CA" dirty="0" err="1"/>
              <a:t>P’ansori</a:t>
            </a:r>
            <a:r>
              <a:rPr lang="en-CA" dirty="0"/>
              <a:t> novels’ actually predate </a:t>
            </a:r>
            <a:r>
              <a:rPr lang="en-CA" dirty="0" err="1"/>
              <a:t>p’ansori</a:t>
            </a:r>
            <a:r>
              <a:rPr lang="en-CA" dirty="0"/>
              <a:t> performance? </a:t>
            </a:r>
          </a:p>
          <a:p>
            <a:pPr lvl="1"/>
            <a:r>
              <a:rPr lang="en-CA" dirty="0"/>
              <a:t>Were they inspired by Chinese narrative traditions or even traveling singers from China?</a:t>
            </a:r>
          </a:p>
          <a:p>
            <a:pPr lvl="1"/>
            <a:r>
              <a:rPr lang="en-CA" dirty="0"/>
              <a:t>Shamanic traditions of other regions?</a:t>
            </a:r>
          </a:p>
          <a:p>
            <a:pPr lvl="1"/>
            <a:r>
              <a:rPr lang="en-CA" dirty="0"/>
              <a:t>Classical, elite literary recitation tradition, ‘top-down’ influence on popular entertainment?</a:t>
            </a:r>
          </a:p>
          <a:p>
            <a:r>
              <a:rPr lang="en-CA" sz="1600" dirty="0"/>
              <a:t>Elements of influence from most are evident in </a:t>
            </a:r>
            <a:r>
              <a:rPr lang="en-CA" sz="1600" dirty="0" err="1"/>
              <a:t>p’ansori</a:t>
            </a:r>
            <a:r>
              <a:rPr lang="en-CA" sz="1600" dirty="0"/>
              <a:t> as performed in 19</a:t>
            </a:r>
            <a:r>
              <a:rPr lang="en-CA" sz="1600" baseline="30000" dirty="0"/>
              <a:t>th</a:t>
            </a:r>
            <a:r>
              <a:rPr lang="en-CA" sz="1600" dirty="0"/>
              <a:t> – 20</a:t>
            </a:r>
            <a:r>
              <a:rPr lang="en-CA" sz="1600" baseline="30000" dirty="0"/>
              <a:t>th</a:t>
            </a:r>
            <a:r>
              <a:rPr lang="en-CA" sz="1600" dirty="0"/>
              <a:t> century.</a:t>
            </a:r>
          </a:p>
          <a:p>
            <a:r>
              <a:rPr lang="en-CA" sz="1600" dirty="0"/>
              <a:t>Ongoing research will add depth, but will a single ‘direct ancestor’ ever truly be identified?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CF5DD-8945-D00B-D1DF-D529348B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BFC3-7F4F-D3E5-2DE8-7AFC84E6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P’ansori</a:t>
            </a:r>
            <a:r>
              <a:rPr lang="en-CA" dirty="0"/>
              <a:t> in the 19</a:t>
            </a:r>
            <a:r>
              <a:rPr lang="en-CA" baseline="30000" dirty="0"/>
              <a:t>th</a:t>
            </a:r>
            <a:r>
              <a:rPr lang="en-CA" dirty="0"/>
              <a:t>–20</a:t>
            </a:r>
            <a:r>
              <a:rPr lang="en-CA" baseline="30000" dirty="0"/>
              <a:t>th</a:t>
            </a:r>
            <a:r>
              <a:rPr lang="en-CA" dirty="0"/>
              <a:t> Centuries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C2A6F-FF2B-BBD6-B6FC-0F53788A5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Popularization</a:t>
            </a:r>
          </a:p>
          <a:p>
            <a:pPr lvl="1"/>
            <a:r>
              <a:rPr lang="en-CA" sz="2000" dirty="0"/>
              <a:t>New audiences, new performers, new sources of evidence</a:t>
            </a:r>
          </a:p>
          <a:p>
            <a:r>
              <a:rPr lang="en-CA" sz="2000" dirty="0"/>
              <a:t>Modernization</a:t>
            </a:r>
          </a:p>
          <a:p>
            <a:pPr lvl="1"/>
            <a:r>
              <a:rPr lang="en-CA" sz="2000" dirty="0"/>
              <a:t>New technologies, new forms</a:t>
            </a:r>
          </a:p>
          <a:p>
            <a:r>
              <a:rPr lang="en-CA" sz="2000" dirty="0"/>
              <a:t>Heritagization</a:t>
            </a:r>
          </a:p>
          <a:p>
            <a:pPr lvl="1"/>
            <a:r>
              <a:rPr lang="en-CA" sz="2000" dirty="0"/>
              <a:t>New recognition of ‘cultural significance’</a:t>
            </a:r>
          </a:p>
          <a:p>
            <a:pPr lvl="1"/>
            <a:r>
              <a:rPr lang="en-CA" sz="2000" dirty="0"/>
              <a:t>New standards &amp;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F7D8-4C13-6B60-FF66-95FE7839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2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D6DE-1FCF-DC6B-1E9A-3180DC5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P’ansori</a:t>
            </a:r>
            <a:r>
              <a:rPr lang="en-CA" dirty="0"/>
              <a:t> in the 19</a:t>
            </a:r>
            <a:r>
              <a:rPr lang="en-CA" baseline="30000" dirty="0"/>
              <a:t>th</a:t>
            </a:r>
            <a:r>
              <a:rPr lang="en-CA" dirty="0"/>
              <a:t> century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E2B5-416F-CC79-E4F5-B1ADB06C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Autofit/>
          </a:bodyPr>
          <a:lstStyle/>
          <a:p>
            <a:r>
              <a:rPr lang="en-CA" sz="1700" dirty="0"/>
              <a:t>New sources of evidence:</a:t>
            </a:r>
          </a:p>
          <a:p>
            <a:pPr lvl="1"/>
            <a:r>
              <a:rPr lang="en-CA" sz="1700" dirty="0"/>
              <a:t>A transcription of a performance, translated into Chinese</a:t>
            </a:r>
          </a:p>
          <a:p>
            <a:pPr lvl="1"/>
            <a:r>
              <a:rPr lang="en-CA" sz="1700" dirty="0"/>
              <a:t>Poems describing a outdoor performances</a:t>
            </a:r>
          </a:p>
          <a:p>
            <a:pPr lvl="1"/>
            <a:r>
              <a:rPr lang="en-CA" sz="1700" dirty="0"/>
              <a:t> ‘Lineages’ of performers, tracing teachers &amp; students to past generations</a:t>
            </a:r>
          </a:p>
          <a:p>
            <a:r>
              <a:rPr lang="en-CA" sz="1700" dirty="0"/>
              <a:t>New (or newly documented) details of performance &amp; performers:</a:t>
            </a:r>
          </a:p>
          <a:p>
            <a:pPr lvl="1"/>
            <a:r>
              <a:rPr lang="en-CA" sz="1700" dirty="0" err="1"/>
              <a:t>Kwangdae</a:t>
            </a:r>
            <a:r>
              <a:rPr lang="en-CA" sz="1700" dirty="0"/>
              <a:t> &amp; drummer perform alone in various settings (w/o other entertainers)</a:t>
            </a:r>
          </a:p>
          <a:p>
            <a:pPr lvl="1"/>
            <a:r>
              <a:rPr lang="en-CA" sz="1700" dirty="0"/>
              <a:t>Standard repertoire of 12 pieces</a:t>
            </a:r>
          </a:p>
          <a:p>
            <a:pPr lvl="1"/>
            <a:r>
              <a:rPr lang="en-CA" sz="1700" dirty="0"/>
              <a:t>Interest of elite in viewing, documenting, and even training to become </a:t>
            </a:r>
            <a:r>
              <a:rPr lang="en-CA" sz="1700" dirty="0" err="1"/>
              <a:t>kwangdae</a:t>
            </a:r>
            <a:endParaRPr lang="en-CA" sz="1700" dirty="0"/>
          </a:p>
          <a:p>
            <a:pPr lvl="1"/>
            <a:r>
              <a:rPr lang="en-CA" sz="1700" dirty="0"/>
              <a:t>Preferences of elite viewers lead to narrower repertoire of ‘acceptable’ pieces</a:t>
            </a:r>
          </a:p>
          <a:p>
            <a:r>
              <a:rPr lang="en-CA" sz="1700" dirty="0"/>
              <a:t>These trends continue, with result that by late 19</a:t>
            </a:r>
            <a:r>
              <a:rPr lang="en-CA" sz="1700" baseline="30000" dirty="0"/>
              <a:t>th</a:t>
            </a:r>
            <a:r>
              <a:rPr lang="en-CA" sz="1700" dirty="0"/>
              <a:t> century </a:t>
            </a:r>
            <a:r>
              <a:rPr lang="en-CA" sz="1700" dirty="0" err="1"/>
              <a:t>p’ansori</a:t>
            </a:r>
            <a:r>
              <a:rPr lang="en-CA" sz="1700" dirty="0"/>
              <a:t> has...</a:t>
            </a:r>
          </a:p>
          <a:p>
            <a:r>
              <a:rPr lang="en-CA" sz="1700" dirty="0"/>
              <a:t>widespread popularity, extensive documentation, deep culture of connoisseurs &amp; critics.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56FC0-6E69-AB3F-B7C8-6CE3664C9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07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D56-7509-0E3E-8672-DF006618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Early 20</a:t>
            </a:r>
            <a:r>
              <a:rPr lang="en-CA" baseline="30000" dirty="0"/>
              <a:t>th</a:t>
            </a:r>
            <a:r>
              <a:rPr lang="en-CA" dirty="0"/>
              <a:t> century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970C-D3A4-4C08-D393-B2812FA86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48589"/>
            <a:ext cx="8915400" cy="4485301"/>
          </a:xfrm>
        </p:spPr>
        <p:txBody>
          <a:bodyPr>
            <a:normAutofit lnSpcReduction="10000"/>
          </a:bodyPr>
          <a:lstStyle/>
          <a:p>
            <a:r>
              <a:rPr lang="en-CA" dirty="0"/>
              <a:t>New technology:</a:t>
            </a:r>
          </a:p>
          <a:p>
            <a:pPr lvl="1"/>
            <a:r>
              <a:rPr lang="en-CA" dirty="0"/>
              <a:t>Recording tech expands audience, but also encourages preference for shorter performances</a:t>
            </a:r>
          </a:p>
          <a:p>
            <a:pPr lvl="1"/>
            <a:r>
              <a:rPr lang="en-CA" dirty="0"/>
              <a:t>Developments in marketing, commercialization also influence development</a:t>
            </a:r>
          </a:p>
          <a:p>
            <a:r>
              <a:rPr lang="en-CA" dirty="0"/>
              <a:t>New forms:</a:t>
            </a:r>
          </a:p>
          <a:p>
            <a:pPr lvl="1"/>
            <a:r>
              <a:rPr lang="en-CA" dirty="0"/>
              <a:t>Stage plays with multiple performers become popular, compete w/&amp; influence </a:t>
            </a:r>
            <a:r>
              <a:rPr lang="en-CA" dirty="0" err="1"/>
              <a:t>p’ansori</a:t>
            </a:r>
            <a:endParaRPr lang="en-CA" dirty="0"/>
          </a:p>
          <a:p>
            <a:pPr lvl="1"/>
            <a:r>
              <a:rPr lang="en-CA" dirty="0"/>
              <a:t>Cinema as competitor leads to decline &amp; first ‘revival’ efforts</a:t>
            </a:r>
          </a:p>
          <a:p>
            <a:r>
              <a:rPr lang="en-CA" dirty="0"/>
              <a:t>Colonization &amp; restriction</a:t>
            </a:r>
          </a:p>
          <a:p>
            <a:pPr lvl="1"/>
            <a:r>
              <a:rPr lang="en-CA" dirty="0"/>
              <a:t>Japanese occupation leads to censorship, pressure to insert pro-colonial propaganda</a:t>
            </a:r>
          </a:p>
          <a:p>
            <a:pPr lvl="1"/>
            <a:r>
              <a:rPr lang="en-CA" dirty="0" err="1"/>
              <a:t>P’ansori</a:t>
            </a:r>
            <a:r>
              <a:rPr lang="en-CA" dirty="0"/>
              <a:t> performers conscripted to entertain soldiers in state-run facilities</a:t>
            </a:r>
          </a:p>
          <a:p>
            <a:r>
              <a:rPr lang="en-CA" dirty="0"/>
              <a:t>Post-WWII</a:t>
            </a:r>
          </a:p>
          <a:p>
            <a:pPr lvl="1"/>
            <a:r>
              <a:rPr lang="en-CA" dirty="0"/>
              <a:t>Partition of N &amp; S Korea causes dispersal of many groups &amp; centers of performance</a:t>
            </a:r>
          </a:p>
          <a:p>
            <a:pPr lvl="1"/>
            <a:r>
              <a:rPr lang="en-CA" dirty="0"/>
              <a:t>National agencies established in S. Korea to oversee traditional performing 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5AD28-881E-F137-9277-EED577E5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60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D58F-9ED4-9580-3A5D-7F1A52186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‘Heritagization’ and ‘New Pansori’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58569-EEC1-59B6-C117-6CC11CBC5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1964: </a:t>
            </a:r>
            <a:r>
              <a:rPr lang="en-US" dirty="0" err="1"/>
              <a:t>P’ansori</a:t>
            </a:r>
            <a:r>
              <a:rPr lang="en-US" dirty="0"/>
              <a:t> recognized as important national heritage culture</a:t>
            </a:r>
          </a:p>
          <a:p>
            <a:r>
              <a:rPr lang="en-US" dirty="0"/>
              <a:t>A ‘tradition’ to be protected &amp; maintained</a:t>
            </a:r>
          </a:p>
          <a:p>
            <a:r>
              <a:rPr lang="en-US" dirty="0"/>
              <a:t> Standardization of styles, themes, repertoires, with disappearance of others</a:t>
            </a:r>
          </a:p>
          <a:p>
            <a:r>
              <a:rPr lang="en-US" dirty="0"/>
              <a:t>Reevaluated as ‘high art’ rather than folk performance. </a:t>
            </a:r>
          </a:p>
          <a:p>
            <a:r>
              <a:rPr lang="en-CA" dirty="0"/>
              <a:t>‘Revitalization’ movements coincide with scholarly efforts to understand origins.</a:t>
            </a:r>
          </a:p>
          <a:p>
            <a:pPr lvl="1"/>
            <a:r>
              <a:rPr lang="en-CA" dirty="0"/>
              <a:t>Ca. 1970’s, research on musical similarities w/shaman songs strengthens earlier theory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Meanwhile...</a:t>
            </a:r>
          </a:p>
          <a:p>
            <a:r>
              <a:rPr lang="en-US" dirty="0"/>
              <a:t>Traditional performing arts also become a medium for protest and activism</a:t>
            </a:r>
          </a:p>
          <a:p>
            <a:r>
              <a:rPr lang="en-US" dirty="0"/>
              <a:t>‘New </a:t>
            </a:r>
            <a:r>
              <a:rPr lang="en-US" dirty="0" err="1"/>
              <a:t>P’ansori</a:t>
            </a:r>
            <a:r>
              <a:rPr lang="en-US" dirty="0"/>
              <a:t>’ written and performed to express attitudes about the present, </a:t>
            </a:r>
            <a:br>
              <a:rPr lang="en-US" dirty="0"/>
            </a:br>
            <a:r>
              <a:rPr lang="en-US" dirty="0"/>
              <a:t>rather than just preserve forms &amp; pieces introduced before occupation</a:t>
            </a:r>
          </a:p>
          <a:p>
            <a:r>
              <a:rPr lang="en-CA" dirty="0"/>
              <a:t>More in next unit!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AE7B3-8DB2-361A-2226-699B54D7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771F-34B3-2ACF-AE53-8FA68ADB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Summary: </a:t>
            </a:r>
            <a:r>
              <a:rPr lang="en-CA" dirty="0" err="1"/>
              <a:t>P’ansori</a:t>
            </a:r>
            <a:r>
              <a:rPr lang="en-CA" dirty="0"/>
              <a:t> then and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28E23-BB5A-E090-5FFB-6D926F38A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14027"/>
            <a:ext cx="9073399" cy="4519863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Spoken/sung performance w/musical accompaniment has a long history in Korea</a:t>
            </a:r>
          </a:p>
          <a:p>
            <a:pPr lvl="1"/>
            <a:r>
              <a:rPr lang="en-CA" dirty="0"/>
              <a:t>Precise details, connections are hard to establish due to limited material evidence</a:t>
            </a:r>
          </a:p>
          <a:p>
            <a:r>
              <a:rPr lang="en-CA" dirty="0"/>
              <a:t>18</a:t>
            </a:r>
            <a:r>
              <a:rPr lang="en-CA" baseline="30000" dirty="0"/>
              <a:t>th</a:t>
            </a:r>
            <a:r>
              <a:rPr lang="en-CA" dirty="0"/>
              <a:t> cent key era for features assoc. w/</a:t>
            </a:r>
            <a:r>
              <a:rPr lang="en-CA" dirty="0" err="1"/>
              <a:t>p’ansori</a:t>
            </a:r>
            <a:r>
              <a:rPr lang="en-CA" dirty="0"/>
              <a:t>, but variation remained:</a:t>
            </a:r>
          </a:p>
          <a:p>
            <a:pPr lvl="1"/>
            <a:r>
              <a:rPr lang="en-CA" dirty="0"/>
              <a:t>2 performers: Voice &amp; rhythm (but often as part of ‘variety shows’) </a:t>
            </a:r>
          </a:p>
          <a:p>
            <a:pPr lvl="1"/>
            <a:r>
              <a:rPr lang="en-CA" dirty="0"/>
              <a:t>Fixed repertoire of ~12 pieces (but some uncertainty about contents)</a:t>
            </a:r>
          </a:p>
          <a:p>
            <a:pPr lvl="1"/>
            <a:r>
              <a:rPr lang="en-CA" dirty="0"/>
              <a:t>Association w/ </a:t>
            </a:r>
            <a:r>
              <a:rPr lang="en-CA" dirty="0" err="1"/>
              <a:t>Chŏlla</a:t>
            </a:r>
            <a:r>
              <a:rPr lang="en-CA" dirty="0"/>
              <a:t> region (but performers also came from elsewhere)</a:t>
            </a:r>
          </a:p>
          <a:p>
            <a:r>
              <a:rPr lang="en-CA" dirty="0"/>
              <a:t>In 19</a:t>
            </a:r>
            <a:r>
              <a:rPr lang="en-CA" baseline="30000" dirty="0"/>
              <a:t>th</a:t>
            </a:r>
            <a:r>
              <a:rPr lang="en-CA" dirty="0"/>
              <a:t> cent, more written documentation of </a:t>
            </a:r>
            <a:r>
              <a:rPr lang="en-CA" dirty="0" err="1"/>
              <a:t>p’ansori</a:t>
            </a:r>
            <a:r>
              <a:rPr lang="en-CA" dirty="0"/>
              <a:t>, but also ongoing change</a:t>
            </a:r>
          </a:p>
          <a:p>
            <a:pPr lvl="1"/>
            <a:r>
              <a:rPr lang="en-CA" dirty="0"/>
              <a:t>Consider: ‘living tradition,’ Subtle changes of style, technique from teacher to student</a:t>
            </a:r>
          </a:p>
          <a:p>
            <a:r>
              <a:rPr lang="en-CA" dirty="0"/>
              <a:t>In early 20</a:t>
            </a:r>
            <a:r>
              <a:rPr lang="en-CA" baseline="30000" dirty="0"/>
              <a:t>th</a:t>
            </a:r>
            <a:r>
              <a:rPr lang="en-CA" dirty="0"/>
              <a:t> cent, change continues, influenced by new factors</a:t>
            </a:r>
          </a:p>
          <a:p>
            <a:pPr lvl="1"/>
            <a:r>
              <a:rPr lang="en-CA" dirty="0"/>
              <a:t>Shaped by new media competitors, Japanese occupation</a:t>
            </a:r>
          </a:p>
          <a:p>
            <a:r>
              <a:rPr lang="en-CA" dirty="0"/>
              <a:t>Post 1960’s contemporary form is standardized, widespread, and ‘elevated’ in status</a:t>
            </a:r>
          </a:p>
          <a:p>
            <a:pPr lvl="1"/>
            <a:r>
              <a:rPr lang="en-CA" dirty="0"/>
              <a:t>As earlier, even ‘traditional’ performers balance ‘authenticity’ and unique personal style</a:t>
            </a:r>
          </a:p>
          <a:p>
            <a:pPr lvl="1"/>
            <a:r>
              <a:rPr lang="en-CA" dirty="0"/>
              <a:t>And coexists with ‘new </a:t>
            </a:r>
            <a:r>
              <a:rPr lang="en-CA" dirty="0" err="1"/>
              <a:t>p’ansori</a:t>
            </a:r>
            <a:r>
              <a:rPr lang="en-CA" dirty="0"/>
              <a:t>’, efforts to preserve </a:t>
            </a:r>
            <a:r>
              <a:rPr lang="en-CA" dirty="0" err="1"/>
              <a:t>p’ansori</a:t>
            </a:r>
            <a:r>
              <a:rPr lang="en-CA" dirty="0"/>
              <a:t> by allowing it to change.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65AE4-4524-0B2C-77F9-E271F5C6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1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42A3-1CB5-C00F-27CE-A89FBE6F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Quiz &amp; Assignment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4069-2E9C-580C-DE34-F41F8CE41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Assignment: Reconsidering ‘origins’</a:t>
            </a:r>
          </a:p>
          <a:p>
            <a:r>
              <a:rPr lang="en-CA" dirty="0"/>
              <a:t>Compare two examples from contemporary culture: One whose ‘origins’ are relatively easy to identify, and one that has a more complex or obscure history. Briefly introduce your two examples, with attention to the factors that allow you to contrast their origins. Try to make connections with the history of </a:t>
            </a:r>
            <a:r>
              <a:rPr lang="en-CA" dirty="0" err="1"/>
              <a:t>p’ansori</a:t>
            </a:r>
            <a:r>
              <a:rPr lang="en-CA" dirty="0"/>
              <a:t> as detailed in readings &amp; lecture.</a:t>
            </a:r>
          </a:p>
          <a:p>
            <a:r>
              <a:rPr lang="en-CA" dirty="0"/>
              <a:t>Quiz: 5 questions, 10 minutes</a:t>
            </a:r>
          </a:p>
          <a:p>
            <a:r>
              <a:rPr lang="en-CA" dirty="0"/>
              <a:t>Details from reading &amp; lecture. Terms in Korean will be briefly defined on-screen. Memorization of all precise dates &amp; names not required, focus on those reiterated in lecture.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7A284-BA65-BDFF-0418-3A4425EC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90AF-2E6E-069F-D03B-512B5689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Additional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4F314-5A6A-D4DB-BE82-A9B1B4790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Jang, </a:t>
            </a:r>
            <a:r>
              <a:rPr lang="en-US" dirty="0" err="1"/>
              <a:t>Yeonok</a:t>
            </a:r>
            <a:r>
              <a:rPr lang="en-US" dirty="0"/>
              <a:t> </a:t>
            </a:r>
            <a:r>
              <a:rPr lang="en-US" i="1" dirty="0"/>
              <a:t>Korean </a:t>
            </a:r>
            <a:r>
              <a:rPr lang="en-US" i="1" dirty="0" err="1"/>
              <a:t>P’ansori</a:t>
            </a:r>
            <a:r>
              <a:rPr lang="en-US" i="1" dirty="0"/>
              <a:t> Singing Tradition: Development, authenticity, and performance history</a:t>
            </a:r>
            <a:r>
              <a:rPr lang="en-US" dirty="0"/>
              <a:t>. Scarecrow Press, 2014. </a:t>
            </a:r>
          </a:p>
          <a:p>
            <a:pPr marL="0" indent="0">
              <a:buNone/>
            </a:pPr>
            <a:r>
              <a:rPr lang="en-US" dirty="0"/>
              <a:t>Park, Chan E. </a:t>
            </a:r>
            <a:r>
              <a:rPr lang="en-US" i="1" dirty="0"/>
              <a:t>Voices from the Straw Mat: Toward an Ethnography of Korean Story Singing</a:t>
            </a:r>
            <a:r>
              <a:rPr lang="en-US" dirty="0"/>
              <a:t>. Honolulu: University of Hawai‘i Press, 2003</a:t>
            </a:r>
          </a:p>
          <a:p>
            <a:pPr marL="0" indent="0">
              <a:buNone/>
            </a:pPr>
            <a:r>
              <a:rPr lang="en-US" dirty="0"/>
              <a:t>Um, </a:t>
            </a:r>
            <a:r>
              <a:rPr lang="en-US" dirty="0" err="1"/>
              <a:t>Haekyung</a:t>
            </a:r>
            <a:r>
              <a:rPr lang="en-US" dirty="0"/>
              <a:t>. </a:t>
            </a:r>
            <a:r>
              <a:rPr lang="en-US" i="1" dirty="0"/>
              <a:t>Korean Musica Drama: </a:t>
            </a:r>
            <a:r>
              <a:rPr lang="en-US" dirty="0" err="1"/>
              <a:t>P’ansori</a:t>
            </a:r>
            <a:r>
              <a:rPr lang="en-US" dirty="0"/>
              <a:t> </a:t>
            </a:r>
            <a:r>
              <a:rPr lang="en-US" i="1" dirty="0"/>
              <a:t>and the Making of Tradition in Modernity</a:t>
            </a:r>
            <a:r>
              <a:rPr lang="en-US" dirty="0"/>
              <a:t>. Ashgate, 2013. </a:t>
            </a:r>
          </a:p>
          <a:p>
            <a:r>
              <a:rPr lang="en-CA" dirty="0"/>
              <a:t>(Above are the same </a:t>
            </a:r>
            <a:r>
              <a:rPr lang="en-CA" dirty="0" err="1"/>
              <a:t>add’l</a:t>
            </a:r>
            <a:r>
              <a:rPr lang="en-CA" dirty="0"/>
              <a:t> sources recommended in Unit 1. All are multi-faceted studies of </a:t>
            </a:r>
            <a:r>
              <a:rPr lang="en-CA" dirty="0" err="1"/>
              <a:t>p’ansori</a:t>
            </a:r>
            <a:r>
              <a:rPr lang="en-CA" dirty="0"/>
              <a:t> performance, including overviews of early history but with primary focus on analyzing modern and contemporary </a:t>
            </a:r>
            <a:r>
              <a:rPr lang="en-CA" dirty="0" err="1"/>
              <a:t>p’ansori</a:t>
            </a:r>
            <a:r>
              <a:rPr lang="en-CA" dirty="0"/>
              <a:t>. Below are sources more focused on premodern history, incl. </a:t>
            </a:r>
            <a:r>
              <a:rPr lang="en-CA" dirty="0" err="1"/>
              <a:t>conncetion</a:t>
            </a:r>
            <a:r>
              <a:rPr lang="en-CA" dirty="0"/>
              <a:t> b/w </a:t>
            </a:r>
            <a:r>
              <a:rPr lang="en-CA" dirty="0" err="1"/>
              <a:t>P’ansori</a:t>
            </a:r>
            <a:r>
              <a:rPr lang="en-CA" dirty="0"/>
              <a:t> and shamanism)</a:t>
            </a:r>
          </a:p>
          <a:p>
            <a:pPr marL="0" indent="0">
              <a:buNone/>
            </a:pPr>
            <a:r>
              <a:rPr lang="en-CA" dirty="0"/>
              <a:t>Kim, </a:t>
            </a:r>
            <a:r>
              <a:rPr lang="en-CA" dirty="0" err="1"/>
              <a:t>Hyŭnggyu</a:t>
            </a:r>
            <a:r>
              <a:rPr lang="en-CA" dirty="0"/>
              <a:t>. “</a:t>
            </a:r>
            <a:r>
              <a:rPr lang="en-CA" dirty="0" err="1"/>
              <a:t>P’ansori</a:t>
            </a:r>
            <a:r>
              <a:rPr lang="en-CA" dirty="0"/>
              <a:t>,” in </a:t>
            </a:r>
            <a:r>
              <a:rPr lang="en-CA" i="1" dirty="0"/>
              <a:t>A History of Korean Literature</a:t>
            </a:r>
            <a:r>
              <a:rPr lang="en-CA" dirty="0"/>
              <a:t>, edited by Peter H. Lee. Cambridge, 2003: 288-302. </a:t>
            </a:r>
          </a:p>
          <a:p>
            <a:pPr marL="0" indent="0">
              <a:buNone/>
            </a:pPr>
            <a:r>
              <a:rPr lang="en-CA" dirty="0"/>
              <a:t>Walraven, Boudewijn. </a:t>
            </a:r>
            <a:r>
              <a:rPr lang="en-CA" i="1" dirty="0"/>
              <a:t>Songs of the Shaman: The ritual chants of the Korean mudang</a:t>
            </a:r>
            <a:r>
              <a:rPr lang="en-CA" dirty="0"/>
              <a:t>. Kegan Paul International, 1994.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247AC-E70F-ABBB-2BD7-48570F88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FYI</a:t>
            </a:r>
          </a:p>
        </p:txBody>
      </p:sp>
    </p:spTree>
    <p:extLst>
      <p:ext uri="{BB962C8B-B14F-4D97-AF65-F5344CB8AC3E}">
        <p14:creationId xmlns:p14="http://schemas.microsoft.com/office/powerpoint/2010/main" val="60996426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C10566A-AF80-B04F-8BF7-096959236E1C}" vid="{8BB43BEA-0B2F-8B46-BA51-E61B05F7EC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2992</TotalTime>
  <Words>1661</Words>
  <Application>Microsoft Macintosh PowerPoint</Application>
  <PresentationFormat>Widescreen</PresentationFormat>
  <Paragraphs>176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Wingdings 3</vt:lpstr>
      <vt:lpstr>Candara</vt:lpstr>
      <vt:lpstr>Aptos</vt:lpstr>
      <vt:lpstr>Wisp</vt:lpstr>
      <vt:lpstr>P’ansori History: Shamanism, Popular Entertainment, and Elite Culture</vt:lpstr>
      <vt:lpstr>Today’s lecture</vt:lpstr>
      <vt:lpstr>Reading: Pihl, M. The Korean Singer of Tales</vt:lpstr>
      <vt:lpstr>Reading: Pihl, M. The Korean Singer of Tales</vt:lpstr>
      <vt:lpstr>Studying origins:</vt:lpstr>
      <vt:lpstr>Studying origins</vt:lpstr>
      <vt:lpstr>Studying origins</vt:lpstr>
      <vt:lpstr>Studying origins</vt:lpstr>
      <vt:lpstr>Where did P’ansori come from?</vt:lpstr>
      <vt:lpstr>Shamanism</vt:lpstr>
      <vt:lpstr>Court &amp; palace culture</vt:lpstr>
      <vt:lpstr>Popular entertainment</vt:lpstr>
      <vt:lpstr>Early research &amp; debate</vt:lpstr>
      <vt:lpstr>P’ansori in the 19th–20th Centuries</vt:lpstr>
      <vt:lpstr>P’ansori in the 19th century</vt:lpstr>
      <vt:lpstr>Early 20th century changes</vt:lpstr>
      <vt:lpstr>‘Heritagization’ and ‘New Pansori’</vt:lpstr>
      <vt:lpstr>Summary: P’ansori then and now</vt:lpstr>
      <vt:lpstr>Quiz &amp; Assignment details</vt:lpstr>
      <vt:lpstr>Additional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Nicoll-Johnson</dc:creator>
  <cp:lastModifiedBy>Evan Nicoll-Johnson</cp:lastModifiedBy>
  <cp:revision>41</cp:revision>
  <dcterms:created xsi:type="dcterms:W3CDTF">2025-07-28T17:47:46Z</dcterms:created>
  <dcterms:modified xsi:type="dcterms:W3CDTF">2025-07-30T19:40:33Z</dcterms:modified>
</cp:coreProperties>
</file>