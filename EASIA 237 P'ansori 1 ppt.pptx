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p:sldMasterIdLst>
    <p:sldMasterId id="2147483648" r:id="rId1"/>
  </p:sldMasterIdLst>
  <p:notesMasterIdLst>
    <p:notesMasterId r:id="rId21"/>
  </p:notesMasterIdLst>
  <p:sldIdLst>
    <p:sldId id="256" r:id="rId2"/>
    <p:sldId id="257" r:id="rId3"/>
    <p:sldId id="259" r:id="rId4"/>
    <p:sldId id="268" r:id="rId5"/>
    <p:sldId id="260" r:id="rId6"/>
    <p:sldId id="261" r:id="rId7"/>
    <p:sldId id="269" r:id="rId8"/>
    <p:sldId id="270" r:id="rId9"/>
    <p:sldId id="262" r:id="rId10"/>
    <p:sldId id="263" r:id="rId11"/>
    <p:sldId id="267" r:id="rId12"/>
    <p:sldId id="265" r:id="rId13"/>
    <p:sldId id="264" r:id="rId14"/>
    <p:sldId id="271" r:id="rId15"/>
    <p:sldId id="272" r:id="rId16"/>
    <p:sldId id="273" r:id="rId17"/>
    <p:sldId id="266" r:id="rId18"/>
    <p:sldId id="274" r:id="rId19"/>
    <p:sldId id="258" r:id="rId20"/>
  </p:sldIdLst>
  <p:sldSz cx="12192000" cy="6858000"/>
  <p:notesSz cx="6858000" cy="9144000"/>
  <p:embeddedFontLst>
    <p:embeddedFont>
      <p:font typeface="Candara" panose="020E0502030303020204" pitchFamily="34" charset="0"/>
      <p:regular r:id="rId22"/>
      <p:bold r:id="rId23"/>
      <p:italic r:id="rId24"/>
      <p:boldItalic r:id="rId25"/>
    </p:embeddedFont>
    <p:embeddedFont>
      <p:font typeface="Wingdings 3" pitchFamily="2" charset="2"/>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37"/>
  </p:normalViewPr>
  <p:slideViewPr>
    <p:cSldViewPr snapToGrid="0">
      <p:cViewPr varScale="1">
        <p:scale>
          <a:sx n="76" d="100"/>
          <a:sy n="76" d="100"/>
        </p:scale>
        <p:origin x="21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8092D-7F75-F344-9196-B63EC0A6AD85}" type="datetimeFigureOut">
              <a:rPr lang="en-CA" smtClean="0"/>
              <a:t>2025-07-29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9EF16-783C-1D41-9480-F474792927A2}" type="slidenum">
              <a:rPr lang="en-CA" smtClean="0"/>
              <a:t>‹#›</a:t>
            </a:fld>
            <a:endParaRPr lang="en-CA"/>
          </a:p>
        </p:txBody>
      </p:sp>
    </p:spTree>
    <p:extLst>
      <p:ext uri="{BB962C8B-B14F-4D97-AF65-F5344CB8AC3E}">
        <p14:creationId xmlns:p14="http://schemas.microsoft.com/office/powerpoint/2010/main" val="1764003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C1774-F7F7-494F-993A-105AEFD08DCC}"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DFEEA5-DDD8-4345-A8BE-9352A991F65A}"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8E628-A11A-DA45-9CC1-32A6495D58FB}"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B297C3-F293-8A49-B75F-827EFF988220}"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A3824-9231-0B45-86E6-DFAC4372F375}" type="datetime1">
              <a:rPr lang="en-US" smtClean="0"/>
              <a:t>7/29/25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894147-B230-CC40-AB7B-33F9DE2CD951}" type="datetime1">
              <a:rPr lang="en-US" smtClean="0"/>
              <a:t>7/29/25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3A88D-6E59-B141-8118-055B266FFB5B}" type="datetime1">
              <a:rPr lang="en-US" smtClean="0"/>
              <a:t>7/29/25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1764-FE95-014A-8F9D-8197623892C7}"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D6AD7-6881-374D-AEBE-10B6D892F375}"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25C88-D03B-4E4A-A593-2830BF36A0AD}"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3AAEBB-A3D0-CA4E-B888-DA8CB6323983}"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1E7589-32EB-DA40-B48A-58CC81064CAE}"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597125-3BA2-124D-AE7E-ED1AC962DD56}"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22EEDFD-2BE7-6F41-B07F-0E98264CACAF}" type="datetime1">
              <a:rPr lang="en-US" smtClean="0"/>
              <a:t>7/29/25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BCCC7-F605-904D-BDBE-C5404CC82A02}"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31B48-2619-4945-B1BD-A96235845754}" type="datetime1">
              <a:rPr lang="en-US" smtClean="0"/>
              <a:t>7/29/25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r>
              <a:rPr lang="zh-TW" altLang="en-US" dirty="0"/>
              <a:t> 中文</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8F47642-1967-D94C-A4D1-DCD18F6F65D6}" type="datetime1">
              <a:rPr lang="en-US" smtClean="0"/>
              <a:t>7/29/25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youtu.be/LrMb2ixf9Eo?si=7RQigHaATUP6FAZ9" TargetMode="External"/><Relationship Id="rId2" Type="http://schemas.openxmlformats.org/officeDocument/2006/relationships/hyperlink" Target="https://youtu.be/7UgNOvHx4_c?si=C9L3gUQy0KtqBc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DA4D-8222-2592-9297-3146DA53F141}"/>
              </a:ext>
            </a:extLst>
          </p:cNvPr>
          <p:cNvSpPr>
            <a:spLocks noGrp="1"/>
          </p:cNvSpPr>
          <p:nvPr>
            <p:ph type="ctrTitle"/>
          </p:nvPr>
        </p:nvSpPr>
        <p:spPr/>
        <p:txBody>
          <a:bodyPr>
            <a:normAutofit/>
          </a:bodyPr>
          <a:lstStyle/>
          <a:p>
            <a:r>
              <a:rPr lang="en-US" dirty="0"/>
              <a:t>Introducing </a:t>
            </a:r>
            <a:r>
              <a:rPr lang="en-US" dirty="0" err="1"/>
              <a:t>P’ansori</a:t>
            </a:r>
            <a:r>
              <a:rPr lang="en-US" dirty="0"/>
              <a:t> and </a:t>
            </a:r>
            <a:br>
              <a:rPr lang="en-US" dirty="0"/>
            </a:br>
            <a:r>
              <a:rPr lang="en-US" dirty="0"/>
              <a:t>The Story of Sim Chung</a:t>
            </a:r>
            <a:endParaRPr lang="en-CA" dirty="0"/>
          </a:p>
        </p:txBody>
      </p:sp>
      <p:sp>
        <p:nvSpPr>
          <p:cNvPr id="3" name="Subtitle 2">
            <a:extLst>
              <a:ext uri="{FF2B5EF4-FFF2-40B4-BE49-F238E27FC236}">
                <a16:creationId xmlns:a16="http://schemas.microsoft.com/office/drawing/2014/main" id="{5C740358-D9B1-A478-413A-A12313F6BFAF}"/>
              </a:ext>
            </a:extLst>
          </p:cNvPr>
          <p:cNvSpPr>
            <a:spLocks noGrp="1"/>
          </p:cNvSpPr>
          <p:nvPr>
            <p:ph type="subTitle" idx="1"/>
          </p:nvPr>
        </p:nvSpPr>
        <p:spPr/>
        <p:txBody>
          <a:bodyPr/>
          <a:lstStyle/>
          <a:p>
            <a:r>
              <a:rPr lang="en-US" altLang="zh-TW" dirty="0"/>
              <a:t>Reinventing</a:t>
            </a:r>
            <a:r>
              <a:rPr lang="zh-TW" altLang="en-US" dirty="0"/>
              <a:t> </a:t>
            </a:r>
            <a:r>
              <a:rPr lang="en-US" altLang="zh-TW" dirty="0"/>
              <a:t>Culture</a:t>
            </a:r>
            <a:r>
              <a:rPr lang="zh-TW" altLang="en-US" dirty="0"/>
              <a:t> </a:t>
            </a:r>
            <a:r>
              <a:rPr lang="en-US" altLang="zh-TW" dirty="0"/>
              <a:t>in</a:t>
            </a:r>
            <a:r>
              <a:rPr lang="zh-TW" altLang="en-US" dirty="0"/>
              <a:t> </a:t>
            </a:r>
            <a:r>
              <a:rPr lang="en-US" altLang="zh-TW" dirty="0"/>
              <a:t>East</a:t>
            </a:r>
            <a:r>
              <a:rPr lang="zh-TW" altLang="en-US" dirty="0"/>
              <a:t> </a:t>
            </a:r>
            <a:r>
              <a:rPr lang="en-US" altLang="zh-TW" dirty="0"/>
              <a:t>Asia</a:t>
            </a:r>
          </a:p>
          <a:p>
            <a:r>
              <a:rPr lang="en-US" altLang="zh-TW" dirty="0"/>
              <a:t>EASIA</a:t>
            </a:r>
            <a:r>
              <a:rPr lang="zh-TW" altLang="en-US" dirty="0"/>
              <a:t> </a:t>
            </a:r>
            <a:r>
              <a:rPr lang="en-US" altLang="zh-TW" dirty="0"/>
              <a:t>237</a:t>
            </a:r>
            <a:endParaRPr lang="en-CA" dirty="0"/>
          </a:p>
        </p:txBody>
      </p:sp>
    </p:spTree>
    <p:extLst>
      <p:ext uri="{BB962C8B-B14F-4D97-AF65-F5344CB8AC3E}">
        <p14:creationId xmlns:p14="http://schemas.microsoft.com/office/powerpoint/2010/main" val="251579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13EE-F21C-D4B9-9026-E8DA8E7EF2A9}"/>
              </a:ext>
            </a:extLst>
          </p:cNvPr>
          <p:cNvSpPr>
            <a:spLocks noGrp="1"/>
          </p:cNvSpPr>
          <p:nvPr>
            <p:ph type="title"/>
          </p:nvPr>
        </p:nvSpPr>
        <p:spPr/>
        <p:txBody>
          <a:bodyPr/>
          <a:lstStyle/>
          <a:p>
            <a:r>
              <a:rPr lang="en-CA"/>
              <a:t>Today’s lecture</a:t>
            </a:r>
            <a:endParaRPr lang="en-CA" dirty="0"/>
          </a:p>
        </p:txBody>
      </p:sp>
      <p:sp>
        <p:nvSpPr>
          <p:cNvPr id="3" name="Content Placeholder 2">
            <a:extLst>
              <a:ext uri="{FF2B5EF4-FFF2-40B4-BE49-F238E27FC236}">
                <a16:creationId xmlns:a16="http://schemas.microsoft.com/office/drawing/2014/main" id="{0F2CEB5A-56C2-B6A7-174E-C9ECDE2F6A2B}"/>
              </a:ext>
            </a:extLst>
          </p:cNvPr>
          <p:cNvSpPr>
            <a:spLocks noGrp="1"/>
          </p:cNvSpPr>
          <p:nvPr>
            <p:ph idx="1"/>
          </p:nvPr>
        </p:nvSpPr>
        <p:spPr/>
        <p:txBody>
          <a:bodyPr/>
          <a:lstStyle/>
          <a:p>
            <a:r>
              <a:rPr lang="en-CA" dirty="0"/>
              <a:t>Module overview: </a:t>
            </a:r>
            <a:r>
              <a:rPr lang="en-US" dirty="0"/>
              <a:t>Korean </a:t>
            </a:r>
            <a:r>
              <a:rPr lang="en-US" i="1" dirty="0" err="1"/>
              <a:t>P’ansori</a:t>
            </a:r>
            <a:r>
              <a:rPr lang="en-US" dirty="0"/>
              <a:t> &amp; Performance Studies (2-3) </a:t>
            </a:r>
          </a:p>
          <a:p>
            <a:r>
              <a:rPr lang="en-US" dirty="0"/>
              <a:t>Unit 1 resources (4)</a:t>
            </a:r>
          </a:p>
          <a:p>
            <a:r>
              <a:rPr lang="en-US" dirty="0"/>
              <a:t>Studying </a:t>
            </a:r>
            <a:r>
              <a:rPr lang="en-US" dirty="0" err="1"/>
              <a:t>P’ansori</a:t>
            </a:r>
            <a:r>
              <a:rPr lang="en-US" dirty="0"/>
              <a:t> as performance (5-8)</a:t>
            </a:r>
          </a:p>
          <a:p>
            <a:r>
              <a:rPr lang="en-US" dirty="0" err="1"/>
              <a:t>Simchung</a:t>
            </a:r>
            <a:r>
              <a:rPr lang="en-US" dirty="0"/>
              <a:t>-ga as folk tale, written text, and performance (9-12, Images 13-15)</a:t>
            </a:r>
          </a:p>
          <a:p>
            <a:r>
              <a:rPr lang="en-US" dirty="0"/>
              <a:t>Wrap-up: Studying an evolving tradition (16)</a:t>
            </a:r>
          </a:p>
          <a:p>
            <a:r>
              <a:rPr lang="en-US" dirty="0"/>
              <a:t>Assignment &amp; Quiz details (17)</a:t>
            </a:r>
            <a:endParaRPr lang="en-CA" dirty="0"/>
          </a:p>
        </p:txBody>
      </p:sp>
      <p:sp>
        <p:nvSpPr>
          <p:cNvPr id="5" name="Slide Number Placeholder 4">
            <a:extLst>
              <a:ext uri="{FF2B5EF4-FFF2-40B4-BE49-F238E27FC236}">
                <a16:creationId xmlns:a16="http://schemas.microsoft.com/office/drawing/2014/main" id="{657CA522-087E-8A63-7D39-2EE8F42B85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27530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7728-DFC8-B053-E81D-F5943AF05511}"/>
              </a:ext>
            </a:extLst>
          </p:cNvPr>
          <p:cNvSpPr>
            <a:spLocks noGrp="1"/>
          </p:cNvSpPr>
          <p:nvPr>
            <p:ph type="title"/>
          </p:nvPr>
        </p:nvSpPr>
        <p:spPr/>
        <p:txBody>
          <a:bodyPr>
            <a:normAutofit fontScale="90000"/>
          </a:bodyPr>
          <a:lstStyle/>
          <a:p>
            <a:r>
              <a:rPr lang="en-CA" dirty="0"/>
              <a:t>Module overview: </a:t>
            </a:r>
            <a:br>
              <a:rPr lang="en-CA" dirty="0"/>
            </a:br>
            <a:r>
              <a:rPr lang="en-US" dirty="0"/>
              <a:t>Korean </a:t>
            </a:r>
            <a:r>
              <a:rPr lang="en-US" dirty="0" err="1"/>
              <a:t>P’ansori</a:t>
            </a:r>
            <a:r>
              <a:rPr lang="en-US" dirty="0"/>
              <a:t> &amp; Studying Performance </a:t>
            </a:r>
            <a:br>
              <a:rPr lang="en-US" dirty="0"/>
            </a:br>
            <a:endParaRPr lang="en-CA" dirty="0"/>
          </a:p>
        </p:txBody>
      </p:sp>
      <p:sp>
        <p:nvSpPr>
          <p:cNvPr id="3" name="Content Placeholder 2">
            <a:extLst>
              <a:ext uri="{FF2B5EF4-FFF2-40B4-BE49-F238E27FC236}">
                <a16:creationId xmlns:a16="http://schemas.microsoft.com/office/drawing/2014/main" id="{AD688DA6-C153-FF6F-64DE-6023E8F044C7}"/>
              </a:ext>
            </a:extLst>
          </p:cNvPr>
          <p:cNvSpPr>
            <a:spLocks noGrp="1"/>
          </p:cNvSpPr>
          <p:nvPr>
            <p:ph idx="1"/>
          </p:nvPr>
        </p:nvSpPr>
        <p:spPr/>
        <p:txBody>
          <a:bodyPr/>
          <a:lstStyle/>
          <a:p>
            <a:r>
              <a:rPr lang="en-CA" dirty="0"/>
              <a:t>Unit 1: </a:t>
            </a:r>
            <a:r>
              <a:rPr lang="en-US" dirty="0"/>
              <a:t>The Story of Sim Chung and </a:t>
            </a:r>
            <a:r>
              <a:rPr lang="en-US" dirty="0" err="1"/>
              <a:t>P’ansori</a:t>
            </a:r>
            <a:r>
              <a:rPr lang="en-US" dirty="0"/>
              <a:t> Performance</a:t>
            </a:r>
          </a:p>
          <a:p>
            <a:pPr lvl="1"/>
            <a:r>
              <a:rPr lang="en-US" dirty="0"/>
              <a:t>General overview, Sim Chung as example</a:t>
            </a:r>
          </a:p>
          <a:p>
            <a:pPr lvl="1"/>
            <a:r>
              <a:rPr lang="en-US" dirty="0"/>
              <a:t>Entire history of </a:t>
            </a:r>
            <a:r>
              <a:rPr lang="en-US" dirty="0" err="1"/>
              <a:t>P’ansori</a:t>
            </a:r>
            <a:r>
              <a:rPr lang="en-US" dirty="0"/>
              <a:t> as one period (‘synchronic’ study”)</a:t>
            </a:r>
          </a:p>
          <a:p>
            <a:pPr lvl="1"/>
            <a:r>
              <a:rPr lang="en-US" dirty="0"/>
              <a:t>vs. Attention to origins, change over time, etc.</a:t>
            </a:r>
            <a:r>
              <a:rPr lang="zh-TW" altLang="en-US" dirty="0"/>
              <a:t> </a:t>
            </a:r>
            <a:r>
              <a:rPr lang="en-US" altLang="zh-TW" dirty="0"/>
              <a:t>(‘diachronic’)</a:t>
            </a:r>
            <a:endParaRPr lang="en-CA" dirty="0"/>
          </a:p>
          <a:p>
            <a:r>
              <a:rPr lang="en-CA" dirty="0"/>
              <a:t>Unit 2: </a:t>
            </a:r>
            <a:r>
              <a:rPr lang="en-US" dirty="0" err="1"/>
              <a:t>P’ansori</a:t>
            </a:r>
            <a:r>
              <a:rPr lang="en-US" dirty="0"/>
              <a:t> Origins, Shamanic Traditions, Modernizing Popular and Elite Culture </a:t>
            </a:r>
          </a:p>
          <a:p>
            <a:pPr lvl="1"/>
            <a:r>
              <a:rPr lang="en-US" dirty="0"/>
              <a:t>Questions and topics in study of </a:t>
            </a:r>
            <a:r>
              <a:rPr lang="en-US" dirty="0" err="1"/>
              <a:t>P’ansori</a:t>
            </a:r>
            <a:r>
              <a:rPr lang="en-US" dirty="0"/>
              <a:t> in history</a:t>
            </a:r>
          </a:p>
          <a:p>
            <a:pPr lvl="1"/>
            <a:r>
              <a:rPr lang="en-US" dirty="0"/>
              <a:t>Obscure origins -&gt; mainstream popularity -&gt; reform, modernization, ‘heritagization’</a:t>
            </a:r>
          </a:p>
          <a:p>
            <a:r>
              <a:rPr lang="en-US" dirty="0"/>
              <a:t>Unit 3: </a:t>
            </a:r>
            <a:r>
              <a:rPr lang="en-US" dirty="0" err="1"/>
              <a:t>P’ansori</a:t>
            </a:r>
            <a:r>
              <a:rPr lang="en-US" dirty="0"/>
              <a:t> Today: Contemporary Preservation and Innovation </a:t>
            </a:r>
          </a:p>
          <a:p>
            <a:pPr lvl="1"/>
            <a:r>
              <a:rPr lang="en-US" dirty="0" err="1"/>
              <a:t>P’ansori</a:t>
            </a:r>
            <a:r>
              <a:rPr lang="en-US" dirty="0"/>
              <a:t> as single ‘tradition’ vs. collection of unique styles &amp; lineages</a:t>
            </a:r>
          </a:p>
          <a:p>
            <a:pPr lvl="1"/>
            <a:r>
              <a:rPr lang="en-CA" dirty="0"/>
              <a:t>Heritage to be maintained and protected &amp; living form of cultural expression?</a:t>
            </a:r>
          </a:p>
          <a:p>
            <a:pPr lvl="1"/>
            <a:endParaRPr lang="en-CA" dirty="0"/>
          </a:p>
        </p:txBody>
      </p:sp>
      <p:sp>
        <p:nvSpPr>
          <p:cNvPr id="4" name="Slide Number Placeholder 3">
            <a:extLst>
              <a:ext uri="{FF2B5EF4-FFF2-40B4-BE49-F238E27FC236}">
                <a16:creationId xmlns:a16="http://schemas.microsoft.com/office/drawing/2014/main" id="{AD7BCA29-0C31-738A-13DF-8174702361DA}"/>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28354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6AF7B-39B2-5881-4192-ED0353CFE975}"/>
              </a:ext>
            </a:extLst>
          </p:cNvPr>
          <p:cNvSpPr>
            <a:spLocks noGrp="1"/>
          </p:cNvSpPr>
          <p:nvPr>
            <p:ph type="title"/>
          </p:nvPr>
        </p:nvSpPr>
        <p:spPr/>
        <p:txBody>
          <a:bodyPr/>
          <a:lstStyle/>
          <a:p>
            <a:r>
              <a:rPr lang="en-CA" dirty="0"/>
              <a:t>Guiding questions</a:t>
            </a:r>
          </a:p>
        </p:txBody>
      </p:sp>
      <p:sp>
        <p:nvSpPr>
          <p:cNvPr id="3" name="Content Placeholder 2">
            <a:extLst>
              <a:ext uri="{FF2B5EF4-FFF2-40B4-BE49-F238E27FC236}">
                <a16:creationId xmlns:a16="http://schemas.microsoft.com/office/drawing/2014/main" id="{F38DCA51-11A3-07F9-C011-12BC7D6449DA}"/>
              </a:ext>
            </a:extLst>
          </p:cNvPr>
          <p:cNvSpPr>
            <a:spLocks noGrp="1"/>
          </p:cNvSpPr>
          <p:nvPr>
            <p:ph idx="1"/>
          </p:nvPr>
        </p:nvSpPr>
        <p:spPr/>
        <p:txBody>
          <a:bodyPr>
            <a:normAutofit/>
          </a:bodyPr>
          <a:lstStyle/>
          <a:p>
            <a:r>
              <a:rPr lang="en-CA" sz="2400" dirty="0"/>
              <a:t>How to study performing arts? Vs. other narrative forms?</a:t>
            </a:r>
          </a:p>
          <a:p>
            <a:r>
              <a:rPr lang="en-CA" sz="2400" dirty="0"/>
              <a:t>How to study a fluid, dynamic tradition?</a:t>
            </a:r>
          </a:p>
          <a:p>
            <a:r>
              <a:rPr lang="en-CA" sz="2400" dirty="0"/>
              <a:t>What role does the audience play?</a:t>
            </a:r>
          </a:p>
          <a:p>
            <a:r>
              <a:rPr lang="en-CA" sz="2400" dirty="0"/>
              <a:t>How important is it to understand ‘origins’?</a:t>
            </a:r>
          </a:p>
          <a:p>
            <a:r>
              <a:rPr lang="en-CA" sz="2400" dirty="0"/>
              <a:t>“Authenticity” and “innovation” in contemporary culture?</a:t>
            </a:r>
          </a:p>
        </p:txBody>
      </p:sp>
      <p:sp>
        <p:nvSpPr>
          <p:cNvPr id="4" name="Slide Number Placeholder 3">
            <a:extLst>
              <a:ext uri="{FF2B5EF4-FFF2-40B4-BE49-F238E27FC236}">
                <a16:creationId xmlns:a16="http://schemas.microsoft.com/office/drawing/2014/main" id="{7F1DED92-4D1B-B573-0798-FD4E85BDA1C9}"/>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74774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0D81-44D5-5056-2BE3-6438C146D6E7}"/>
              </a:ext>
            </a:extLst>
          </p:cNvPr>
          <p:cNvSpPr>
            <a:spLocks noGrp="1"/>
          </p:cNvSpPr>
          <p:nvPr>
            <p:ph type="title"/>
          </p:nvPr>
        </p:nvSpPr>
        <p:spPr/>
        <p:txBody>
          <a:bodyPr/>
          <a:lstStyle/>
          <a:p>
            <a:r>
              <a:rPr lang="en-US" dirty="0"/>
              <a:t>Unit 1 resources</a:t>
            </a:r>
            <a:br>
              <a:rPr lang="en-US" dirty="0"/>
            </a:br>
            <a:r>
              <a:rPr lang="en-US" dirty="0"/>
              <a:t>The Story of Shim </a:t>
            </a:r>
            <a:r>
              <a:rPr lang="en-US" dirty="0" err="1"/>
              <a:t>Ch’ŏng</a:t>
            </a:r>
            <a:r>
              <a:rPr lang="en-US" dirty="0"/>
              <a:t> / </a:t>
            </a:r>
            <a:r>
              <a:rPr lang="en-US" dirty="0" err="1"/>
              <a:t>Simchung</a:t>
            </a:r>
            <a:r>
              <a:rPr lang="en-US" dirty="0"/>
              <a:t>-ga</a:t>
            </a:r>
            <a:endParaRPr lang="en-CA" dirty="0"/>
          </a:p>
        </p:txBody>
      </p:sp>
      <p:sp>
        <p:nvSpPr>
          <p:cNvPr id="3" name="Content Placeholder 2">
            <a:extLst>
              <a:ext uri="{FF2B5EF4-FFF2-40B4-BE49-F238E27FC236}">
                <a16:creationId xmlns:a16="http://schemas.microsoft.com/office/drawing/2014/main" id="{A157DB01-1510-DA0F-6602-E345CDAA0311}"/>
              </a:ext>
            </a:extLst>
          </p:cNvPr>
          <p:cNvSpPr>
            <a:spLocks noGrp="1"/>
          </p:cNvSpPr>
          <p:nvPr>
            <p:ph idx="1"/>
          </p:nvPr>
        </p:nvSpPr>
        <p:spPr>
          <a:xfrm>
            <a:off x="2589212" y="2133600"/>
            <a:ext cx="8915400" cy="4100290"/>
          </a:xfrm>
        </p:spPr>
        <p:txBody>
          <a:bodyPr>
            <a:normAutofit/>
          </a:bodyPr>
          <a:lstStyle/>
          <a:p>
            <a:pPr marL="0" indent="0">
              <a:buNone/>
            </a:pPr>
            <a:r>
              <a:rPr lang="en-US" altLang="zh-TW" sz="2000" dirty="0"/>
              <a:t>Korean</a:t>
            </a:r>
            <a:r>
              <a:rPr lang="zh-TW" altLang="en-US" sz="2000" dirty="0"/>
              <a:t> </a:t>
            </a:r>
            <a:r>
              <a:rPr lang="en-US" altLang="zh-TW" sz="2000" dirty="0"/>
              <a:t>romanization</a:t>
            </a:r>
            <a:r>
              <a:rPr lang="zh-TW" altLang="en-US" sz="2000" dirty="0"/>
              <a:t> </a:t>
            </a:r>
            <a:r>
              <a:rPr lang="en-US" altLang="zh-TW" sz="2000" dirty="0"/>
              <a:t>note:</a:t>
            </a:r>
            <a:r>
              <a:rPr lang="zh-TW" altLang="en-US" sz="2000" dirty="0"/>
              <a:t> </a:t>
            </a:r>
            <a:r>
              <a:rPr lang="en-US" altLang="zh-TW" sz="2000" dirty="0"/>
              <a:t>Shim </a:t>
            </a:r>
            <a:r>
              <a:rPr lang="en-US" altLang="zh-TW" sz="2000" dirty="0" err="1"/>
              <a:t>Ch’ŏng</a:t>
            </a:r>
            <a:r>
              <a:rPr lang="en-US" altLang="zh-TW" sz="2000" dirty="0"/>
              <a:t> / Sim Chung / Sim Cheong / </a:t>
            </a:r>
            <a:r>
              <a:rPr lang="ko-KR" altLang="en-US" sz="2000" dirty="0"/>
              <a:t>심청</a:t>
            </a:r>
            <a:r>
              <a:rPr lang="en-US" altLang="ko-KR" sz="2000" dirty="0"/>
              <a:t> / </a:t>
            </a:r>
            <a:r>
              <a:rPr lang="zh-TW" altLang="en-US" sz="2000" dirty="0"/>
              <a:t>沈淸</a:t>
            </a:r>
            <a:endParaRPr lang="en-CA" sz="2000" dirty="0"/>
          </a:p>
          <a:p>
            <a:r>
              <a:rPr lang="en-CA" sz="1900" dirty="0"/>
              <a:t>Book excerpt: “The Story of Shim-</a:t>
            </a:r>
            <a:r>
              <a:rPr lang="en-CA" sz="1900" dirty="0" err="1"/>
              <a:t>ch’ûng</a:t>
            </a:r>
            <a:r>
              <a:rPr lang="en-CA" sz="1900" dirty="0"/>
              <a:t>” translation</a:t>
            </a:r>
          </a:p>
          <a:p>
            <a:pPr lvl="1"/>
            <a:r>
              <a:rPr lang="en-CA" sz="1900" dirty="0"/>
              <a:t>Heavily annotated, from book-length study of </a:t>
            </a:r>
            <a:r>
              <a:rPr lang="en-CA" sz="1900" dirty="0" err="1"/>
              <a:t>p’ansori</a:t>
            </a:r>
            <a:r>
              <a:rPr lang="en-CA" sz="1900" dirty="0"/>
              <a:t> history</a:t>
            </a:r>
          </a:p>
          <a:p>
            <a:pPr lvl="1"/>
            <a:r>
              <a:rPr lang="en-CA" sz="1900" dirty="0"/>
              <a:t>Excerpt of full text from early 20</a:t>
            </a:r>
            <a:r>
              <a:rPr lang="en-CA" sz="1900" baseline="30000" dirty="0"/>
              <a:t>th</a:t>
            </a:r>
            <a:r>
              <a:rPr lang="en-CA" sz="1900" dirty="0"/>
              <a:t> cent., with its own history</a:t>
            </a:r>
          </a:p>
          <a:p>
            <a:r>
              <a:rPr lang="en-CA" sz="1900" dirty="0"/>
              <a:t>Videos: ‘Korean Traditional Music 101’ / Korean Cultural Center Los Angeles </a:t>
            </a:r>
          </a:p>
          <a:p>
            <a:pPr lvl="1"/>
            <a:r>
              <a:rPr lang="en-US" sz="1900" dirty="0"/>
              <a:t>Ministry of Culture, Sports and Tourism / Arts Council Korea</a:t>
            </a:r>
            <a:endParaRPr lang="en-CA" sz="1900" dirty="0"/>
          </a:p>
          <a:p>
            <a:pPr lvl="1"/>
            <a:r>
              <a:rPr lang="en-CA" sz="1900" dirty="0"/>
              <a:t>Video 1: Introduction to </a:t>
            </a:r>
            <a:r>
              <a:rPr lang="en-CA" sz="1900" dirty="0" err="1"/>
              <a:t>P’ansori</a:t>
            </a:r>
            <a:r>
              <a:rPr lang="en-CA" sz="1900" dirty="0"/>
              <a:t> Form</a:t>
            </a:r>
          </a:p>
          <a:p>
            <a:pPr lvl="1"/>
            <a:r>
              <a:rPr lang="en-CA" sz="1900" dirty="0"/>
              <a:t>Video 2: </a:t>
            </a:r>
            <a:r>
              <a:rPr lang="en-CA" sz="1900" dirty="0" err="1"/>
              <a:t>Simchung</a:t>
            </a:r>
            <a:r>
              <a:rPr lang="en-CA" sz="1900" dirty="0"/>
              <a:t>-ga: A pivotal scene in the performance</a:t>
            </a:r>
          </a:p>
          <a:p>
            <a:r>
              <a:rPr lang="en-CA" sz="1900" dirty="0"/>
              <a:t>Complete reading &amp; both videos before watching the rest of the lecture!</a:t>
            </a:r>
          </a:p>
        </p:txBody>
      </p:sp>
      <p:sp>
        <p:nvSpPr>
          <p:cNvPr id="4" name="Slide Number Placeholder 3">
            <a:extLst>
              <a:ext uri="{FF2B5EF4-FFF2-40B4-BE49-F238E27FC236}">
                <a16:creationId xmlns:a16="http://schemas.microsoft.com/office/drawing/2014/main" id="{AF27CE2E-26D8-CA22-126A-9CC865B23DE5}"/>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6791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3969-3CFE-2DFD-FB3F-A5E4AD177674}"/>
              </a:ext>
            </a:extLst>
          </p:cNvPr>
          <p:cNvSpPr>
            <a:spLocks noGrp="1"/>
          </p:cNvSpPr>
          <p:nvPr>
            <p:ph type="title"/>
          </p:nvPr>
        </p:nvSpPr>
        <p:spPr/>
        <p:txBody>
          <a:bodyPr/>
          <a:lstStyle/>
          <a:p>
            <a:r>
              <a:rPr lang="en-US" dirty="0"/>
              <a:t>Studying Performance Traditions</a:t>
            </a:r>
            <a:endParaRPr lang="en-CA" dirty="0"/>
          </a:p>
        </p:txBody>
      </p:sp>
      <p:sp>
        <p:nvSpPr>
          <p:cNvPr id="3" name="Content Placeholder 2">
            <a:extLst>
              <a:ext uri="{FF2B5EF4-FFF2-40B4-BE49-F238E27FC236}">
                <a16:creationId xmlns:a16="http://schemas.microsoft.com/office/drawing/2014/main" id="{2B94509C-01F0-5FA8-A516-C13C4C69C11B}"/>
              </a:ext>
            </a:extLst>
          </p:cNvPr>
          <p:cNvSpPr>
            <a:spLocks noGrp="1"/>
          </p:cNvSpPr>
          <p:nvPr>
            <p:ph idx="1"/>
          </p:nvPr>
        </p:nvSpPr>
        <p:spPr>
          <a:xfrm>
            <a:off x="2589212" y="1669774"/>
            <a:ext cx="8915400" cy="4731026"/>
          </a:xfrm>
        </p:spPr>
        <p:txBody>
          <a:bodyPr>
            <a:normAutofit fontScale="92500" lnSpcReduction="10000"/>
          </a:bodyPr>
          <a:lstStyle/>
          <a:p>
            <a:r>
              <a:rPr lang="en-CA" sz="2000" dirty="0"/>
              <a:t>As literature</a:t>
            </a:r>
          </a:p>
          <a:p>
            <a:pPr lvl="1"/>
            <a:r>
              <a:rPr lang="en-CA" sz="2000" dirty="0"/>
              <a:t>Focus on the ‘script’: Lyrics / plot / themes / allusions / etc.</a:t>
            </a:r>
          </a:p>
          <a:p>
            <a:r>
              <a:rPr lang="en-CA" sz="2000" dirty="0"/>
              <a:t>As music</a:t>
            </a:r>
          </a:p>
          <a:p>
            <a:pPr lvl="1"/>
            <a:r>
              <a:rPr lang="en-CA" sz="2000" dirty="0"/>
              <a:t>Classification of modes, rhythms, melodies, other patterns</a:t>
            </a:r>
          </a:p>
          <a:p>
            <a:pPr lvl="1"/>
            <a:r>
              <a:rPr lang="en-CA" sz="2000" dirty="0"/>
              <a:t>How do these musical aspects create/supplement meaning?</a:t>
            </a:r>
          </a:p>
          <a:p>
            <a:r>
              <a:rPr lang="en-CA" sz="2000" dirty="0"/>
              <a:t>As technique</a:t>
            </a:r>
          </a:p>
          <a:p>
            <a:pPr lvl="1"/>
            <a:r>
              <a:rPr lang="en-CA" sz="2000" dirty="0"/>
              <a:t>How are the talents necessary for performance developed,  transmitted? </a:t>
            </a:r>
          </a:p>
          <a:p>
            <a:pPr lvl="1"/>
            <a:r>
              <a:rPr lang="en-CA" sz="2000" dirty="0"/>
              <a:t>What about ‘talents’ required to appreciate the performance? (“Connoisseurship”)</a:t>
            </a:r>
          </a:p>
          <a:p>
            <a:r>
              <a:rPr lang="en-CA" sz="2000" dirty="0"/>
              <a:t>As social &amp; cultural history</a:t>
            </a:r>
          </a:p>
          <a:p>
            <a:pPr lvl="1"/>
            <a:r>
              <a:rPr lang="en-CA" sz="2000" dirty="0"/>
              <a:t>Putting history of lineages &amp; connoisseurs in broader historical context?</a:t>
            </a:r>
          </a:p>
          <a:p>
            <a:pPr lvl="1"/>
            <a:r>
              <a:rPr lang="en-CA" sz="2000" dirty="0"/>
              <a:t>Study by historians, anthropologists, ethnomusicologists, etc. </a:t>
            </a:r>
          </a:p>
        </p:txBody>
      </p:sp>
      <p:sp>
        <p:nvSpPr>
          <p:cNvPr id="4" name="Slide Number Placeholder 3">
            <a:extLst>
              <a:ext uri="{FF2B5EF4-FFF2-40B4-BE49-F238E27FC236}">
                <a16:creationId xmlns:a16="http://schemas.microsoft.com/office/drawing/2014/main" id="{627896DD-5004-2104-7EA4-DAF2F9C25706}"/>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07168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425D-40E5-A987-F161-CF4BCDB308C9}"/>
              </a:ext>
            </a:extLst>
          </p:cNvPr>
          <p:cNvSpPr>
            <a:spLocks noGrp="1"/>
          </p:cNvSpPr>
          <p:nvPr>
            <p:ph type="title"/>
          </p:nvPr>
        </p:nvSpPr>
        <p:spPr/>
        <p:txBody>
          <a:bodyPr/>
          <a:lstStyle/>
          <a:p>
            <a:r>
              <a:rPr lang="en-CA" dirty="0"/>
              <a:t>Intro to </a:t>
            </a:r>
            <a:r>
              <a:rPr lang="en-CA" dirty="0" err="1"/>
              <a:t>P’ansori</a:t>
            </a:r>
            <a:r>
              <a:rPr lang="en-CA" dirty="0"/>
              <a:t> (Pansori) </a:t>
            </a:r>
            <a:r>
              <a:rPr lang="ko-KR" altLang="en-US" dirty="0"/>
              <a:t>판소리</a:t>
            </a:r>
            <a:br>
              <a:rPr lang="en-US" altLang="ko-KR" dirty="0"/>
            </a:br>
            <a:r>
              <a:rPr lang="en-US" altLang="ko-KR" dirty="0"/>
              <a:t>Performers &amp; staging</a:t>
            </a:r>
            <a:endParaRPr lang="en-CA" dirty="0"/>
          </a:p>
        </p:txBody>
      </p:sp>
      <p:sp>
        <p:nvSpPr>
          <p:cNvPr id="3" name="Content Placeholder 2">
            <a:extLst>
              <a:ext uri="{FF2B5EF4-FFF2-40B4-BE49-F238E27FC236}">
                <a16:creationId xmlns:a16="http://schemas.microsoft.com/office/drawing/2014/main" id="{E21BCF81-8154-BE74-2F09-F3D3DACF00E6}"/>
              </a:ext>
            </a:extLst>
          </p:cNvPr>
          <p:cNvSpPr>
            <a:spLocks noGrp="1"/>
          </p:cNvSpPr>
          <p:nvPr>
            <p:ph idx="1"/>
          </p:nvPr>
        </p:nvSpPr>
        <p:spPr>
          <a:xfrm>
            <a:off x="2589212" y="1905000"/>
            <a:ext cx="8915400" cy="4615070"/>
          </a:xfrm>
        </p:spPr>
        <p:txBody>
          <a:bodyPr>
            <a:normAutofit/>
          </a:bodyPr>
          <a:lstStyle/>
          <a:p>
            <a:r>
              <a:rPr lang="en-US" dirty="0"/>
              <a:t>Performers:</a:t>
            </a:r>
          </a:p>
          <a:p>
            <a:pPr lvl="1"/>
            <a:r>
              <a:rPr lang="en-US" sz="1800" dirty="0"/>
              <a:t>Singer (‘</a:t>
            </a:r>
            <a:r>
              <a:rPr lang="en-US" sz="1800" dirty="0" err="1"/>
              <a:t>sorikkun</a:t>
            </a:r>
            <a:r>
              <a:rPr lang="en-US" sz="1800" dirty="0"/>
              <a:t>’ in video, also ‘</a:t>
            </a:r>
            <a:r>
              <a:rPr lang="en-US" sz="1800" dirty="0" err="1"/>
              <a:t>kwangdae</a:t>
            </a:r>
            <a:r>
              <a:rPr lang="en-US" sz="1800" dirty="0"/>
              <a:t>’) </a:t>
            </a:r>
          </a:p>
          <a:p>
            <a:pPr lvl="2"/>
            <a:r>
              <a:rPr lang="en-US" sz="1800" dirty="0"/>
              <a:t>Performs all roles and narration</a:t>
            </a:r>
          </a:p>
          <a:p>
            <a:pPr lvl="2"/>
            <a:r>
              <a:rPr lang="en-US" sz="1800" dirty="0"/>
              <a:t>Singing typically used for dialogue / monologue of characters</a:t>
            </a:r>
          </a:p>
          <a:p>
            <a:pPr lvl="1"/>
            <a:r>
              <a:rPr lang="en-US" sz="1800" dirty="0"/>
              <a:t>Drummer (</a:t>
            </a:r>
            <a:r>
              <a:rPr lang="en-US" sz="1800" dirty="0" err="1"/>
              <a:t>gosu</a:t>
            </a:r>
            <a:r>
              <a:rPr lang="en-US" sz="1800" dirty="0"/>
              <a:t> / </a:t>
            </a:r>
            <a:r>
              <a:rPr lang="en-US" sz="1800" dirty="0" err="1"/>
              <a:t>kosu</a:t>
            </a:r>
            <a:r>
              <a:rPr lang="en-US" sz="1800" dirty="0"/>
              <a:t>)</a:t>
            </a:r>
          </a:p>
          <a:p>
            <a:pPr lvl="2"/>
            <a:r>
              <a:rPr lang="en-US" sz="1800" dirty="0"/>
              <a:t>Rhythm to accompany vocal performance, occasional vocal interjections</a:t>
            </a:r>
          </a:p>
          <a:p>
            <a:r>
              <a:rPr lang="en-US" dirty="0"/>
              <a:t>Audience: Also expected to ‘participate’ with comments as appropriate</a:t>
            </a:r>
          </a:p>
          <a:p>
            <a:r>
              <a:rPr lang="en-US" dirty="0"/>
              <a:t>Limited set dressing, props: Fan for singer’s gestures, a painted/decorated screen</a:t>
            </a:r>
          </a:p>
          <a:p>
            <a:r>
              <a:rPr lang="en-CA" dirty="0"/>
              <a:t>Duration: Up to 8 hours, but often performed in segments (single scene, etc.)</a:t>
            </a:r>
          </a:p>
        </p:txBody>
      </p:sp>
      <p:sp>
        <p:nvSpPr>
          <p:cNvPr id="4" name="Slide Number Placeholder 3">
            <a:extLst>
              <a:ext uri="{FF2B5EF4-FFF2-40B4-BE49-F238E27FC236}">
                <a16:creationId xmlns:a16="http://schemas.microsoft.com/office/drawing/2014/main" id="{3B0D6FFA-9ADE-2237-2330-AA8133A443B9}"/>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58813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988F-DB4C-3820-8B5C-14F806208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26375-34C3-E6B8-D209-0B0B7460A483}"/>
              </a:ext>
            </a:extLst>
          </p:cNvPr>
          <p:cNvSpPr>
            <a:spLocks noGrp="1"/>
          </p:cNvSpPr>
          <p:nvPr>
            <p:ph type="title"/>
          </p:nvPr>
        </p:nvSpPr>
        <p:spPr/>
        <p:txBody>
          <a:bodyPr/>
          <a:lstStyle/>
          <a:p>
            <a:r>
              <a:rPr lang="en-CA" dirty="0"/>
              <a:t>Intro to </a:t>
            </a:r>
            <a:r>
              <a:rPr lang="en-CA" dirty="0" err="1"/>
              <a:t>P’ansori</a:t>
            </a:r>
            <a:r>
              <a:rPr lang="en-CA" dirty="0"/>
              <a:t> (Pansori) </a:t>
            </a:r>
            <a:r>
              <a:rPr lang="ko-KR" altLang="en-US" dirty="0"/>
              <a:t>판소리</a:t>
            </a:r>
            <a:br>
              <a:rPr lang="en-US" altLang="ko-KR" dirty="0"/>
            </a:br>
            <a:r>
              <a:rPr lang="en-US" altLang="ko-KR" dirty="0"/>
              <a:t>Story, transmission, performance, variation</a:t>
            </a:r>
            <a:endParaRPr lang="en-CA" dirty="0"/>
          </a:p>
        </p:txBody>
      </p:sp>
      <p:sp>
        <p:nvSpPr>
          <p:cNvPr id="3" name="Content Placeholder 2">
            <a:extLst>
              <a:ext uri="{FF2B5EF4-FFF2-40B4-BE49-F238E27FC236}">
                <a16:creationId xmlns:a16="http://schemas.microsoft.com/office/drawing/2014/main" id="{94C5BC42-FB8C-3E65-2D3B-F656843DCA41}"/>
              </a:ext>
            </a:extLst>
          </p:cNvPr>
          <p:cNvSpPr>
            <a:spLocks noGrp="1"/>
          </p:cNvSpPr>
          <p:nvPr>
            <p:ph idx="1"/>
          </p:nvPr>
        </p:nvSpPr>
        <p:spPr>
          <a:xfrm>
            <a:off x="2589212" y="2133600"/>
            <a:ext cx="8915400" cy="4386470"/>
          </a:xfrm>
        </p:spPr>
        <p:txBody>
          <a:bodyPr>
            <a:normAutofit/>
          </a:bodyPr>
          <a:lstStyle/>
          <a:p>
            <a:r>
              <a:rPr lang="en-CA" dirty="0"/>
              <a:t>Of 12 (?) full pieces, only 5 remain as “official” corpus of </a:t>
            </a:r>
            <a:r>
              <a:rPr lang="en-CA" dirty="0" err="1"/>
              <a:t>p’ansori</a:t>
            </a:r>
            <a:r>
              <a:rPr lang="en-CA" dirty="0"/>
              <a:t> texts.</a:t>
            </a:r>
          </a:p>
          <a:p>
            <a:pPr lvl="1"/>
            <a:r>
              <a:rPr lang="en-CA" dirty="0"/>
              <a:t>Adapted from folklore, Korean &amp; Chinese history and literature, </a:t>
            </a:r>
            <a:r>
              <a:rPr lang="en-CA" dirty="0" err="1"/>
              <a:t>etc</a:t>
            </a:r>
            <a:endParaRPr lang="en-CA" dirty="0"/>
          </a:p>
          <a:p>
            <a:r>
              <a:rPr lang="en-CA" dirty="0"/>
              <a:t>But limitless potential for variation:</a:t>
            </a:r>
          </a:p>
          <a:p>
            <a:pPr lvl="1"/>
            <a:r>
              <a:rPr lang="en-CA" dirty="0"/>
              <a:t>‘School’: Style of performance taught by teacher to students, etc.</a:t>
            </a:r>
          </a:p>
          <a:p>
            <a:pPr lvl="2"/>
            <a:r>
              <a:rPr lang="en-CA" dirty="0"/>
              <a:t>Variation in which pieces, scenes, songs performed, etc.</a:t>
            </a:r>
          </a:p>
          <a:p>
            <a:pPr lvl="2"/>
            <a:r>
              <a:rPr lang="en-CA" dirty="0"/>
              <a:t>Teaching is intensive and rigorous, involves years of dedicated study &amp; practice</a:t>
            </a:r>
          </a:p>
          <a:p>
            <a:pPr lvl="1"/>
            <a:r>
              <a:rPr lang="en-CA" dirty="0"/>
              <a:t>Individual performer</a:t>
            </a:r>
          </a:p>
          <a:p>
            <a:pPr lvl="2"/>
            <a:r>
              <a:rPr lang="en-CA" dirty="0"/>
              <a:t>Even within a school, performers cultivate unique styles, excel in different areas, etc.</a:t>
            </a:r>
          </a:p>
          <a:p>
            <a:pPr lvl="2"/>
            <a:r>
              <a:rPr lang="en-CA" dirty="0"/>
              <a:t>Teachers may transmit different elements to different students, or teach in different ways.</a:t>
            </a:r>
          </a:p>
          <a:p>
            <a:pPr lvl="1"/>
            <a:r>
              <a:rPr lang="en-CA" dirty="0"/>
              <a:t>Each performance is unique</a:t>
            </a:r>
          </a:p>
          <a:p>
            <a:pPr lvl="2"/>
            <a:r>
              <a:rPr lang="en-CA" dirty="0"/>
              <a:t>Atmosphere of theater, mood and health of performer, audience, etc... </a:t>
            </a:r>
          </a:p>
          <a:p>
            <a:r>
              <a:rPr lang="en-CA" dirty="0"/>
              <a:t>‘New’ </a:t>
            </a:r>
            <a:r>
              <a:rPr lang="en-CA" dirty="0" err="1"/>
              <a:t>p’ansori</a:t>
            </a:r>
            <a:r>
              <a:rPr lang="en-CA" dirty="0"/>
              <a:t> also written, even today (more in Unit 3).</a:t>
            </a:r>
          </a:p>
          <a:p>
            <a:endParaRPr lang="en-CA" dirty="0"/>
          </a:p>
          <a:p>
            <a:endParaRPr lang="en-CA" dirty="0"/>
          </a:p>
        </p:txBody>
      </p:sp>
      <p:sp>
        <p:nvSpPr>
          <p:cNvPr id="4" name="Slide Number Placeholder 3">
            <a:extLst>
              <a:ext uri="{FF2B5EF4-FFF2-40B4-BE49-F238E27FC236}">
                <a16:creationId xmlns:a16="http://schemas.microsoft.com/office/drawing/2014/main" id="{9271C48A-DE4F-A315-EE90-59A9FFA82636}"/>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236275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BA82-95E3-50F8-D323-64CEDE3AB7DE}"/>
              </a:ext>
            </a:extLst>
          </p:cNvPr>
          <p:cNvSpPr>
            <a:spLocks noGrp="1"/>
          </p:cNvSpPr>
          <p:nvPr>
            <p:ph type="title"/>
          </p:nvPr>
        </p:nvSpPr>
        <p:spPr/>
        <p:txBody>
          <a:bodyPr/>
          <a:lstStyle/>
          <a:p>
            <a:r>
              <a:rPr lang="en-CA" dirty="0"/>
              <a:t>Studying </a:t>
            </a:r>
            <a:r>
              <a:rPr lang="en-CA" dirty="0" err="1"/>
              <a:t>P’ansori</a:t>
            </a:r>
            <a:endParaRPr lang="en-CA" dirty="0"/>
          </a:p>
        </p:txBody>
      </p:sp>
      <p:sp>
        <p:nvSpPr>
          <p:cNvPr id="3" name="Content Placeholder 2">
            <a:extLst>
              <a:ext uri="{FF2B5EF4-FFF2-40B4-BE49-F238E27FC236}">
                <a16:creationId xmlns:a16="http://schemas.microsoft.com/office/drawing/2014/main" id="{9D52FF1E-402D-27C8-4144-A4FBCC5DD455}"/>
              </a:ext>
            </a:extLst>
          </p:cNvPr>
          <p:cNvSpPr>
            <a:spLocks noGrp="1"/>
          </p:cNvSpPr>
          <p:nvPr>
            <p:ph idx="1"/>
          </p:nvPr>
        </p:nvSpPr>
        <p:spPr>
          <a:xfrm>
            <a:off x="2589212" y="1590261"/>
            <a:ext cx="8915400" cy="5128591"/>
          </a:xfrm>
        </p:spPr>
        <p:txBody>
          <a:bodyPr>
            <a:normAutofit/>
          </a:bodyPr>
          <a:lstStyle/>
          <a:p>
            <a:r>
              <a:rPr lang="en-CA" dirty="0"/>
              <a:t>As literature</a:t>
            </a:r>
          </a:p>
          <a:p>
            <a:pPr lvl="1"/>
            <a:r>
              <a:rPr lang="en-CA" dirty="0"/>
              <a:t>Much to study: Allusions, humor, structure, characterization &amp; dialect  (&amp; more...), </a:t>
            </a:r>
            <a:r>
              <a:rPr lang="en-CA" i="1" dirty="0"/>
              <a:t>but</a:t>
            </a:r>
            <a:r>
              <a:rPr lang="en-CA" dirty="0"/>
              <a:t>...</a:t>
            </a:r>
          </a:p>
          <a:p>
            <a:pPr lvl="1"/>
            <a:r>
              <a:rPr lang="en-CA" dirty="0"/>
              <a:t>Stories from folklore, in a tradition w/ many variations in script based on performer, lineage</a:t>
            </a:r>
          </a:p>
          <a:p>
            <a:r>
              <a:rPr lang="en-CA" dirty="0"/>
              <a:t>As music</a:t>
            </a:r>
          </a:p>
          <a:p>
            <a:pPr lvl="1"/>
            <a:r>
              <a:rPr lang="en-CA" dirty="0"/>
              <a:t>Notation of complex rhythms, melodies, etc.; similarly variable among performers &amp; lineages</a:t>
            </a:r>
          </a:p>
          <a:p>
            <a:pPr lvl="1"/>
            <a:r>
              <a:rPr lang="en-CA" dirty="0"/>
              <a:t>How to label, classify features? Standard musicology terms, specialized vocab of </a:t>
            </a:r>
            <a:r>
              <a:rPr lang="en-CA" dirty="0" err="1"/>
              <a:t>p’ansori</a:t>
            </a:r>
            <a:r>
              <a:rPr lang="en-CA" dirty="0"/>
              <a:t>...?</a:t>
            </a:r>
          </a:p>
          <a:p>
            <a:r>
              <a:rPr lang="en-CA" dirty="0"/>
              <a:t>As technique</a:t>
            </a:r>
          </a:p>
          <a:p>
            <a:pPr lvl="1"/>
            <a:r>
              <a:rPr lang="en-CA" dirty="0"/>
              <a:t>Discerning in technical features requires ‘training’ as </a:t>
            </a:r>
            <a:r>
              <a:rPr lang="en-CA" dirty="0" err="1"/>
              <a:t>p’ansori</a:t>
            </a:r>
            <a:r>
              <a:rPr lang="en-CA" dirty="0"/>
              <a:t> performer, or connoisseur</a:t>
            </a:r>
          </a:p>
          <a:p>
            <a:pPr lvl="1"/>
            <a:r>
              <a:rPr lang="en-CA" dirty="0"/>
              <a:t>Not to mention complex vocal techniques. Can non-performers understand?</a:t>
            </a:r>
          </a:p>
          <a:p>
            <a:r>
              <a:rPr lang="en-CA" dirty="0"/>
              <a:t>As social &amp; cultural history</a:t>
            </a:r>
          </a:p>
          <a:p>
            <a:pPr lvl="1"/>
            <a:r>
              <a:rPr lang="en-CA" dirty="0"/>
              <a:t>‘Inside’ vs. ‘outside’ history: Studying </a:t>
            </a:r>
            <a:r>
              <a:rPr lang="en-CA" dirty="0" err="1"/>
              <a:t>p’ansori</a:t>
            </a:r>
            <a:r>
              <a:rPr lang="en-CA" dirty="0"/>
              <a:t> as a performer in a lineage, vs. broader view</a:t>
            </a:r>
          </a:p>
          <a:p>
            <a:pPr lvl="1"/>
            <a:r>
              <a:rPr lang="en-CA" dirty="0"/>
              <a:t>Many scholars of pansori performance and history are also trained as performers</a:t>
            </a:r>
          </a:p>
          <a:p>
            <a:endParaRPr lang="en-CA" dirty="0"/>
          </a:p>
        </p:txBody>
      </p:sp>
      <p:sp>
        <p:nvSpPr>
          <p:cNvPr id="4" name="Slide Number Placeholder 3">
            <a:extLst>
              <a:ext uri="{FF2B5EF4-FFF2-40B4-BE49-F238E27FC236}">
                <a16:creationId xmlns:a16="http://schemas.microsoft.com/office/drawing/2014/main" id="{7DA2FF17-B857-9A13-A95B-E98F8385B4F8}"/>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49965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4F13B-EE4D-B5AF-75B5-D43A60972E91}"/>
              </a:ext>
            </a:extLst>
          </p:cNvPr>
          <p:cNvSpPr>
            <a:spLocks noGrp="1"/>
          </p:cNvSpPr>
          <p:nvPr>
            <p:ph type="title"/>
          </p:nvPr>
        </p:nvSpPr>
        <p:spPr/>
        <p:txBody>
          <a:bodyPr>
            <a:normAutofit/>
          </a:bodyPr>
          <a:lstStyle/>
          <a:p>
            <a:r>
              <a:rPr lang="en-US" dirty="0"/>
              <a:t>Summary of folk tale of Sim Chung</a:t>
            </a:r>
            <a:br>
              <a:rPr lang="ko-KR" altLang="en-US" dirty="0"/>
            </a:br>
            <a:endParaRPr lang="en-CA" dirty="0"/>
          </a:p>
        </p:txBody>
      </p:sp>
      <p:sp>
        <p:nvSpPr>
          <p:cNvPr id="3" name="Content Placeholder 2">
            <a:extLst>
              <a:ext uri="{FF2B5EF4-FFF2-40B4-BE49-F238E27FC236}">
                <a16:creationId xmlns:a16="http://schemas.microsoft.com/office/drawing/2014/main" id="{AB155931-F846-91FE-3F04-891082D04745}"/>
              </a:ext>
            </a:extLst>
          </p:cNvPr>
          <p:cNvSpPr>
            <a:spLocks noGrp="1"/>
          </p:cNvSpPr>
          <p:nvPr>
            <p:ph idx="1"/>
          </p:nvPr>
        </p:nvSpPr>
        <p:spPr>
          <a:xfrm>
            <a:off x="2589211" y="2133600"/>
            <a:ext cx="9198597" cy="3777622"/>
          </a:xfrm>
        </p:spPr>
        <p:txBody>
          <a:bodyPr/>
          <a:lstStyle/>
          <a:p>
            <a:r>
              <a:rPr lang="en-US" altLang="zh-TW" dirty="0"/>
              <a:t>A</a:t>
            </a:r>
            <a:r>
              <a:rPr lang="zh-TW" altLang="en-US" dirty="0"/>
              <a:t> </a:t>
            </a:r>
            <a:r>
              <a:rPr lang="en-US" altLang="zh-TW" dirty="0"/>
              <a:t>blind</a:t>
            </a:r>
            <a:r>
              <a:rPr lang="zh-TW" altLang="en-US" dirty="0"/>
              <a:t> </a:t>
            </a:r>
            <a:r>
              <a:rPr lang="en-US" altLang="zh-TW" dirty="0"/>
              <a:t>man</a:t>
            </a:r>
            <a:r>
              <a:rPr lang="zh-TW" altLang="en-US" dirty="0"/>
              <a:t> </a:t>
            </a:r>
            <a:r>
              <a:rPr lang="en-US" altLang="zh-TW" dirty="0"/>
              <a:t>and</a:t>
            </a:r>
            <a:r>
              <a:rPr lang="zh-TW" altLang="en-US" dirty="0"/>
              <a:t> </a:t>
            </a:r>
            <a:r>
              <a:rPr lang="en-US" altLang="zh-TW" dirty="0"/>
              <a:t>his</a:t>
            </a:r>
            <a:r>
              <a:rPr lang="zh-TW" altLang="en-US" dirty="0"/>
              <a:t> </a:t>
            </a:r>
            <a:r>
              <a:rPr lang="en-US" altLang="zh-TW" dirty="0"/>
              <a:t>wife</a:t>
            </a:r>
            <a:r>
              <a:rPr lang="zh-TW" altLang="en-US" dirty="0"/>
              <a:t> </a:t>
            </a:r>
            <a:r>
              <a:rPr lang="en-US" altLang="zh-TW" dirty="0"/>
              <a:t>raise</a:t>
            </a:r>
            <a:r>
              <a:rPr lang="zh-TW" altLang="en-US" dirty="0"/>
              <a:t> </a:t>
            </a:r>
            <a:r>
              <a:rPr lang="en-US" altLang="zh-TW" dirty="0"/>
              <a:t>a</a:t>
            </a:r>
            <a:r>
              <a:rPr lang="zh-TW" altLang="en-US" dirty="0"/>
              <a:t> </a:t>
            </a:r>
            <a:r>
              <a:rPr lang="en-US" altLang="zh-TW" dirty="0"/>
              <a:t>beautiful,</a:t>
            </a:r>
            <a:r>
              <a:rPr lang="zh-TW" altLang="en-US" dirty="0"/>
              <a:t> </a:t>
            </a:r>
            <a:r>
              <a:rPr lang="en-US" altLang="zh-TW" dirty="0"/>
              <a:t>talented</a:t>
            </a:r>
            <a:r>
              <a:rPr lang="zh-TW" altLang="en-US" dirty="0"/>
              <a:t> </a:t>
            </a:r>
            <a:r>
              <a:rPr lang="en-US" altLang="zh-TW" dirty="0"/>
              <a:t>daughter,</a:t>
            </a:r>
            <a:r>
              <a:rPr lang="zh-TW" altLang="en-US" dirty="0"/>
              <a:t> </a:t>
            </a:r>
            <a:r>
              <a:rPr lang="en-US" altLang="zh-TW" dirty="0"/>
              <a:t>Sim</a:t>
            </a:r>
            <a:r>
              <a:rPr lang="zh-TW" altLang="en-US" dirty="0"/>
              <a:t> </a:t>
            </a:r>
            <a:r>
              <a:rPr lang="en-US" altLang="zh-TW" dirty="0"/>
              <a:t>Chung</a:t>
            </a:r>
          </a:p>
          <a:p>
            <a:pPr lvl="1"/>
            <a:r>
              <a:rPr lang="en-US" altLang="zh-TW" dirty="0"/>
              <a:t>Sim Chung’s mother dies soon after, and her father struggles to raise her</a:t>
            </a:r>
          </a:p>
          <a:p>
            <a:r>
              <a:rPr lang="en-US" altLang="zh-TW" dirty="0"/>
              <a:t>Sim</a:t>
            </a:r>
            <a:r>
              <a:rPr lang="zh-TW" altLang="en-US" dirty="0"/>
              <a:t> </a:t>
            </a:r>
            <a:r>
              <a:rPr lang="en-US" altLang="zh-TW" dirty="0"/>
              <a:t>Chung</a:t>
            </a:r>
            <a:r>
              <a:rPr lang="zh-TW" altLang="en-US" dirty="0"/>
              <a:t> </a:t>
            </a:r>
            <a:r>
              <a:rPr lang="en-US" altLang="zh-TW" dirty="0"/>
              <a:t>offers</a:t>
            </a:r>
            <a:r>
              <a:rPr lang="zh-TW" altLang="en-US" dirty="0"/>
              <a:t> </a:t>
            </a:r>
            <a:r>
              <a:rPr lang="en-US" altLang="zh-TW" dirty="0"/>
              <a:t>to</a:t>
            </a:r>
            <a:r>
              <a:rPr lang="zh-TW" altLang="en-US" dirty="0"/>
              <a:t> </a:t>
            </a:r>
            <a:r>
              <a:rPr lang="en-US" altLang="zh-TW" dirty="0"/>
              <a:t>sacrifice</a:t>
            </a:r>
            <a:r>
              <a:rPr lang="zh-TW" altLang="en-US" dirty="0"/>
              <a:t> </a:t>
            </a:r>
            <a:r>
              <a:rPr lang="en-US" altLang="zh-TW" dirty="0"/>
              <a:t>herself</a:t>
            </a:r>
            <a:r>
              <a:rPr lang="zh-TW" altLang="en-US" dirty="0"/>
              <a:t> </a:t>
            </a:r>
            <a:r>
              <a:rPr lang="en-US" altLang="zh-TW" dirty="0"/>
              <a:t>so</a:t>
            </a:r>
            <a:r>
              <a:rPr lang="zh-TW" altLang="en-US" dirty="0"/>
              <a:t> </a:t>
            </a:r>
            <a:r>
              <a:rPr lang="en-US" altLang="zh-TW" dirty="0"/>
              <a:t>that</a:t>
            </a:r>
            <a:r>
              <a:rPr lang="zh-TW" altLang="en-US" dirty="0"/>
              <a:t> </a:t>
            </a:r>
            <a:r>
              <a:rPr lang="en-US" altLang="zh-TW" dirty="0"/>
              <a:t>her</a:t>
            </a:r>
            <a:r>
              <a:rPr lang="zh-TW" altLang="en-US" dirty="0"/>
              <a:t> </a:t>
            </a:r>
            <a:r>
              <a:rPr lang="en-US" altLang="zh-TW" dirty="0"/>
              <a:t>father</a:t>
            </a:r>
            <a:r>
              <a:rPr lang="zh-TW" altLang="en-US" dirty="0"/>
              <a:t> </a:t>
            </a:r>
            <a:r>
              <a:rPr lang="en-US" altLang="zh-TW" dirty="0"/>
              <a:t>can</a:t>
            </a:r>
            <a:r>
              <a:rPr lang="zh-TW" altLang="en-US" dirty="0"/>
              <a:t> </a:t>
            </a:r>
            <a:r>
              <a:rPr lang="en-US" altLang="zh-TW" dirty="0"/>
              <a:t>regain</a:t>
            </a:r>
            <a:r>
              <a:rPr lang="zh-TW" altLang="en-US" dirty="0"/>
              <a:t> </a:t>
            </a:r>
            <a:r>
              <a:rPr lang="en-US" altLang="zh-TW" dirty="0"/>
              <a:t>his</a:t>
            </a:r>
            <a:r>
              <a:rPr lang="zh-TW" altLang="en-US" dirty="0"/>
              <a:t> </a:t>
            </a:r>
            <a:r>
              <a:rPr lang="en-US" altLang="zh-TW" dirty="0"/>
              <a:t>sight</a:t>
            </a:r>
          </a:p>
          <a:p>
            <a:pPr lvl="1"/>
            <a:r>
              <a:rPr lang="en-US" altLang="zh-TW" dirty="0"/>
              <a:t>A</a:t>
            </a:r>
            <a:r>
              <a:rPr lang="zh-TW" altLang="en-US" dirty="0"/>
              <a:t> </a:t>
            </a:r>
            <a:r>
              <a:rPr lang="en-US" altLang="zh-TW" dirty="0"/>
              <a:t>large</a:t>
            </a:r>
            <a:r>
              <a:rPr lang="zh-TW" altLang="en-US" dirty="0"/>
              <a:t> </a:t>
            </a:r>
            <a:r>
              <a:rPr lang="en-US" altLang="zh-TW" dirty="0"/>
              <a:t>offering</a:t>
            </a:r>
            <a:r>
              <a:rPr lang="zh-TW" altLang="en-US" dirty="0"/>
              <a:t> </a:t>
            </a:r>
            <a:r>
              <a:rPr lang="en-US" altLang="zh-TW" dirty="0"/>
              <a:t>of</a:t>
            </a:r>
            <a:r>
              <a:rPr lang="zh-TW" altLang="en-US" dirty="0"/>
              <a:t> </a:t>
            </a:r>
            <a:r>
              <a:rPr lang="en-US" altLang="zh-TW" dirty="0"/>
              <a:t>rice</a:t>
            </a:r>
            <a:r>
              <a:rPr lang="zh-TW" altLang="en-US" dirty="0"/>
              <a:t> </a:t>
            </a:r>
            <a:r>
              <a:rPr lang="en-US" altLang="zh-TW" dirty="0"/>
              <a:t>to</a:t>
            </a:r>
            <a:r>
              <a:rPr lang="zh-TW" altLang="en-US" dirty="0"/>
              <a:t> </a:t>
            </a:r>
            <a:r>
              <a:rPr lang="en-US" altLang="zh-TW" dirty="0"/>
              <a:t>a</a:t>
            </a:r>
            <a:r>
              <a:rPr lang="zh-TW" altLang="en-US" dirty="0"/>
              <a:t> </a:t>
            </a:r>
            <a:r>
              <a:rPr lang="en-US" altLang="zh-TW" dirty="0"/>
              <a:t>temple</a:t>
            </a:r>
            <a:r>
              <a:rPr lang="zh-TW" altLang="en-US" dirty="0"/>
              <a:t> </a:t>
            </a:r>
            <a:r>
              <a:rPr lang="en-US" altLang="zh-TW" dirty="0"/>
              <a:t>should</a:t>
            </a:r>
            <a:r>
              <a:rPr lang="zh-TW" altLang="en-US" dirty="0"/>
              <a:t> </a:t>
            </a:r>
            <a:r>
              <a:rPr lang="en-US" altLang="zh-TW" dirty="0"/>
              <a:t>restore</a:t>
            </a:r>
            <a:r>
              <a:rPr lang="zh-TW" altLang="en-US" dirty="0"/>
              <a:t> </a:t>
            </a:r>
            <a:r>
              <a:rPr lang="en-US" altLang="zh-TW" dirty="0"/>
              <a:t>his</a:t>
            </a:r>
            <a:r>
              <a:rPr lang="zh-TW" altLang="en-US" dirty="0"/>
              <a:t> </a:t>
            </a:r>
            <a:r>
              <a:rPr lang="en-US" altLang="zh-TW" dirty="0"/>
              <a:t>sight.</a:t>
            </a:r>
            <a:r>
              <a:rPr lang="zh-TW" altLang="en-US" dirty="0"/>
              <a:t> </a:t>
            </a:r>
            <a:r>
              <a:rPr lang="en-US" altLang="zh-TW" dirty="0"/>
              <a:t>Sim</a:t>
            </a:r>
            <a:r>
              <a:rPr lang="zh-TW" altLang="en-US" dirty="0"/>
              <a:t> </a:t>
            </a:r>
            <a:r>
              <a:rPr lang="en-US" altLang="zh-TW" dirty="0"/>
              <a:t>Chung</a:t>
            </a:r>
            <a:r>
              <a:rPr lang="zh-TW" altLang="en-US" dirty="0"/>
              <a:t> </a:t>
            </a:r>
            <a:r>
              <a:rPr lang="en-US" altLang="zh-TW" dirty="0"/>
              <a:t>allows</a:t>
            </a:r>
            <a:r>
              <a:rPr lang="zh-TW" altLang="en-US" dirty="0"/>
              <a:t> </a:t>
            </a:r>
            <a:r>
              <a:rPr lang="en-US" altLang="zh-TW" dirty="0"/>
              <a:t>herself</a:t>
            </a:r>
            <a:r>
              <a:rPr lang="zh-TW" altLang="en-US" dirty="0"/>
              <a:t> </a:t>
            </a:r>
            <a:r>
              <a:rPr lang="en-US" altLang="zh-TW" dirty="0"/>
              <a:t>to</a:t>
            </a:r>
            <a:r>
              <a:rPr lang="zh-TW" altLang="en-US" dirty="0"/>
              <a:t> </a:t>
            </a:r>
            <a:r>
              <a:rPr lang="en-US" altLang="zh-TW" dirty="0"/>
              <a:t>be</a:t>
            </a:r>
            <a:r>
              <a:rPr lang="zh-TW" altLang="en-US" dirty="0"/>
              <a:t> </a:t>
            </a:r>
            <a:r>
              <a:rPr lang="en-US" altLang="zh-TW" dirty="0"/>
              <a:t>sacrificed</a:t>
            </a:r>
            <a:r>
              <a:rPr lang="zh-TW" altLang="en-US" dirty="0"/>
              <a:t> </a:t>
            </a:r>
            <a:r>
              <a:rPr lang="en-US" altLang="zh-TW" dirty="0"/>
              <a:t>to</a:t>
            </a:r>
            <a:r>
              <a:rPr lang="zh-TW" altLang="en-US" dirty="0"/>
              <a:t> </a:t>
            </a:r>
            <a:r>
              <a:rPr lang="en-US" altLang="zh-TW" dirty="0"/>
              <a:t>calm</a:t>
            </a:r>
            <a:r>
              <a:rPr lang="zh-TW" altLang="en-US" dirty="0"/>
              <a:t> </a:t>
            </a:r>
            <a:r>
              <a:rPr lang="en-US" altLang="zh-TW" dirty="0"/>
              <a:t>the</a:t>
            </a:r>
            <a:r>
              <a:rPr lang="zh-TW" altLang="en-US" dirty="0"/>
              <a:t> </a:t>
            </a:r>
            <a:r>
              <a:rPr lang="en-US" altLang="zh-TW" dirty="0"/>
              <a:t>sea,</a:t>
            </a:r>
            <a:r>
              <a:rPr lang="zh-TW" altLang="en-US" dirty="0"/>
              <a:t> </a:t>
            </a:r>
            <a:r>
              <a:rPr lang="en-US" altLang="zh-TW" dirty="0"/>
              <a:t>for</a:t>
            </a:r>
            <a:r>
              <a:rPr lang="zh-TW" altLang="en-US" dirty="0"/>
              <a:t> </a:t>
            </a:r>
            <a:r>
              <a:rPr lang="en-US" altLang="zh-TW" dirty="0"/>
              <a:t>which</a:t>
            </a:r>
            <a:r>
              <a:rPr lang="zh-TW" altLang="en-US" dirty="0"/>
              <a:t> </a:t>
            </a:r>
            <a:r>
              <a:rPr lang="en-US" altLang="zh-TW" dirty="0"/>
              <a:t>her</a:t>
            </a:r>
            <a:r>
              <a:rPr lang="zh-TW" altLang="en-US" dirty="0"/>
              <a:t> </a:t>
            </a:r>
            <a:r>
              <a:rPr lang="en-US" altLang="zh-TW" dirty="0"/>
              <a:t>father</a:t>
            </a:r>
            <a:r>
              <a:rPr lang="zh-TW" altLang="en-US" dirty="0"/>
              <a:t> </a:t>
            </a:r>
            <a:r>
              <a:rPr lang="en-US" altLang="zh-TW" dirty="0"/>
              <a:t>will</a:t>
            </a:r>
            <a:r>
              <a:rPr lang="zh-TW" altLang="en-US" dirty="0"/>
              <a:t> </a:t>
            </a:r>
            <a:r>
              <a:rPr lang="en-US" altLang="zh-TW" dirty="0"/>
              <a:t>be</a:t>
            </a:r>
            <a:r>
              <a:rPr lang="zh-TW" altLang="en-US" dirty="0"/>
              <a:t> </a:t>
            </a:r>
            <a:r>
              <a:rPr lang="en-US" altLang="zh-TW" dirty="0"/>
              <a:t>paid</a:t>
            </a:r>
            <a:r>
              <a:rPr lang="zh-TW" altLang="en-US" dirty="0"/>
              <a:t> </a:t>
            </a:r>
            <a:r>
              <a:rPr lang="en-US" altLang="zh-TW" dirty="0"/>
              <a:t>the</a:t>
            </a:r>
            <a:r>
              <a:rPr lang="zh-TW" altLang="en-US" dirty="0"/>
              <a:t> </a:t>
            </a:r>
            <a:r>
              <a:rPr lang="en-US" altLang="zh-TW" dirty="0"/>
              <a:t>required</a:t>
            </a:r>
            <a:r>
              <a:rPr lang="zh-TW" altLang="en-US" dirty="0"/>
              <a:t> </a:t>
            </a:r>
            <a:r>
              <a:rPr lang="en-US" altLang="zh-TW" dirty="0"/>
              <a:t>amount</a:t>
            </a:r>
            <a:r>
              <a:rPr lang="zh-TW" altLang="en-US" dirty="0"/>
              <a:t> </a:t>
            </a:r>
            <a:r>
              <a:rPr lang="en-US" altLang="zh-TW" dirty="0"/>
              <a:t>of</a:t>
            </a:r>
            <a:r>
              <a:rPr lang="zh-TW" altLang="en-US" dirty="0"/>
              <a:t> </a:t>
            </a:r>
            <a:r>
              <a:rPr lang="en-US" altLang="zh-TW" dirty="0"/>
              <a:t>rice.</a:t>
            </a:r>
          </a:p>
          <a:p>
            <a:r>
              <a:rPr lang="en-US" altLang="zh-TW" dirty="0"/>
              <a:t>Though father’s</a:t>
            </a:r>
            <a:r>
              <a:rPr lang="zh-TW" altLang="en-US" dirty="0"/>
              <a:t> </a:t>
            </a:r>
            <a:r>
              <a:rPr lang="en-US" altLang="zh-TW" dirty="0"/>
              <a:t>sight</a:t>
            </a:r>
            <a:r>
              <a:rPr lang="zh-TW" altLang="en-US" dirty="0"/>
              <a:t> </a:t>
            </a:r>
            <a:r>
              <a:rPr lang="en-US" altLang="zh-TW" dirty="0"/>
              <a:t>is</a:t>
            </a:r>
            <a:r>
              <a:rPr lang="zh-TW" altLang="en-US" dirty="0"/>
              <a:t> </a:t>
            </a:r>
            <a:r>
              <a:rPr lang="en-US" altLang="zh-TW" dirty="0"/>
              <a:t>not</a:t>
            </a:r>
            <a:r>
              <a:rPr lang="zh-TW" altLang="en-US" dirty="0"/>
              <a:t> </a:t>
            </a:r>
            <a:r>
              <a:rPr lang="en-US" altLang="zh-TW" dirty="0"/>
              <a:t>restored, a</a:t>
            </a:r>
            <a:r>
              <a:rPr lang="zh-TW" altLang="en-US" dirty="0"/>
              <a:t> </a:t>
            </a:r>
            <a:r>
              <a:rPr lang="en-US" altLang="zh-TW" dirty="0"/>
              <a:t>deity</a:t>
            </a:r>
            <a:r>
              <a:rPr lang="zh-TW" altLang="en-US" dirty="0"/>
              <a:t> </a:t>
            </a:r>
            <a:r>
              <a:rPr lang="en-US" altLang="zh-TW" dirty="0"/>
              <a:t>of</a:t>
            </a:r>
            <a:r>
              <a:rPr lang="zh-TW" altLang="en-US" dirty="0"/>
              <a:t> </a:t>
            </a:r>
            <a:r>
              <a:rPr lang="en-US" altLang="zh-TW" dirty="0"/>
              <a:t>the</a:t>
            </a:r>
            <a:r>
              <a:rPr lang="zh-TW" altLang="en-US" dirty="0"/>
              <a:t> </a:t>
            </a:r>
            <a:r>
              <a:rPr lang="en-US" altLang="zh-TW" dirty="0"/>
              <a:t>sea</a:t>
            </a:r>
            <a:r>
              <a:rPr lang="zh-TW" altLang="en-US" dirty="0"/>
              <a:t> </a:t>
            </a:r>
            <a:r>
              <a:rPr lang="en-US" altLang="zh-TW" dirty="0"/>
              <a:t>pities</a:t>
            </a:r>
            <a:r>
              <a:rPr lang="zh-TW" altLang="en-US" dirty="0"/>
              <a:t> </a:t>
            </a:r>
            <a:r>
              <a:rPr lang="en-US" altLang="zh-TW" dirty="0"/>
              <a:t>her,</a:t>
            </a:r>
            <a:r>
              <a:rPr lang="zh-TW" altLang="en-US" dirty="0"/>
              <a:t> </a:t>
            </a:r>
            <a:r>
              <a:rPr lang="en-US" altLang="zh-TW" dirty="0"/>
              <a:t>and</a:t>
            </a:r>
            <a:r>
              <a:rPr lang="zh-TW" altLang="en-US" dirty="0"/>
              <a:t> </a:t>
            </a:r>
            <a:r>
              <a:rPr lang="en-US" altLang="zh-TW" dirty="0"/>
              <a:t>she</a:t>
            </a:r>
            <a:r>
              <a:rPr lang="zh-TW" altLang="en-US" dirty="0"/>
              <a:t> </a:t>
            </a:r>
            <a:r>
              <a:rPr lang="en-US" altLang="zh-TW" dirty="0"/>
              <a:t>returns</a:t>
            </a:r>
            <a:r>
              <a:rPr lang="zh-TW" altLang="en-US" dirty="0"/>
              <a:t> </a:t>
            </a:r>
            <a:r>
              <a:rPr lang="en-US" altLang="zh-TW" dirty="0"/>
              <a:t>to</a:t>
            </a:r>
            <a:r>
              <a:rPr lang="zh-TW" altLang="en-US" dirty="0"/>
              <a:t> </a:t>
            </a:r>
            <a:r>
              <a:rPr lang="en-US" altLang="zh-TW" dirty="0"/>
              <a:t>life.</a:t>
            </a:r>
            <a:r>
              <a:rPr lang="zh-TW" altLang="en-US" dirty="0"/>
              <a:t> </a:t>
            </a:r>
            <a:endParaRPr lang="en-US" altLang="zh-TW" dirty="0"/>
          </a:p>
          <a:p>
            <a:pPr lvl="1"/>
            <a:r>
              <a:rPr lang="en-US" altLang="zh-TW" dirty="0"/>
              <a:t>Sim Chung visits the undersea palace, and is reborn in a lotus flower</a:t>
            </a:r>
          </a:p>
          <a:p>
            <a:r>
              <a:rPr lang="en-US" altLang="zh-TW" dirty="0"/>
              <a:t>The</a:t>
            </a:r>
            <a:r>
              <a:rPr lang="zh-TW" altLang="en-US" dirty="0"/>
              <a:t> </a:t>
            </a:r>
            <a:r>
              <a:rPr lang="en-US" altLang="zh-TW" dirty="0"/>
              <a:t>reborn</a:t>
            </a:r>
            <a:r>
              <a:rPr lang="zh-TW" altLang="en-US" dirty="0"/>
              <a:t> </a:t>
            </a:r>
            <a:r>
              <a:rPr lang="en-US" altLang="zh-TW" dirty="0"/>
              <a:t>Sim</a:t>
            </a:r>
            <a:r>
              <a:rPr lang="zh-TW" altLang="en-US" dirty="0"/>
              <a:t> </a:t>
            </a:r>
            <a:r>
              <a:rPr lang="en-US" altLang="zh-TW" dirty="0"/>
              <a:t>Chung</a:t>
            </a:r>
            <a:r>
              <a:rPr lang="zh-TW" altLang="en-US" dirty="0"/>
              <a:t> </a:t>
            </a:r>
            <a:r>
              <a:rPr lang="en-US" altLang="zh-TW" dirty="0"/>
              <a:t>meets</a:t>
            </a:r>
            <a:r>
              <a:rPr lang="zh-TW" altLang="en-US" dirty="0"/>
              <a:t> </a:t>
            </a:r>
            <a:r>
              <a:rPr lang="en-US" altLang="zh-TW" dirty="0"/>
              <a:t>the</a:t>
            </a:r>
            <a:r>
              <a:rPr lang="zh-TW" altLang="en-US" dirty="0"/>
              <a:t> </a:t>
            </a:r>
            <a:r>
              <a:rPr lang="en-US" altLang="zh-TW" dirty="0"/>
              <a:t>king,</a:t>
            </a:r>
            <a:r>
              <a:rPr lang="zh-TW" altLang="en-US" dirty="0"/>
              <a:t> </a:t>
            </a:r>
            <a:r>
              <a:rPr lang="en-US" altLang="zh-TW" dirty="0"/>
              <a:t>who</a:t>
            </a:r>
            <a:r>
              <a:rPr lang="zh-TW" altLang="en-US" dirty="0"/>
              <a:t> </a:t>
            </a:r>
            <a:r>
              <a:rPr lang="en-US" altLang="zh-TW" dirty="0"/>
              <a:t>marries</a:t>
            </a:r>
            <a:r>
              <a:rPr lang="zh-TW" altLang="en-US" dirty="0"/>
              <a:t> </a:t>
            </a:r>
            <a:r>
              <a:rPr lang="en-US" altLang="zh-TW" dirty="0"/>
              <a:t>her.</a:t>
            </a:r>
            <a:r>
              <a:rPr lang="zh-TW" altLang="en-US" dirty="0"/>
              <a:t> </a:t>
            </a:r>
            <a:endParaRPr lang="en-US" altLang="zh-TW" dirty="0"/>
          </a:p>
          <a:p>
            <a:r>
              <a:rPr lang="en-US" altLang="zh-TW" dirty="0"/>
              <a:t>When</a:t>
            </a:r>
            <a:r>
              <a:rPr lang="zh-TW" altLang="en-US" dirty="0"/>
              <a:t> </a:t>
            </a:r>
            <a:r>
              <a:rPr lang="en-US" altLang="zh-TW" dirty="0"/>
              <a:t>father</a:t>
            </a:r>
            <a:r>
              <a:rPr lang="zh-TW" altLang="en-US" dirty="0"/>
              <a:t> </a:t>
            </a:r>
            <a:r>
              <a:rPr lang="en-US" altLang="zh-TW" dirty="0"/>
              <a:t>&amp;</a:t>
            </a:r>
            <a:r>
              <a:rPr lang="zh-TW" altLang="en-US" dirty="0"/>
              <a:t> </a:t>
            </a:r>
            <a:r>
              <a:rPr lang="en-US" altLang="zh-TW" dirty="0"/>
              <a:t>daughter</a:t>
            </a:r>
            <a:r>
              <a:rPr lang="zh-TW" altLang="en-US" dirty="0"/>
              <a:t> </a:t>
            </a:r>
            <a:r>
              <a:rPr lang="en-US" altLang="zh-TW" dirty="0"/>
              <a:t>finally</a:t>
            </a:r>
            <a:r>
              <a:rPr lang="zh-TW" altLang="en-US" dirty="0"/>
              <a:t> </a:t>
            </a:r>
            <a:r>
              <a:rPr lang="en-US" altLang="zh-TW" dirty="0"/>
              <a:t>reunite,</a:t>
            </a:r>
            <a:r>
              <a:rPr lang="zh-TW" altLang="en-US" dirty="0"/>
              <a:t> </a:t>
            </a:r>
            <a:r>
              <a:rPr lang="en-US" altLang="zh-TW" dirty="0"/>
              <a:t>his</a:t>
            </a:r>
            <a:r>
              <a:rPr lang="zh-TW" altLang="en-US" dirty="0"/>
              <a:t> </a:t>
            </a:r>
            <a:r>
              <a:rPr lang="en-US" altLang="zh-TW" dirty="0"/>
              <a:t>vision</a:t>
            </a:r>
            <a:r>
              <a:rPr lang="zh-TW" altLang="en-US" dirty="0"/>
              <a:t> </a:t>
            </a:r>
            <a:r>
              <a:rPr lang="en-US" altLang="zh-TW" dirty="0"/>
              <a:t>is</a:t>
            </a:r>
            <a:r>
              <a:rPr lang="zh-TW" altLang="en-US" dirty="0"/>
              <a:t> </a:t>
            </a:r>
            <a:r>
              <a:rPr lang="en-US" altLang="zh-TW" dirty="0"/>
              <a:t>restored</a:t>
            </a:r>
          </a:p>
          <a:p>
            <a:r>
              <a:rPr lang="en-US" altLang="zh-TW" dirty="0"/>
              <a:t>Note ‘scenes’ or other segments with potential for excerption, embellishment, etc.</a:t>
            </a:r>
          </a:p>
          <a:p>
            <a:endParaRPr lang="en-CA" dirty="0"/>
          </a:p>
        </p:txBody>
      </p:sp>
      <p:sp>
        <p:nvSpPr>
          <p:cNvPr id="4" name="Slide Number Placeholder 3">
            <a:extLst>
              <a:ext uri="{FF2B5EF4-FFF2-40B4-BE49-F238E27FC236}">
                <a16:creationId xmlns:a16="http://schemas.microsoft.com/office/drawing/2014/main" id="{50D3D1E3-A592-AF0F-D3FB-7C1202AE74B9}"/>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388792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6B9F3-D86A-2054-C6B0-3E8EB1828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04FF4-03C9-24C4-9830-C1F466D550A6}"/>
              </a:ext>
            </a:extLst>
          </p:cNvPr>
          <p:cNvSpPr>
            <a:spLocks noGrp="1"/>
          </p:cNvSpPr>
          <p:nvPr>
            <p:ph type="title"/>
          </p:nvPr>
        </p:nvSpPr>
        <p:spPr/>
        <p:txBody>
          <a:bodyPr>
            <a:normAutofit/>
          </a:bodyPr>
          <a:lstStyle/>
          <a:p>
            <a:r>
              <a:rPr lang="en-US" dirty="0"/>
              <a:t>The Song of Shim </a:t>
            </a:r>
            <a:r>
              <a:rPr lang="en-US" dirty="0" err="1"/>
              <a:t>Ch’ŏng</a:t>
            </a:r>
            <a:r>
              <a:rPr lang="en-US" dirty="0"/>
              <a:t>: The Text</a:t>
            </a:r>
            <a:br>
              <a:rPr lang="en-US" dirty="0"/>
            </a:br>
            <a:r>
              <a:rPr lang="en-US" dirty="0"/>
              <a:t>Textual history</a:t>
            </a:r>
            <a:endParaRPr lang="en-CA" dirty="0"/>
          </a:p>
        </p:txBody>
      </p:sp>
      <p:sp>
        <p:nvSpPr>
          <p:cNvPr id="3" name="Content Placeholder 2">
            <a:extLst>
              <a:ext uri="{FF2B5EF4-FFF2-40B4-BE49-F238E27FC236}">
                <a16:creationId xmlns:a16="http://schemas.microsoft.com/office/drawing/2014/main" id="{05EEA396-1180-1FC1-C00E-11C6BC039250}"/>
              </a:ext>
            </a:extLst>
          </p:cNvPr>
          <p:cNvSpPr>
            <a:spLocks noGrp="1"/>
          </p:cNvSpPr>
          <p:nvPr>
            <p:ph idx="1"/>
          </p:nvPr>
        </p:nvSpPr>
        <p:spPr>
          <a:xfrm>
            <a:off x="2589212" y="2133600"/>
            <a:ext cx="8915400" cy="4100290"/>
          </a:xfrm>
        </p:spPr>
        <p:txBody>
          <a:bodyPr>
            <a:normAutofit lnSpcReduction="10000"/>
          </a:bodyPr>
          <a:lstStyle/>
          <a:p>
            <a:r>
              <a:rPr lang="en-CA" dirty="0"/>
              <a:t>“</a:t>
            </a:r>
            <a:r>
              <a:rPr lang="en-CA" dirty="0" err="1"/>
              <a:t>P’ansori</a:t>
            </a:r>
            <a:r>
              <a:rPr lang="en-CA" dirty="0"/>
              <a:t> novels”</a:t>
            </a:r>
          </a:p>
          <a:p>
            <a:pPr lvl="1"/>
            <a:r>
              <a:rPr lang="en-CA" dirty="0"/>
              <a:t>Written, published versions of </a:t>
            </a:r>
            <a:r>
              <a:rPr lang="en-CA" dirty="0" err="1"/>
              <a:t>P’ansori</a:t>
            </a:r>
            <a:r>
              <a:rPr lang="en-CA" dirty="0"/>
              <a:t> ‘scripts,’ first published late 19</a:t>
            </a:r>
            <a:r>
              <a:rPr lang="en-CA" baseline="30000" dirty="0"/>
              <a:t>th</a:t>
            </a:r>
            <a:r>
              <a:rPr lang="en-CA" dirty="0"/>
              <a:t>/early 20</a:t>
            </a:r>
            <a:r>
              <a:rPr lang="en-CA" baseline="30000" dirty="0"/>
              <a:t>th</a:t>
            </a:r>
            <a:r>
              <a:rPr lang="en-CA" dirty="0"/>
              <a:t> cent.</a:t>
            </a:r>
          </a:p>
          <a:p>
            <a:pPr lvl="1"/>
            <a:r>
              <a:rPr lang="en-CA" dirty="0"/>
              <a:t>Text &amp; performance: Not basis for performance, but adapted from other performances.</a:t>
            </a:r>
          </a:p>
          <a:p>
            <a:pPr lvl="1"/>
            <a:r>
              <a:rPr lang="en-CA" dirty="0"/>
              <a:t>Written version meant to be </a:t>
            </a:r>
            <a:r>
              <a:rPr lang="en-CA" i="1" dirty="0"/>
              <a:t>read</a:t>
            </a:r>
            <a:r>
              <a:rPr lang="en-CA" dirty="0"/>
              <a:t>, but simulates elements of performance</a:t>
            </a:r>
          </a:p>
          <a:p>
            <a:r>
              <a:rPr lang="en-CA" dirty="0"/>
              <a:t>Textual history: Manuscript, printing, etc.</a:t>
            </a:r>
          </a:p>
          <a:p>
            <a:pPr lvl="1"/>
            <a:r>
              <a:rPr lang="en-CA" dirty="0"/>
              <a:t>100+ written versions of </a:t>
            </a:r>
            <a:r>
              <a:rPr lang="en-CA" dirty="0" err="1"/>
              <a:t>p’ansori</a:t>
            </a:r>
            <a:r>
              <a:rPr lang="en-CA" dirty="0"/>
              <a:t> version(s) of this story</a:t>
            </a:r>
          </a:p>
          <a:p>
            <a:pPr lvl="1"/>
            <a:r>
              <a:rPr lang="en-CA" dirty="0"/>
              <a:t>60 manuscripts, a dozen early printed versions (</a:t>
            </a:r>
            <a:r>
              <a:rPr lang="en-CA" dirty="0" err="1"/>
              <a:t>bw</a:t>
            </a:r>
            <a:r>
              <a:rPr lang="en-CA" dirty="0"/>
              <a:t> 1870-1920)</a:t>
            </a:r>
          </a:p>
          <a:p>
            <a:pPr lvl="1"/>
            <a:r>
              <a:rPr lang="en-CA" dirty="0"/>
              <a:t>Later versions derived from one or more of these, or transcribe later performances</a:t>
            </a:r>
          </a:p>
          <a:p>
            <a:r>
              <a:rPr lang="en-CA" dirty="0"/>
              <a:t>Our text:</a:t>
            </a:r>
          </a:p>
          <a:p>
            <a:pPr lvl="1"/>
            <a:r>
              <a:rPr lang="en-CA" dirty="0"/>
              <a:t>“</a:t>
            </a:r>
            <a:r>
              <a:rPr lang="en-CA" dirty="0" err="1"/>
              <a:t>Wanp’an</a:t>
            </a:r>
            <a:r>
              <a:rPr lang="en-CA" dirty="0"/>
              <a:t> edition” printed 1916 in Jeonju (</a:t>
            </a:r>
            <a:r>
              <a:rPr lang="en-CA" dirty="0" err="1"/>
              <a:t>Chŏnju</a:t>
            </a:r>
            <a:r>
              <a:rPr lang="en-CA" dirty="0"/>
              <a:t>), key city for </a:t>
            </a:r>
            <a:r>
              <a:rPr lang="en-CA" dirty="0" err="1"/>
              <a:t>p’ansori</a:t>
            </a:r>
            <a:r>
              <a:rPr lang="en-CA" dirty="0"/>
              <a:t> performance</a:t>
            </a:r>
          </a:p>
          <a:p>
            <a:pPr lvl="1"/>
            <a:r>
              <a:rPr lang="en-CA" dirty="0"/>
              <a:t>Based on performance tradition of River &amp; Mountain School (more in next unit)</a:t>
            </a:r>
          </a:p>
        </p:txBody>
      </p:sp>
      <p:sp>
        <p:nvSpPr>
          <p:cNvPr id="4" name="Slide Number Placeholder 3">
            <a:extLst>
              <a:ext uri="{FF2B5EF4-FFF2-40B4-BE49-F238E27FC236}">
                <a16:creationId xmlns:a16="http://schemas.microsoft.com/office/drawing/2014/main" id="{4C9505BF-718F-B34B-14B9-A0153E6AE0FF}"/>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13347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B036-B676-6926-5199-DC48BF362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DA3C3-96F7-2D4E-6B57-E98A4A93575F}"/>
              </a:ext>
            </a:extLst>
          </p:cNvPr>
          <p:cNvSpPr>
            <a:spLocks noGrp="1"/>
          </p:cNvSpPr>
          <p:nvPr>
            <p:ph type="title"/>
          </p:nvPr>
        </p:nvSpPr>
        <p:spPr/>
        <p:txBody>
          <a:bodyPr>
            <a:normAutofit fontScale="90000"/>
          </a:bodyPr>
          <a:lstStyle/>
          <a:p>
            <a:r>
              <a:rPr lang="en-US" dirty="0"/>
              <a:t>The Song of Shim-</a:t>
            </a:r>
            <a:r>
              <a:rPr lang="en-US" dirty="0" err="1"/>
              <a:t>ch’ŏng</a:t>
            </a:r>
            <a:r>
              <a:rPr lang="en-US" dirty="0"/>
              <a:t>: The Text</a:t>
            </a:r>
            <a:br>
              <a:rPr lang="en-US" dirty="0"/>
            </a:br>
            <a:r>
              <a:rPr lang="en-US" dirty="0"/>
              <a:t>Narrative, embellishment, allusion, annotation</a:t>
            </a:r>
            <a:endParaRPr lang="en-CA" dirty="0"/>
          </a:p>
        </p:txBody>
      </p:sp>
      <p:sp>
        <p:nvSpPr>
          <p:cNvPr id="3" name="Content Placeholder 2">
            <a:extLst>
              <a:ext uri="{FF2B5EF4-FFF2-40B4-BE49-F238E27FC236}">
                <a16:creationId xmlns:a16="http://schemas.microsoft.com/office/drawing/2014/main" id="{F717D07D-09F1-A09E-EB25-00B70127A042}"/>
              </a:ext>
            </a:extLst>
          </p:cNvPr>
          <p:cNvSpPr>
            <a:spLocks noGrp="1"/>
          </p:cNvSpPr>
          <p:nvPr>
            <p:ph idx="1"/>
          </p:nvPr>
        </p:nvSpPr>
        <p:spPr>
          <a:xfrm>
            <a:off x="2589212" y="2133599"/>
            <a:ext cx="8915400" cy="4346713"/>
          </a:xfrm>
        </p:spPr>
        <p:txBody>
          <a:bodyPr>
            <a:normAutofit fontScale="92500" lnSpcReduction="10000"/>
          </a:bodyPr>
          <a:lstStyle/>
          <a:p>
            <a:r>
              <a:rPr lang="en-CA" dirty="0"/>
              <a:t>Translation : ~110 pages. Our excerpts: First &amp; last scenes</a:t>
            </a:r>
          </a:p>
          <a:p>
            <a:r>
              <a:rPr lang="en-CA" dirty="0"/>
              <a:t>The plot can be recounted in a few minutes. </a:t>
            </a:r>
          </a:p>
          <a:p>
            <a:r>
              <a:rPr lang="en-CA" dirty="0"/>
              <a:t>What features make this version longer? What kinds of details are added? </a:t>
            </a:r>
          </a:p>
          <a:p>
            <a:pPr lvl="1"/>
            <a:r>
              <a:rPr lang="en-CA" dirty="0"/>
              <a:t>Dialogue, monologue, narration</a:t>
            </a:r>
          </a:p>
          <a:p>
            <a:pPr lvl="2"/>
            <a:r>
              <a:rPr lang="en-CA" dirty="0"/>
              <a:t>Display talents of performer, embodying multiple characters &amp; narrator</a:t>
            </a:r>
          </a:p>
          <a:p>
            <a:pPr lvl="1"/>
            <a:r>
              <a:rPr lang="en-CA" dirty="0"/>
              <a:t>Patterned lists of activities, objects, etc.</a:t>
            </a:r>
          </a:p>
          <a:p>
            <a:pPr lvl="2"/>
            <a:r>
              <a:rPr lang="en-CA" dirty="0"/>
              <a:t>Opportunity for vocal flourish, rhythmic patterns, etc.</a:t>
            </a:r>
          </a:p>
          <a:p>
            <a:pPr lvl="1"/>
            <a:r>
              <a:rPr lang="en-CA" dirty="0"/>
              <a:t>Allusions: References to classical Chinese, Korean history, lit., philosophy</a:t>
            </a:r>
          </a:p>
          <a:p>
            <a:pPr lvl="2"/>
            <a:r>
              <a:rPr lang="en-CA" dirty="0"/>
              <a:t>Presumed prior knowledge of audience?</a:t>
            </a:r>
          </a:p>
          <a:p>
            <a:r>
              <a:rPr lang="en-CA" dirty="0"/>
              <a:t>Annotations:</a:t>
            </a:r>
          </a:p>
          <a:p>
            <a:pPr lvl="1"/>
            <a:r>
              <a:rPr lang="en-CA" dirty="0"/>
              <a:t>Footnotes added by translator, explain allusions &amp; other details</a:t>
            </a:r>
          </a:p>
          <a:p>
            <a:pPr lvl="1"/>
            <a:r>
              <a:rPr lang="en-CA" dirty="0"/>
              <a:t>Margin notes taken from original text, </a:t>
            </a:r>
          </a:p>
          <a:p>
            <a:pPr lvl="1"/>
            <a:r>
              <a:rPr lang="en-CA" dirty="0"/>
              <a:t> indicate narration (</a:t>
            </a:r>
            <a:r>
              <a:rPr lang="en-CA" i="1" dirty="0" err="1"/>
              <a:t>aniri</a:t>
            </a:r>
            <a:r>
              <a:rPr lang="en-CA" dirty="0"/>
              <a:t>) vs modes/rhythmic patterns in songs (</a:t>
            </a:r>
            <a:r>
              <a:rPr lang="en-CA" i="1" dirty="0" err="1"/>
              <a:t>chung</a:t>
            </a:r>
            <a:r>
              <a:rPr lang="en-CA" i="1" dirty="0"/>
              <a:t> mori</a:t>
            </a:r>
            <a:r>
              <a:rPr lang="en-CA" dirty="0"/>
              <a:t>, etc.)</a:t>
            </a:r>
          </a:p>
          <a:p>
            <a:pPr lvl="2"/>
            <a:endParaRPr lang="en-CA" dirty="0"/>
          </a:p>
        </p:txBody>
      </p:sp>
      <p:sp>
        <p:nvSpPr>
          <p:cNvPr id="4" name="Slide Number Placeholder 3">
            <a:extLst>
              <a:ext uri="{FF2B5EF4-FFF2-40B4-BE49-F238E27FC236}">
                <a16:creationId xmlns:a16="http://schemas.microsoft.com/office/drawing/2014/main" id="{C8F2EF99-2B77-6C19-19FB-A379A3E8D6F4}"/>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6401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E362B-3A15-BFC8-EC76-1ECCFCA83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D3313-63ED-641C-3099-8310E7F0F1E6}"/>
              </a:ext>
            </a:extLst>
          </p:cNvPr>
          <p:cNvSpPr>
            <a:spLocks noGrp="1"/>
          </p:cNvSpPr>
          <p:nvPr>
            <p:ph type="title"/>
          </p:nvPr>
        </p:nvSpPr>
        <p:spPr/>
        <p:txBody>
          <a:bodyPr>
            <a:normAutofit/>
          </a:bodyPr>
          <a:lstStyle/>
          <a:p>
            <a:r>
              <a:rPr lang="en-US" dirty="0" err="1"/>
              <a:t>Simchung</a:t>
            </a:r>
            <a:r>
              <a:rPr lang="en-US" dirty="0"/>
              <a:t>-ga: The performance</a:t>
            </a:r>
            <a:endParaRPr lang="en-CA" dirty="0"/>
          </a:p>
        </p:txBody>
      </p:sp>
      <p:sp>
        <p:nvSpPr>
          <p:cNvPr id="3" name="Content Placeholder 2">
            <a:extLst>
              <a:ext uri="{FF2B5EF4-FFF2-40B4-BE49-F238E27FC236}">
                <a16:creationId xmlns:a16="http://schemas.microsoft.com/office/drawing/2014/main" id="{EF345B55-89AA-22F1-C6B6-407AC520B196}"/>
              </a:ext>
            </a:extLst>
          </p:cNvPr>
          <p:cNvSpPr>
            <a:spLocks noGrp="1"/>
          </p:cNvSpPr>
          <p:nvPr>
            <p:ph idx="1"/>
          </p:nvPr>
        </p:nvSpPr>
        <p:spPr/>
        <p:txBody>
          <a:bodyPr/>
          <a:lstStyle/>
          <a:p>
            <a:r>
              <a:rPr lang="en-CA" dirty="0"/>
              <a:t>Likely to be many differences between this performance &amp; our ‘script’</a:t>
            </a:r>
          </a:p>
          <a:p>
            <a:pPr lvl="1"/>
            <a:r>
              <a:rPr lang="en-CA" dirty="0"/>
              <a:t>Consider also role of translation</a:t>
            </a:r>
          </a:p>
          <a:p>
            <a:r>
              <a:rPr lang="en-CA" dirty="0"/>
              <a:t>How does singer distinguish between dialogue as characters / narration?</a:t>
            </a:r>
          </a:p>
          <a:p>
            <a:r>
              <a:rPr lang="en-CA" dirty="0"/>
              <a:t>What role does drummer play? When does he speak?</a:t>
            </a:r>
          </a:p>
          <a:p>
            <a:r>
              <a:rPr lang="en-CA" dirty="0"/>
              <a:t>In addition to words, what elements of performance contribute to emotion &amp; story?</a:t>
            </a:r>
          </a:p>
          <a:p>
            <a:pPr lvl="1"/>
            <a:r>
              <a:rPr lang="en-CA" dirty="0"/>
              <a:t>Gesture, sitting/standing, singing/speaking, movement, etc. </a:t>
            </a:r>
          </a:p>
          <a:p>
            <a:r>
              <a:rPr lang="en-CA" dirty="0"/>
              <a:t>Consider: Aspects of performance may come from “school,” teacher, personal style...</a:t>
            </a:r>
          </a:p>
          <a:p>
            <a:r>
              <a:rPr lang="en-CA" dirty="0"/>
              <a:t>What about staging? Artwork, lighting, colors, costume... a ‘traditional’ performance?</a:t>
            </a:r>
          </a:p>
        </p:txBody>
      </p:sp>
      <p:sp>
        <p:nvSpPr>
          <p:cNvPr id="4" name="Slide Number Placeholder 3">
            <a:extLst>
              <a:ext uri="{FF2B5EF4-FFF2-40B4-BE49-F238E27FC236}">
                <a16:creationId xmlns:a16="http://schemas.microsoft.com/office/drawing/2014/main" id="{6CB4D5CC-AC19-F654-211F-0597E7FABE8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57013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110846-49D1-1D5D-CBBA-113917A4762F}"/>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4" name="Picture 3" descr="Screenshot from Simchung-ga performance, Seo-yoon Jang and Jun-Hyong Lee&#10;https://youtu.be/15MTxd0ENTI?si=yGWwAHiEJw0RLpgv">
            <a:extLst>
              <a:ext uri="{FF2B5EF4-FFF2-40B4-BE49-F238E27FC236}">
                <a16:creationId xmlns:a16="http://schemas.microsoft.com/office/drawing/2014/main" id="{6B2A238F-C3A8-349B-8665-8FFF6F635651}"/>
              </a:ext>
            </a:extLst>
          </p:cNvPr>
          <p:cNvPicPr>
            <a:picLocks noChangeAspect="1"/>
          </p:cNvPicPr>
          <p:nvPr/>
        </p:nvPicPr>
        <p:blipFill>
          <a:blip r:embed="rId2"/>
          <a:stretch>
            <a:fillRect/>
          </a:stretch>
        </p:blipFill>
        <p:spPr>
          <a:xfrm>
            <a:off x="1" y="-721121"/>
            <a:ext cx="12191999" cy="7924799"/>
          </a:xfrm>
          <a:prstGeom prst="rect">
            <a:avLst/>
          </a:prstGeom>
        </p:spPr>
      </p:pic>
    </p:spTree>
    <p:extLst>
      <p:ext uri="{BB962C8B-B14F-4D97-AF65-F5344CB8AC3E}">
        <p14:creationId xmlns:p14="http://schemas.microsoft.com/office/powerpoint/2010/main" val="329155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6ACA-20EA-C31E-931A-D256C266EB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C6D0FF-D3F7-A38A-68CD-641AE7283C9B}"/>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4" name="Picture 3" descr="Screenshot from another performance of the same scene of Simchung-ga, by singer Yeom Kyeong-ae (National Gugak Center Folk Music Group) and drummer Jeong Jun-ho (National Gugak Center Folk &#10;Music Group). Filmed at Pungnyusarangbang Theater, National Gugak Center, Seoul (primary national institution for preservation and teaching of traditional musical culture in Seoul)&#10;https://youtu.be/7UgNOvHx4_c?si=C9L3gUQy0KtqBcrS">
            <a:extLst>
              <a:ext uri="{FF2B5EF4-FFF2-40B4-BE49-F238E27FC236}">
                <a16:creationId xmlns:a16="http://schemas.microsoft.com/office/drawing/2014/main" id="{50559B45-28A3-AFA0-702B-A03A61B845D2}"/>
              </a:ext>
            </a:extLst>
          </p:cNvPr>
          <p:cNvPicPr>
            <a:picLocks noChangeAspect="1"/>
          </p:cNvPicPr>
          <p:nvPr/>
        </p:nvPicPr>
        <p:blipFill>
          <a:blip r:embed="rId2"/>
          <a:srcRect/>
          <a:stretch/>
        </p:blipFill>
        <p:spPr>
          <a:xfrm>
            <a:off x="1" y="-721121"/>
            <a:ext cx="12191998" cy="7924799"/>
          </a:xfrm>
          <a:prstGeom prst="rect">
            <a:avLst/>
          </a:prstGeom>
        </p:spPr>
      </p:pic>
    </p:spTree>
    <p:extLst>
      <p:ext uri="{BB962C8B-B14F-4D97-AF65-F5344CB8AC3E}">
        <p14:creationId xmlns:p14="http://schemas.microsoft.com/office/powerpoint/2010/main" val="820069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BCBDEF-F54B-50DD-EB72-C947F0D8296A}"/>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4" name="Picture 3" descr="Yet another Simchung-ga performance, this time of a different scene. Sung by Wang Ki-seok, a famous pansori singer. (Unfortunately I could not locate the name of the drummer.) A televised performance on S Korean TV station KBS&#10;https://youtu.be/LrMb2ixf9Eo?si=7RQigHaATUP6FAZ9">
            <a:extLst>
              <a:ext uri="{FF2B5EF4-FFF2-40B4-BE49-F238E27FC236}">
                <a16:creationId xmlns:a16="http://schemas.microsoft.com/office/drawing/2014/main" id="{89F96179-662D-7E1D-97D6-966C9F860DD6}"/>
              </a:ext>
            </a:extLst>
          </p:cNvPr>
          <p:cNvPicPr>
            <a:picLocks noChangeAspect="1"/>
          </p:cNvPicPr>
          <p:nvPr/>
        </p:nvPicPr>
        <p:blipFill>
          <a:blip r:embed="rId2"/>
          <a:stretch>
            <a:fillRect/>
          </a:stretch>
        </p:blipFill>
        <p:spPr>
          <a:xfrm>
            <a:off x="0" y="-802585"/>
            <a:ext cx="13020261" cy="8463170"/>
          </a:xfrm>
          <a:prstGeom prst="rect">
            <a:avLst/>
          </a:prstGeom>
        </p:spPr>
      </p:pic>
    </p:spTree>
    <p:extLst>
      <p:ext uri="{BB962C8B-B14F-4D97-AF65-F5344CB8AC3E}">
        <p14:creationId xmlns:p14="http://schemas.microsoft.com/office/powerpoint/2010/main" val="2337554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533B-89A3-F726-695F-83D993E65149}"/>
              </a:ext>
            </a:extLst>
          </p:cNvPr>
          <p:cNvSpPr>
            <a:spLocks noGrp="1"/>
          </p:cNvSpPr>
          <p:nvPr>
            <p:ph type="title"/>
          </p:nvPr>
        </p:nvSpPr>
        <p:spPr/>
        <p:txBody>
          <a:bodyPr/>
          <a:lstStyle/>
          <a:p>
            <a:r>
              <a:rPr lang="en-US" dirty="0"/>
              <a:t>Wrap-up: Studying an evolving tradition</a:t>
            </a:r>
            <a:endParaRPr lang="en-CA" dirty="0"/>
          </a:p>
        </p:txBody>
      </p:sp>
      <p:sp>
        <p:nvSpPr>
          <p:cNvPr id="3" name="Content Placeholder 2">
            <a:extLst>
              <a:ext uri="{FF2B5EF4-FFF2-40B4-BE49-F238E27FC236}">
                <a16:creationId xmlns:a16="http://schemas.microsoft.com/office/drawing/2014/main" id="{FFC791E7-0BBC-3B45-59AF-D9BF5A2BDA1A}"/>
              </a:ext>
            </a:extLst>
          </p:cNvPr>
          <p:cNvSpPr>
            <a:spLocks noGrp="1"/>
          </p:cNvSpPr>
          <p:nvPr>
            <p:ph idx="1"/>
          </p:nvPr>
        </p:nvSpPr>
        <p:spPr/>
        <p:txBody>
          <a:bodyPr/>
          <a:lstStyle/>
          <a:p>
            <a:r>
              <a:rPr lang="en-CA" dirty="0"/>
              <a:t>Basic details of pansori performance are consistent:</a:t>
            </a:r>
          </a:p>
          <a:p>
            <a:pPr lvl="1"/>
            <a:r>
              <a:rPr lang="en-CA" dirty="0"/>
              <a:t>2 performers, singer &amp; drummer</a:t>
            </a:r>
          </a:p>
          <a:p>
            <a:pPr lvl="1"/>
            <a:r>
              <a:rPr lang="en-CA" dirty="0"/>
              <a:t>Limited props, backdrops, etc.</a:t>
            </a:r>
          </a:p>
          <a:p>
            <a:pPr lvl="1"/>
            <a:r>
              <a:rPr lang="en-CA" dirty="0"/>
              <a:t>Full performances can be quite long, but often performed in scenes or other excerpts</a:t>
            </a:r>
          </a:p>
          <a:p>
            <a:r>
              <a:rPr lang="en-CA" dirty="0"/>
              <a:t>Beyond this, many variables:</a:t>
            </a:r>
          </a:p>
          <a:p>
            <a:pPr lvl="1"/>
            <a:r>
              <a:rPr lang="en-CA" dirty="0"/>
              <a:t>School, teacher, individual style...</a:t>
            </a:r>
          </a:p>
          <a:p>
            <a:pPr lvl="1"/>
            <a:r>
              <a:rPr lang="en-CA" dirty="0"/>
              <a:t>Context &amp; purpose of performance</a:t>
            </a:r>
          </a:p>
          <a:p>
            <a:r>
              <a:rPr lang="en-CA" dirty="0"/>
              <a:t>What about bigger changes over longer periods of time?</a:t>
            </a:r>
          </a:p>
          <a:p>
            <a:pPr lvl="1"/>
            <a:r>
              <a:rPr lang="en-CA" dirty="0"/>
              <a:t>Next unit: History of Pansori from ‘origins’ to roughly 20</a:t>
            </a:r>
            <a:r>
              <a:rPr lang="en-CA" baseline="30000" dirty="0"/>
              <a:t>th</a:t>
            </a:r>
            <a:r>
              <a:rPr lang="en-CA" dirty="0"/>
              <a:t> century</a:t>
            </a:r>
          </a:p>
          <a:p>
            <a:pPr lvl="1"/>
            <a:r>
              <a:rPr lang="en-CA" dirty="0"/>
              <a:t>Final unit: Pansori in contemporary times (which today’s videos are part of!)</a:t>
            </a:r>
          </a:p>
        </p:txBody>
      </p:sp>
      <p:sp>
        <p:nvSpPr>
          <p:cNvPr id="4" name="Slide Number Placeholder 3">
            <a:extLst>
              <a:ext uri="{FF2B5EF4-FFF2-40B4-BE49-F238E27FC236}">
                <a16:creationId xmlns:a16="http://schemas.microsoft.com/office/drawing/2014/main" id="{B486C37B-09DC-CE58-B98D-5A3B45CE435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284478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7294B-7CD0-09B1-33A7-843EFD4E4287}"/>
              </a:ext>
            </a:extLst>
          </p:cNvPr>
          <p:cNvSpPr>
            <a:spLocks noGrp="1"/>
          </p:cNvSpPr>
          <p:nvPr>
            <p:ph type="title"/>
          </p:nvPr>
        </p:nvSpPr>
        <p:spPr/>
        <p:txBody>
          <a:bodyPr/>
          <a:lstStyle/>
          <a:p>
            <a:r>
              <a:rPr lang="en-CA" dirty="0"/>
              <a:t>Assignment and Quiz details</a:t>
            </a:r>
          </a:p>
        </p:txBody>
      </p:sp>
      <p:sp>
        <p:nvSpPr>
          <p:cNvPr id="3" name="Content Placeholder 2">
            <a:extLst>
              <a:ext uri="{FF2B5EF4-FFF2-40B4-BE49-F238E27FC236}">
                <a16:creationId xmlns:a16="http://schemas.microsoft.com/office/drawing/2014/main" id="{27CA63DB-CF93-6BC5-A5DD-7C18C57EDDD0}"/>
              </a:ext>
            </a:extLst>
          </p:cNvPr>
          <p:cNvSpPr>
            <a:spLocks noGrp="1"/>
          </p:cNvSpPr>
          <p:nvPr>
            <p:ph idx="1"/>
          </p:nvPr>
        </p:nvSpPr>
        <p:spPr>
          <a:xfrm>
            <a:off x="2589212" y="2133600"/>
            <a:ext cx="8915400" cy="4100290"/>
          </a:xfrm>
        </p:spPr>
        <p:txBody>
          <a:bodyPr>
            <a:normAutofit/>
          </a:bodyPr>
          <a:lstStyle/>
          <a:p>
            <a:r>
              <a:rPr lang="en-CA" dirty="0"/>
              <a:t>Assignment: This unit focuses on a single example, adaptations and interpretations of the folk tale of Sim Chung. It has been ‘adapted’ countless times, from traditional theatrical performances to picture books, films, and more. The lecture notes several ways the performance of this story vary even within the context of </a:t>
            </a:r>
            <a:r>
              <a:rPr lang="en-CA" dirty="0" err="1"/>
              <a:t>p’ansori</a:t>
            </a:r>
            <a:r>
              <a:rPr lang="en-CA" dirty="0"/>
              <a:t> performance. What about other media? </a:t>
            </a:r>
            <a:br>
              <a:rPr lang="en-CA" dirty="0"/>
            </a:br>
            <a:br>
              <a:rPr lang="en-CA" dirty="0"/>
            </a:br>
            <a:r>
              <a:rPr lang="en-CA" dirty="0"/>
              <a:t>Think of another example of a folk tale or popular story, and write a brief description of 2-3 adaptations of it in different media (film, television, book, etc.). How do the technical constraints, audience expectations, formal conventions, etc. of this medium impact the presentation? What about other artistic and creative choices? Write a short description, with reference/comparison to details from lecture if possible.</a:t>
            </a:r>
          </a:p>
          <a:p>
            <a:r>
              <a:rPr lang="en-CA" dirty="0"/>
              <a:t>Quiz: Basic details of </a:t>
            </a:r>
            <a:r>
              <a:rPr lang="en-CA" dirty="0" err="1"/>
              <a:t>p’ansori</a:t>
            </a:r>
            <a:r>
              <a:rPr lang="en-CA" dirty="0"/>
              <a:t> performance (all technical/foreign terms will be defined), plot details from assigned excerpts of text, issues in study of performance &amp; theatre. 5 questions, 10 minutes to complete.</a:t>
            </a:r>
          </a:p>
        </p:txBody>
      </p:sp>
      <p:sp>
        <p:nvSpPr>
          <p:cNvPr id="4" name="Slide Number Placeholder 3">
            <a:extLst>
              <a:ext uri="{FF2B5EF4-FFF2-40B4-BE49-F238E27FC236}">
                <a16:creationId xmlns:a16="http://schemas.microsoft.com/office/drawing/2014/main" id="{2FB2DF7C-2409-9517-A2E4-57F5A15C4507}"/>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28549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6BE8-53C9-4B3B-6942-C5436F183B9C}"/>
              </a:ext>
            </a:extLst>
          </p:cNvPr>
          <p:cNvSpPr>
            <a:spLocks noGrp="1"/>
          </p:cNvSpPr>
          <p:nvPr>
            <p:ph type="title"/>
          </p:nvPr>
        </p:nvSpPr>
        <p:spPr/>
        <p:txBody>
          <a:bodyPr/>
          <a:lstStyle/>
          <a:p>
            <a:r>
              <a:rPr lang="en-CA" dirty="0"/>
              <a:t>Additional reading &amp; videos</a:t>
            </a:r>
          </a:p>
        </p:txBody>
      </p:sp>
      <p:sp>
        <p:nvSpPr>
          <p:cNvPr id="3" name="Content Placeholder 2">
            <a:extLst>
              <a:ext uri="{FF2B5EF4-FFF2-40B4-BE49-F238E27FC236}">
                <a16:creationId xmlns:a16="http://schemas.microsoft.com/office/drawing/2014/main" id="{EFF5D33F-A3D7-6E9D-BBD0-25091845FF03}"/>
              </a:ext>
            </a:extLst>
          </p:cNvPr>
          <p:cNvSpPr>
            <a:spLocks noGrp="1"/>
          </p:cNvSpPr>
          <p:nvPr>
            <p:ph idx="1"/>
          </p:nvPr>
        </p:nvSpPr>
        <p:spPr/>
        <p:txBody>
          <a:bodyPr>
            <a:normAutofit fontScale="92500" lnSpcReduction="10000"/>
          </a:bodyPr>
          <a:lstStyle/>
          <a:p>
            <a:r>
              <a:rPr lang="en-CA" dirty="0"/>
              <a:t>Performances: </a:t>
            </a:r>
          </a:p>
          <a:p>
            <a:pPr lvl="1"/>
            <a:r>
              <a:rPr lang="en-CA" dirty="0"/>
              <a:t>National </a:t>
            </a:r>
            <a:r>
              <a:rPr lang="en-CA" dirty="0" err="1"/>
              <a:t>Gugak</a:t>
            </a:r>
            <a:r>
              <a:rPr lang="en-CA" dirty="0"/>
              <a:t> Center Folk Music Group performance of </a:t>
            </a:r>
            <a:r>
              <a:rPr lang="en-CA" dirty="0" err="1"/>
              <a:t>Simchung</a:t>
            </a:r>
            <a:r>
              <a:rPr lang="en-CA" dirty="0"/>
              <a:t>-ga, by Yeom Kyeong-ae drummer Jeong Jun-ho. Filmed at </a:t>
            </a:r>
            <a:r>
              <a:rPr lang="en-CA" dirty="0" err="1"/>
              <a:t>Pungnyusarangbang</a:t>
            </a:r>
            <a:r>
              <a:rPr lang="en-CA" dirty="0"/>
              <a:t> Theater, National </a:t>
            </a:r>
            <a:r>
              <a:rPr lang="en-CA" dirty="0" err="1"/>
              <a:t>Gugak</a:t>
            </a:r>
            <a:r>
              <a:rPr lang="en-CA" dirty="0"/>
              <a:t> Center, Seoul. </a:t>
            </a:r>
            <a:r>
              <a:rPr lang="en-CA" dirty="0">
                <a:hlinkClick r:id="rId2"/>
              </a:rPr>
              <a:t>https://youtu.be/7UgNOvHx4_c?si=C9L3gUQy0KtqBcrS</a:t>
            </a:r>
            <a:endParaRPr lang="en-CA" dirty="0"/>
          </a:p>
          <a:p>
            <a:pPr lvl="1"/>
            <a:r>
              <a:rPr lang="en-CA" dirty="0"/>
              <a:t>KBS televised performance of </a:t>
            </a:r>
            <a:r>
              <a:rPr lang="en-CA" dirty="0" err="1"/>
              <a:t>Simchung</a:t>
            </a:r>
            <a:r>
              <a:rPr lang="en-CA" dirty="0"/>
              <a:t>-ga by Wang Ki-</a:t>
            </a:r>
            <a:r>
              <a:rPr lang="en-CA" dirty="0" err="1"/>
              <a:t>seok</a:t>
            </a:r>
            <a:r>
              <a:rPr lang="en-CA" dirty="0"/>
              <a:t> </a:t>
            </a:r>
            <a:r>
              <a:rPr lang="en-CA" dirty="0">
                <a:hlinkClick r:id="rId3"/>
              </a:rPr>
              <a:t>https://youtu.be/LrMb2ixf9Eo?si=7RQigHaATUP6FAZ9</a:t>
            </a:r>
            <a:r>
              <a:rPr lang="en-CA" dirty="0"/>
              <a:t> (unfortunately no Eng subs)</a:t>
            </a:r>
          </a:p>
          <a:p>
            <a:r>
              <a:rPr lang="en-CA" dirty="0"/>
              <a:t>Reading: </a:t>
            </a:r>
          </a:p>
          <a:p>
            <a:pPr marL="0" indent="0">
              <a:buNone/>
            </a:pPr>
            <a:r>
              <a:rPr lang="en-US" dirty="0"/>
              <a:t>Jang, </a:t>
            </a:r>
            <a:r>
              <a:rPr lang="en-US" dirty="0" err="1"/>
              <a:t>Yeonok</a:t>
            </a:r>
            <a:r>
              <a:rPr lang="en-US" dirty="0"/>
              <a:t> </a:t>
            </a:r>
            <a:r>
              <a:rPr lang="en-US" i="1" dirty="0"/>
              <a:t>Korean </a:t>
            </a:r>
            <a:r>
              <a:rPr lang="en-US" i="1" dirty="0" err="1"/>
              <a:t>P’ansori</a:t>
            </a:r>
            <a:r>
              <a:rPr lang="en-US" i="1" dirty="0"/>
              <a:t> Singing Tradition: Development, authenticity, and performance history</a:t>
            </a:r>
            <a:r>
              <a:rPr lang="en-US" dirty="0"/>
              <a:t>. Scarecrow Press, 2014. </a:t>
            </a:r>
          </a:p>
          <a:p>
            <a:pPr marL="0" indent="0">
              <a:buNone/>
            </a:pPr>
            <a:r>
              <a:rPr lang="en-US" dirty="0"/>
              <a:t>Park, Chan E. </a:t>
            </a:r>
            <a:r>
              <a:rPr lang="en-US" i="1" dirty="0"/>
              <a:t>Voices from the Straw Mat: Toward an Ethnography of Korean Story Singing</a:t>
            </a:r>
            <a:r>
              <a:rPr lang="en-US" dirty="0"/>
              <a:t>. Honolulu: University of Hawai‘i Press, 2003</a:t>
            </a:r>
          </a:p>
          <a:p>
            <a:pPr marL="0" indent="0">
              <a:buNone/>
            </a:pPr>
            <a:r>
              <a:rPr lang="en-US" dirty="0"/>
              <a:t>Um, </a:t>
            </a:r>
            <a:r>
              <a:rPr lang="en-US" dirty="0" err="1"/>
              <a:t>Haekyung</a:t>
            </a:r>
            <a:r>
              <a:rPr lang="en-US" dirty="0"/>
              <a:t>. </a:t>
            </a:r>
            <a:r>
              <a:rPr lang="en-US" i="1" dirty="0"/>
              <a:t>Korean Musica Drama: </a:t>
            </a:r>
            <a:r>
              <a:rPr lang="en-US" dirty="0" err="1"/>
              <a:t>P’ansori</a:t>
            </a:r>
            <a:r>
              <a:rPr lang="en-US" dirty="0"/>
              <a:t> </a:t>
            </a:r>
            <a:r>
              <a:rPr lang="en-US" i="1" dirty="0"/>
              <a:t>and the Making of Tradition in Modernity</a:t>
            </a:r>
            <a:r>
              <a:rPr lang="en-US" dirty="0"/>
              <a:t>. Ashgate, 2013. </a:t>
            </a:r>
          </a:p>
          <a:p>
            <a:pPr marL="0" indent="0">
              <a:buNone/>
            </a:pPr>
            <a:endParaRPr lang="en-CA" dirty="0"/>
          </a:p>
          <a:p>
            <a:endParaRPr lang="en-CA" dirty="0"/>
          </a:p>
        </p:txBody>
      </p:sp>
      <p:sp>
        <p:nvSpPr>
          <p:cNvPr id="4" name="Slide Number Placeholder 3">
            <a:extLst>
              <a:ext uri="{FF2B5EF4-FFF2-40B4-BE49-F238E27FC236}">
                <a16:creationId xmlns:a16="http://schemas.microsoft.com/office/drawing/2014/main" id="{68809BAD-0E12-5649-4082-BC1614AC8F8E}"/>
              </a:ext>
            </a:extLst>
          </p:cNvPr>
          <p:cNvSpPr>
            <a:spLocks noGrp="1"/>
          </p:cNvSpPr>
          <p:nvPr>
            <p:ph type="sldNum" sz="quarter" idx="12"/>
          </p:nvPr>
        </p:nvSpPr>
        <p:spPr/>
        <p:txBody>
          <a:bodyPr/>
          <a:lstStyle/>
          <a:p>
            <a:r>
              <a:rPr lang="en-US" dirty="0"/>
              <a:t>FYI</a:t>
            </a:r>
          </a:p>
        </p:txBody>
      </p:sp>
    </p:spTree>
    <p:extLst>
      <p:ext uri="{BB962C8B-B14F-4D97-AF65-F5344CB8AC3E}">
        <p14:creationId xmlns:p14="http://schemas.microsoft.com/office/powerpoint/2010/main" val="23396931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Slide Template EASIA 237" id="{72FCC593-2FB4-4249-BF7F-B1199F732D04}" vid="{1F0C49AC-D6B5-1C45-8B27-974BA720B9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8317</TotalTime>
  <Words>1870</Words>
  <Application>Microsoft Macintosh PowerPoint</Application>
  <PresentationFormat>Widescreen</PresentationFormat>
  <Paragraphs>170</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Wingdings 3</vt:lpstr>
      <vt:lpstr>Candara</vt:lpstr>
      <vt:lpstr>Aptos</vt:lpstr>
      <vt:lpstr>Wisp</vt:lpstr>
      <vt:lpstr>Introducing P’ansori and  The Story of Sim Chung</vt:lpstr>
      <vt:lpstr>Today’s lecture</vt:lpstr>
      <vt:lpstr>Module overview:  Korean P’ansori &amp; Studying Performance  </vt:lpstr>
      <vt:lpstr>Guiding questions</vt:lpstr>
      <vt:lpstr>Unit 1 resources The Story of Shim Ch’ŏng / Simchung-ga</vt:lpstr>
      <vt:lpstr>Studying Performance Traditions</vt:lpstr>
      <vt:lpstr>Intro to P’ansori (Pansori) 판소리 Performers &amp; staging</vt:lpstr>
      <vt:lpstr>Intro to P’ansori (Pansori) 판소리 Story, transmission, performance, variation</vt:lpstr>
      <vt:lpstr>Studying P’ansori</vt:lpstr>
      <vt:lpstr>Summary of folk tale of Sim Chung </vt:lpstr>
      <vt:lpstr>The Song of Shim Ch’ŏng: The Text Textual history</vt:lpstr>
      <vt:lpstr>The Song of Shim-ch’ŏng: The Text Narrative, embellishment, allusion, annotation</vt:lpstr>
      <vt:lpstr>Simchung-ga: The performance</vt:lpstr>
      <vt:lpstr>PowerPoint Presentation</vt:lpstr>
      <vt:lpstr>PowerPoint Presentation</vt:lpstr>
      <vt:lpstr>PowerPoint Presentation</vt:lpstr>
      <vt:lpstr>Wrap-up: Studying an evolving tradition</vt:lpstr>
      <vt:lpstr>Assignment and Quiz details</vt:lpstr>
      <vt:lpstr>Additional reading &amp; videos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Nicoll-Johnson</dc:creator>
  <cp:lastModifiedBy>Evan Nicoll-Johnson</cp:lastModifiedBy>
  <cp:revision>30</cp:revision>
  <dcterms:created xsi:type="dcterms:W3CDTF">2025-07-23T20:33:27Z</dcterms:created>
  <dcterms:modified xsi:type="dcterms:W3CDTF">2025-07-30T19:17:52Z</dcterms:modified>
</cp:coreProperties>
</file>